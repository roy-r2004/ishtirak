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p50 (median)</c:v>
                </c:pt>
              </c:strCache>
            </c:strRef>
          </c:tx>
          <c:spPr>
            <a:solidFill>
              <a:srgbClr val="14A58A"/>
            </a:solidFill>
          </c:spPr>
          <c:invertIfNegative val="0"/>
          <c:cat>
            <c:strRef>
              <c:f>Sheet1!$A$2:$A$4</c:f>
              <c:strCache>
                <c:ptCount val="3"/>
                <c:pt idx="0">
                  <c:v>10 meters</c:v>
                </c:pt>
                <c:pt idx="1">
                  <c:v>50 meters</c:v>
                </c:pt>
                <c:pt idx="2">
                  <c:v>200 meters</c:v>
                </c:pt>
              </c:strCache>
            </c:strRef>
          </c:cat>
          <c:val>
            <c:numRef>
              <c:f>Sheet1!$B$2:$B$4</c:f>
              <c:numCache>
                <c:formatCode>General</c:formatCode>
                <c:ptCount val="3"/>
                <c:pt idx="0">
                  <c:v>79.5</c:v>
                </c:pt>
                <c:pt idx="1">
                  <c:v>78.3</c:v>
                </c:pt>
                <c:pt idx="2">
                  <c:v>79.4</c:v>
                </c:pt>
              </c:numCache>
            </c:numRef>
          </c:val>
        </c:ser>
        <c:ser>
          <c:idx val="1"/>
          <c:order val="1"/>
          <c:tx>
            <c:strRef>
              <c:f>Sheet1!$C$1</c:f>
              <c:strCache>
                <c:ptCount val="1"/>
                <c:pt idx="0">
                  <c:v>p95</c:v>
                </c:pt>
              </c:strCache>
            </c:strRef>
          </c:tx>
          <c:spPr>
            <a:solidFill>
              <a:srgbClr val="6484DC"/>
            </a:solidFill>
          </c:spPr>
          <c:invertIfNegative val="0"/>
          <c:cat>
            <c:strRef>
              <c:f>Sheet1!$A$2:$A$4</c:f>
              <c:strCache>
                <c:ptCount val="3"/>
                <c:pt idx="0">
                  <c:v>10 meters</c:v>
                </c:pt>
                <c:pt idx="1">
                  <c:v>50 meters</c:v>
                </c:pt>
                <c:pt idx="2">
                  <c:v>200 meters</c:v>
                </c:pt>
              </c:strCache>
            </c:strRef>
          </c:cat>
          <c:val>
            <c:numRef>
              <c:f>Sheet1!$C$2:$C$4</c:f>
              <c:numCache>
                <c:formatCode>General</c:formatCode>
                <c:ptCount val="3"/>
                <c:pt idx="0">
                  <c:v>113.3</c:v>
                </c:pt>
                <c:pt idx="1">
                  <c:v>112.9</c:v>
                </c:pt>
                <c:pt idx="2">
                  <c:v>114.1</c:v>
                </c:pt>
              </c:numCache>
            </c:numRef>
          </c:val>
        </c:ser>
        <c:dLbls>
          <c:numFmt formatCode="0.0" sourceLinked="0"/>
          <c:txPr>
            <a:bodyPr/>
            <a:lstStyle/>
            <a:p>
              <a:pPr>
                <a:defRPr sz="1300" b="1">
                  <a:solidFill>
                    <a:srgbClr val="0F1D26"/>
                  </a:solidFill>
                  <a:latin typeface="Segoe UI"/>
                </a:defRPr>
              </a:pPr>
            </a:p>
          </c:txPr>
          <c:dLblPos val="outEnd"/>
          <c:showLegendKey val="0"/>
          <c:showVal val="1"/>
          <c:showCatName val="0"/>
          <c:showSerName val="0"/>
          <c:showPercent val="0"/>
          <c:showBubbleSize val="0"/>
          <c:showLeaderLines val="1"/>
        </c:dLbls>
        <c:gapWidth val="70"/>
        <c:overlap val="-8"/>
        <c:axId val="-2068027336"/>
        <c:axId val="-2113994440"/>
      </c:barChart>
      <c:catAx>
        <c:axId val="-2068027336"/>
        <c:scaling>
          <c:orientation val="minMax"/>
        </c:scaling>
        <c:delete val="0"/>
        <c:axPos val="b"/>
        <c:majorTickMark val="out"/>
        <c:minorTickMark val="none"/>
        <c:tickLblPos val="nextTo"/>
        <c:spPr>
          <a:ln>
            <a:solidFill>
              <a:srgbClr val="B8C4CD"/>
            </a:solidFill>
          </a:ln>
        </c:spPr>
        <c:txPr>
          <a:bodyPr/>
          <a:lstStyle/>
          <a:p>
            <a:pPr>
              <a:defRPr sz="1400">
                <a:solidFill>
                  <a:srgbClr val="0F1D26"/>
                </a:solidFill>
                <a:latin typeface="Segoe UI"/>
              </a:defRPr>
            </a:pPr>
          </a:p>
        </c:txPr>
        <c:crossAx val="-2113994440"/>
        <c:crosses val="autoZero"/>
        <c:auto val="1"/>
        <c:lblAlgn val="ctr"/>
        <c:lblOffset val="100"/>
        <c:noMultiLvlLbl val="0"/>
      </c:catAx>
      <c:valAx>
        <c:axId val="-2113994440"/>
        <c:scaling>
          <c:max val="140.0"/>
          <c:min val="0.0"/>
        </c:scaling>
        <c:delete val="0"/>
        <c:axPos val="l"/>
        <c:majorGridlines>
          <c:spPr>
            <a:ln w="9525">
              <a:solidFill>
                <a:srgbClr val="DDE5EB"/>
              </a:solidFill>
            </a:ln>
          </c:spPr>
        </c:majorGridlines>
        <c:numFmt formatCode="0" sourceLinked="0"/>
        <c:majorTickMark val="out"/>
        <c:minorTickMark val="none"/>
        <c:tickLblPos val="nextTo"/>
        <c:spPr>
          <a:ln>
            <a:noFill/>
          </a:ln>
        </c:spPr>
        <c:txPr>
          <a:bodyPr/>
          <a:lstStyle/>
          <a:p>
            <a:pPr>
              <a:defRPr sz="1300">
                <a:solidFill>
                  <a:srgbClr val="52626F"/>
                </a:solidFill>
                <a:latin typeface="Segoe UI"/>
              </a:defRPr>
            </a:pPr>
          </a:p>
        </c:txPr>
        <c:crossAx val="-2068027336"/>
        <c:crosses val="autoZero"/>
        <c:majorUnit val="20.0"/>
      </c:valAx>
    </c:plotArea>
    <c:legend>
      <c:legendPos val="b"/>
      <c:overlay val="0"/>
      <c:txPr>
        <a:bodyPr/>
        <a:lstStyle/>
        <a:p>
          <a:pPr>
            <a:defRPr sz="1400">
              <a:latin typeface="Segoe UI"/>
            </a:defRPr>
          </a:pPr>
        </a:p>
      </c:txPr>
    </c:legend>
    <c:dispBlanksAs val="gap"/>
  </c:chart>
  <c:txPr>
    <a:bodyPr/>
    <a:lstStyle/>
    <a:p>
      <a:pPr>
        <a:defRPr sz="1300">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Decisions/s</c:v>
                </c:pt>
              </c:strCache>
            </c:strRef>
          </c:tx>
          <c:spPr>
            <a:ln w="38100">
              <a:solidFill>
                <a:srgbClr val="14A58A"/>
              </a:solidFill>
            </a:ln>
          </c:spPr>
          <c:marker>
            <c:symbol val="circle"/>
            <c:size val="10"/>
            <c:spPr>
              <a:solidFill>
                <a:srgbClr val="14A58A"/>
              </a:solidFill>
              <a:ln>
                <a:solidFill>
                  <a:srgbClr val="FFFFFF"/>
                </a:solidFill>
              </a:ln>
            </c:spPr>
          </c:marker>
          <c:cat>
            <c:strRef>
              <c:f>Sheet1!$A$2:$A$5</c:f>
              <c:strCache>
                <c:ptCount val="4"/>
                <c:pt idx="0">
                  <c:v>1</c:v>
                </c:pt>
                <c:pt idx="1">
                  <c:v>4</c:v>
                </c:pt>
                <c:pt idx="2">
                  <c:v>16</c:v>
                </c:pt>
                <c:pt idx="3">
                  <c:v>64</c:v>
                </c:pt>
              </c:strCache>
            </c:strRef>
          </c:cat>
          <c:val>
            <c:numRef>
              <c:f>Sheet1!$B$2:$B$5</c:f>
              <c:numCache>
                <c:formatCode>General</c:formatCode>
                <c:ptCount val="4"/>
                <c:pt idx="0">
                  <c:v>25.9</c:v>
                </c:pt>
                <c:pt idx="1">
                  <c:v>46.8</c:v>
                </c:pt>
                <c:pt idx="2">
                  <c:v>52.7</c:v>
                </c:pt>
                <c:pt idx="3">
                  <c:v>51.6</c:v>
                </c:pt>
              </c:numCache>
            </c:numRef>
          </c:val>
          <c:smooth val="0"/>
        </c:ser>
        <c:dLbls>
          <c:numFmt formatCode="0.0" sourceLinked="0"/>
          <c:txPr>
            <a:bodyPr/>
            <a:lstStyle/>
            <a:p>
              <a:pPr>
                <a:defRPr sz="1300" b="1">
                  <a:solidFill>
                    <a:srgbClr val="0F1D26"/>
                  </a:solidFill>
                  <a:latin typeface="Segoe UI"/>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200" b="0">
                    <a:solidFill>
                      <a:srgbClr val="52626F"/>
                    </a:solidFill>
                    <a:latin typeface="Segoe UI"/>
                  </a:rPr>
                  <a:t>Concurrent clients</a:t>
                </a:r>
              </a:p>
            </c:rich>
          </c:tx>
          <c:layout/>
          <c:overlay val="0"/>
        </c:title>
        <c:majorTickMark val="out"/>
        <c:minorTickMark val="none"/>
        <c:tickLblPos val="nextTo"/>
        <c:spPr>
          <a:ln>
            <a:solidFill>
              <a:srgbClr val="B8C4CD"/>
            </a:solidFill>
          </a:ln>
        </c:spPr>
        <c:txPr>
          <a:bodyPr/>
          <a:lstStyle/>
          <a:p>
            <a:pPr>
              <a:defRPr sz="1400">
                <a:solidFill>
                  <a:srgbClr val="0F1D26"/>
                </a:solidFill>
                <a:latin typeface="Segoe UI"/>
              </a:defRPr>
            </a:pPr>
          </a:p>
        </c:txPr>
        <c:crossAx val="2140495176"/>
        <c:crosses val="autoZero"/>
        <c:auto val="1"/>
        <c:lblAlgn val="ctr"/>
        <c:lblOffset val="100"/>
        <c:noMultiLvlLbl val="0"/>
      </c:catAx>
      <c:valAx>
        <c:axId val="2140495176"/>
        <c:scaling>
          <c:max val="70.0"/>
          <c:min val="0.0"/>
        </c:scaling>
        <c:delete val="0"/>
        <c:axPos val="l"/>
        <c:majorGridlines>
          <c:spPr>
            <a:ln w="9525">
              <a:solidFill>
                <a:srgbClr val="DDE5EB"/>
              </a:solidFill>
            </a:ln>
          </c:spPr>
        </c:majorGridlines>
        <c:numFmt formatCode="0" sourceLinked="0"/>
        <c:majorTickMark val="out"/>
        <c:minorTickMark val="none"/>
        <c:tickLblPos val="nextTo"/>
        <c:spPr>
          <a:ln>
            <a:noFill/>
          </a:ln>
        </c:spPr>
        <c:txPr>
          <a:bodyPr/>
          <a:lstStyle/>
          <a:p>
            <a:pPr>
              <a:defRPr sz="1300">
                <a:solidFill>
                  <a:srgbClr val="52626F"/>
                </a:solidFill>
                <a:latin typeface="Segoe UI"/>
              </a:defRPr>
            </a:pPr>
          </a:p>
        </c:txPr>
        <c:crossAx val="2118791784"/>
        <c:crosses val="autoZero"/>
        <c:majorUnit val="10.0"/>
      </c:valAx>
    </c:plotArea>
    <c:plotVisOnly val="1"/>
    <c:dispBlanksAs val="gap"/>
    <c:showDLblsOverMax val="0"/>
  </c:chart>
  <c:txPr>
    <a:bodyPr/>
    <a:lstStyle/>
    <a:p>
      <a:pPr>
        <a:defRPr sz="1300">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p50 (ms)</c:v>
                </c:pt>
              </c:strCache>
            </c:strRef>
          </c:tx>
          <c:spPr>
            <a:ln w="38100">
              <a:solidFill>
                <a:srgbClr val="6484DC"/>
              </a:solidFill>
            </a:ln>
          </c:spPr>
          <c:marker>
            <c:symbol val="circle"/>
            <c:size val="10"/>
            <c:spPr>
              <a:solidFill>
                <a:srgbClr val="6484DC"/>
              </a:solidFill>
              <a:ln>
                <a:solidFill>
                  <a:srgbClr val="FFFFFF"/>
                </a:solidFill>
              </a:ln>
            </c:spPr>
          </c:marker>
          <c:cat>
            <c:strRef>
              <c:f>Sheet1!$A$2:$A$5</c:f>
              <c:strCache>
                <c:ptCount val="4"/>
                <c:pt idx="0">
                  <c:v>1</c:v>
                </c:pt>
                <c:pt idx="1">
                  <c:v>4</c:v>
                </c:pt>
                <c:pt idx="2">
                  <c:v>16</c:v>
                </c:pt>
                <c:pt idx="3">
                  <c:v>64</c:v>
                </c:pt>
              </c:strCache>
            </c:strRef>
          </c:cat>
          <c:val>
            <c:numRef>
              <c:f>Sheet1!$B$2:$B$5</c:f>
              <c:numCache>
                <c:formatCode>General</c:formatCode>
                <c:ptCount val="4"/>
                <c:pt idx="0">
                  <c:v>38.8</c:v>
                </c:pt>
                <c:pt idx="1">
                  <c:v>82.1</c:v>
                </c:pt>
                <c:pt idx="2">
                  <c:v>275.6</c:v>
                </c:pt>
                <c:pt idx="3">
                  <c:v>300.6</c:v>
                </c:pt>
              </c:numCache>
            </c:numRef>
          </c:val>
          <c:smooth val="0"/>
        </c:ser>
        <c:dLbls>
          <c:numFmt formatCode="0.0" sourceLinked="0"/>
          <c:txPr>
            <a:bodyPr/>
            <a:lstStyle/>
            <a:p>
              <a:pPr>
                <a:defRPr sz="1300" b="1">
                  <a:solidFill>
                    <a:srgbClr val="0F1D26"/>
                  </a:solidFill>
                  <a:latin typeface="Segoe UI"/>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200" b="0">
                    <a:solidFill>
                      <a:srgbClr val="52626F"/>
                    </a:solidFill>
                    <a:latin typeface="Segoe UI"/>
                  </a:rPr>
                  <a:t>Concurrent clients</a:t>
                </a:r>
              </a:p>
            </c:rich>
          </c:tx>
          <c:layout/>
          <c:overlay val="0"/>
        </c:title>
        <c:majorTickMark val="out"/>
        <c:minorTickMark val="none"/>
        <c:tickLblPos val="nextTo"/>
        <c:spPr>
          <a:ln>
            <a:solidFill>
              <a:srgbClr val="B8C4CD"/>
            </a:solidFill>
          </a:ln>
        </c:spPr>
        <c:txPr>
          <a:bodyPr/>
          <a:lstStyle/>
          <a:p>
            <a:pPr>
              <a:defRPr sz="1400">
                <a:solidFill>
                  <a:srgbClr val="0F1D26"/>
                </a:solidFill>
                <a:latin typeface="Segoe UI"/>
              </a:defRPr>
            </a:pPr>
          </a:p>
        </c:txPr>
        <c:crossAx val="2140495176"/>
        <c:crosses val="autoZero"/>
        <c:auto val="1"/>
        <c:lblAlgn val="ctr"/>
        <c:lblOffset val="100"/>
        <c:noMultiLvlLbl val="0"/>
      </c:catAx>
      <c:valAx>
        <c:axId val="2140495176"/>
        <c:scaling>
          <c:max val="400.0"/>
          <c:min val="0.0"/>
        </c:scaling>
        <c:delete val="0"/>
        <c:axPos val="l"/>
        <c:majorGridlines>
          <c:spPr>
            <a:ln w="9525">
              <a:solidFill>
                <a:srgbClr val="DDE5EB"/>
              </a:solidFill>
            </a:ln>
          </c:spPr>
        </c:majorGridlines>
        <c:numFmt formatCode="0" sourceLinked="0"/>
        <c:majorTickMark val="out"/>
        <c:minorTickMark val="none"/>
        <c:tickLblPos val="nextTo"/>
        <c:spPr>
          <a:ln>
            <a:noFill/>
          </a:ln>
        </c:spPr>
        <c:txPr>
          <a:bodyPr/>
          <a:lstStyle/>
          <a:p>
            <a:pPr>
              <a:defRPr sz="1300">
                <a:solidFill>
                  <a:srgbClr val="52626F"/>
                </a:solidFill>
                <a:latin typeface="Segoe UI"/>
              </a:defRPr>
            </a:pPr>
          </a:p>
        </c:txPr>
        <c:crossAx val="2118791784"/>
        <c:crosses val="autoZero"/>
        <c:majorUnit val="100.0"/>
      </c:valAx>
    </c:plotArea>
    <c:plotVisOnly val="1"/>
    <c:dispBlanksAs val="gap"/>
    <c:showDLblsOverMax val="0"/>
  </c:chart>
  <c:txPr>
    <a:bodyPr/>
    <a:lstStyle/>
    <a:p>
      <a:pPr>
        <a:defRPr sz="1300">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Our project is called Ishtirak, which means subscription in Arabic. In Lebanon, neighborhood generators share one limited supply of power between many buildings. Our question is simple: how can several computers share that supply fairly and safely, even when some of them break? I will show the problem, the idea, how we built it, a live demo where we break the system on purpose, and the measurements. If you only remember one thing: three computers vote, and by design the generator is not overloaded.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one generator for a whole neighborhood, rated at 120 amps. Three buildings in Beirut, Hamra, Mar Mikhael and Achrafieh, all want power, and their demand changes all day. If each building decides alone, together they can ask for more than 120 amps and overload the generator. The obvious fix is one boss computer that decides for everyone, but if it crashes, nobody gets a decision, and its replacement must know what was already promised. So one computer is not enough. If asked: the physical generator is only simulated, no real breaker is controlled.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idea in plain words. First, we do not trust one computer, we use three coordinators that keep the same record. They use Raft, which is a voting protocol that keeps copies in agreement. Second, a decision only counts when two out of three agree, that is called a majority or quorum. Third, power is given as a lease, a ticket that expires after a short time, so a crashed building cannot hold capacity forever. And one rule never breaks: the sum of granted amps stays at or below 120, even during failures.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left to right. Simulated meters send readings through an MQTT broker, which is a message post office, to three gateways, one per building. Each gateway asks the three coordinators for power, and those three keep one shared ledger with Raft. A single PostgreSQL database keeps the history. The React dashboard and a small local controller let us watch and break things. In total, eleven Docker services. The assignment suggested a database, an application and a logging service: ours are PostgreSQL, the whole app, and the replicated audit log. If asked: there is no separate logging process, the coordinators do the logging.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connects our project to the course. One: independent processes, each coordinator has its own storage and they only talk over the network. Two: consensus, Raft, where a majority must agree. Three: partitioning, which means splitting data by some key, here by building. Four: communication protocols, we use five different ones. Five: concurrency control, meaning many requests at once stay in a single order. Six: fault tolerance. To be honest, all of this runs on one laptop with Docker, so we simulate crashes of processes, not of a whole machine.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happens for one grant. A building gateway asks for some amps and attaches a unique request ID. The leader coordinator writes the request into its log and sends it to the followers. Once a majority, two of three, has stored it, it is committed, and the gateway gets a lease back. Only then does the gateway serve that power. Notice that one follower can be down and the grant still works. Idempotent means that repeating the same request gives the same answer, so retries are safe. If asked: a changed amount under the same ID is rejected.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safety. A lease lasts twelve seconds, but the gateway only trusts it for ten seconds, counted from when it first sent the request. The coordinator waits the full twelve before it takes the capacity back. That two-second gap is a safety margin, so the gateway has stopped before anyone else can be given the same amps. We assume clocks run at nearly the same speed, within one percent. Absolute clock time does not matter, only how fast they tick. If asked: a new leader restarts the twelve-second hold, which only makes it safer.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dashboard you will see in the demo. At the top, the hero shows the generator and our three buildings. Below it, the cards show the fixed 120 amp limit, how much is granted, how much is actually served, and how much is left. Lower on the page, the Raft cluster shows which coordinator is the leader and the term, which is the current election round. Every number is a real observation from polling the running system. We did not fake any history. If asked: it may lag slightly, so it is not a perfect view of the whole system.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part I like most, the Resilience lab. The page says: break it on purpose, watch the invariant hold. It has four buttons: stop the leader, stop two of three coordinators, crash a gateway, or stop the database. While we do that, the capacity proof panel shows the peak granted amps compared to 120 and the number of violations, which should stay at zero. The timeline lists when a leader was lost and a new one observed. Every scenario puts everything back afterward. For the live demo I will run leader failover first.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measured results from our live evaluation run against the real Docker stack. When a gateway crashed, its lease was reclaimed in about twelve seconds. When the leader was stopped, a new one accepted a grant in about five seconds on average, three trials each. When we stopped two coordinators, new requests failed with an error, which is the correct choice. In the stress test, forty requests of seven amps: seventeen accepted, total 119, under 120. If asked: reclamation time is observed through Docker, not an exact internal timer.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go beyond hand-picked tests, we wrote a small randomized fault checker, in the spirit of Jepsen. With a fixed seed it sends over fifteen hundred requests while services are stopped and restarted, including a window when two coordinators are down together. Result: 284 accepted, 1,183 rejected, and 62 unknown outcomes. Unknown does not mean rejected: the request may have committed, so we retry with the same ID. Max granted 120, never above, zero violations, and all coordinators ended at the same log position. This is evidence from one seed, not a proof.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performance, we measured how long one allocation decision takes with ten, fifty and two hundred simulated meters. Median latency, called p50, is about 78 to 80 milliseconds every time, and p95, the time within which 95 percent of requests finish, is about 113 milliseconds. Each number is the mean of five trials. Meanwhile the readings flowing through the gateways grew from about ten to about one hundred ninety-four per second. To be careful: the decision test does not itself generate meter load, so the readings column is what shows the volume.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pushed the system harder by adding more concurrent clients: one, four, sixteen and sixty-four. Throughput climbs and then flattens at about fifty decisions per second, while latency keeps growing. That is what you expect when requests queue behind one serialized step, and every grant does go through one Raft leader. But I want to be honest: we did not profile it, so we cannot say the leader is the bottleneck. Separately, a change in demand showed up on the dashboard in about two thirds of a second on average.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hard problems and what each fix costs. When a request times out we cannot know whether it committed, so we retry with the same ID. Duplicates are handled by idempotency. A stale leader cannot erase a newer lease because expiry is tied to the lease version and term. For clocks we only rely on durations. If no majority exists we refuse grants: that is safety over availability. The biggest weakness: renewals never shrink, so after our 200-meter test one building kept a big reservation and starved the others. Capacity stayed safe, fairness did not. A safe shrink rule is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clear about what we have not shown. All tests ran on one machine, with repeats on one stack, so they are not independent samples, and we did not inject network delay or packet loss. The project also has stated limits: gateways are not replicated, there is a single PostgreSQL database, and readings can be lost while a gateway is down. There is no fairness guarantee either. Next steps would be testing on several machines, profiling the commit path, a safe way to shrink reservations, and a properly secured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finish, three takeaways. One: a majority decides, every grant needs two of the three coordinators. Two: leases, the expiring tickets, keep the total at or below 120 amps through crashes and delays. Three: we measured it. A new leader accepted grants in under five seconds on average, we saw no violation, and the decision rate tops out around fifty per second. In one sentence: three independent coordinators vote on every grant, so by design a neighborhood generator is not overloaded, even when computers fail. Thank you,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D26"/>
        </a:solidFill>
        <a:effectLst/>
      </p:bgPr>
    </p:bg>
    <p:spTree>
      <p:nvGrpSpPr>
        <p:cNvPr id="1" name=""/>
        <p:cNvGrpSpPr/>
        <p:nvPr/>
      </p:nvGrpSpPr>
      <p:grpSpPr/>
      <p:cxnSp>
        <p:nvCxnSpPr>
          <p:cNvPr id="2" name="Connector 1"/>
          <p:cNvCxnSpPr/>
          <p:nvPr/>
        </p:nvCxnSpPr>
        <p:spPr>
          <a:xfrm flipH="1" flipV="1">
            <a:off x="7818120" y="1600200"/>
            <a:ext cx="1234440" cy="1783080"/>
          </a:xfrm>
          <a:prstGeom prst="line">
            <a:avLst/>
          </a:prstGeom>
          <a:ln w="28575">
            <a:solidFill>
              <a:srgbClr val="2B4352"/>
            </a:solidFill>
            <a:prstDash val="dash"/>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V="1">
            <a:off x="9052560" y="1920240"/>
            <a:ext cx="1325880" cy="1463040"/>
          </a:xfrm>
          <a:prstGeom prst="line">
            <a:avLst/>
          </a:prstGeom>
          <a:ln w="28575">
            <a:solidFill>
              <a:srgbClr val="2B4352"/>
            </a:solidFill>
            <a:prstDash val="dash"/>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9052560" y="3383280"/>
            <a:ext cx="365760" cy="1691640"/>
          </a:xfrm>
          <a:prstGeom prst="line">
            <a:avLst/>
          </a:prstGeom>
          <a:ln w="28575">
            <a:solidFill>
              <a:srgbClr val="2B4352"/>
            </a:solidFill>
            <a:prstDash val="dash"/>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8183880" y="2514600"/>
            <a:ext cx="1737360" cy="1737360"/>
          </a:xfrm>
          <a:prstGeom prst="ellipse">
            <a:avLst/>
          </a:prstGeom>
          <a:solidFill>
            <a:srgbClr val="172B38"/>
          </a:solidFill>
          <a:ln w="31750">
            <a:solidFill>
              <a:srgbClr val="14A58A"/>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2800" b="1" i="0">
                <a:solidFill>
                  <a:srgbClr val="7FE3C0"/>
                </a:solidFill>
                <a:latin typeface="Segoe UI"/>
              </a:rPr>
              <a:t>120 A</a:t>
            </a:r>
          </a:p>
          <a:p>
            <a:pPr algn="ctr">
              <a:spcBef>
                <a:spcPts val="0"/>
              </a:spcBef>
              <a:spcAft>
                <a:spcPts val="0"/>
              </a:spcAft>
            </a:pPr>
            <a:r>
              <a:rPr sz="1200" b="0" i="0">
                <a:solidFill>
                  <a:srgbClr val="A9BAC6"/>
                </a:solidFill>
                <a:latin typeface="Segoe UI"/>
              </a:rPr>
              <a:t>generator</a:t>
            </a:r>
          </a:p>
        </p:txBody>
      </p:sp>
      <p:sp>
        <p:nvSpPr>
          <p:cNvPr id="6" name="Rounded Rectangle 5"/>
          <p:cNvSpPr/>
          <p:nvPr/>
        </p:nvSpPr>
        <p:spPr>
          <a:xfrm>
            <a:off x="7086600" y="1280160"/>
            <a:ext cx="1463040" cy="640080"/>
          </a:xfrm>
          <a:prstGeom prst="roundRect">
            <a:avLst>
              <a:gd name="adj" fmla="val 25714"/>
            </a:avLst>
          </a:prstGeom>
          <a:solidFill>
            <a:srgbClr val="172B38"/>
          </a:solidFill>
          <a:ln w="22225">
            <a:solidFill>
              <a:srgbClr val="6484DC"/>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400" b="1" i="0">
                <a:solidFill>
                  <a:srgbClr val="FFFFFF"/>
                </a:solidFill>
                <a:latin typeface="Segoe UI"/>
              </a:rPr>
              <a:t>Hamra</a:t>
            </a:r>
          </a:p>
        </p:txBody>
      </p:sp>
      <p:sp>
        <p:nvSpPr>
          <p:cNvPr id="7" name="Rounded Rectangle 6"/>
          <p:cNvSpPr/>
          <p:nvPr/>
        </p:nvSpPr>
        <p:spPr>
          <a:xfrm>
            <a:off x="9646919" y="1600200"/>
            <a:ext cx="1463040" cy="640080"/>
          </a:xfrm>
          <a:prstGeom prst="roundRect">
            <a:avLst>
              <a:gd name="adj" fmla="val 25714"/>
            </a:avLst>
          </a:prstGeom>
          <a:solidFill>
            <a:srgbClr val="172B38"/>
          </a:solidFill>
          <a:ln w="22225">
            <a:solidFill>
              <a:srgbClr val="6484DC"/>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400" b="1" i="0">
                <a:solidFill>
                  <a:srgbClr val="FFFFFF"/>
                </a:solidFill>
                <a:latin typeface="Segoe UI"/>
              </a:rPr>
              <a:t>Mar Mikhael</a:t>
            </a:r>
          </a:p>
        </p:txBody>
      </p:sp>
      <p:sp>
        <p:nvSpPr>
          <p:cNvPr id="8" name="Rounded Rectangle 7"/>
          <p:cNvSpPr/>
          <p:nvPr/>
        </p:nvSpPr>
        <p:spPr>
          <a:xfrm>
            <a:off x="8686800" y="4754880"/>
            <a:ext cx="1463040" cy="640080"/>
          </a:xfrm>
          <a:prstGeom prst="roundRect">
            <a:avLst>
              <a:gd name="adj" fmla="val 25714"/>
            </a:avLst>
          </a:prstGeom>
          <a:solidFill>
            <a:srgbClr val="172B38"/>
          </a:solidFill>
          <a:ln w="22225">
            <a:solidFill>
              <a:srgbClr val="6484DC"/>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400" b="1" i="0">
                <a:solidFill>
                  <a:srgbClr val="FFFFFF"/>
                </a:solidFill>
                <a:latin typeface="Segoe UI"/>
              </a:rPr>
              <a:t>Achrafieh</a:t>
            </a:r>
          </a:p>
        </p:txBody>
      </p:sp>
      <p:sp>
        <p:nvSpPr>
          <p:cNvPr id="9" name="TextBox 8"/>
          <p:cNvSpPr txBox="1"/>
          <p:nvPr/>
        </p:nvSpPr>
        <p:spPr>
          <a:xfrm>
            <a:off x="7406640" y="5897880"/>
            <a:ext cx="4389120" cy="274320"/>
          </a:xfrm>
          <a:prstGeom prst="rect">
            <a:avLst/>
          </a:prstGeom>
          <a:noFill/>
        </p:spPr>
        <p:txBody>
          <a:bodyPr wrap="square" lIns="0" tIns="0" rIns="0" bIns="0" anchor="ctr">
            <a:spAutoFit/>
          </a:bodyPr>
          <a:lstStyle/>
          <a:p>
            <a:pPr algn="r">
              <a:spcBef>
                <a:spcPts val="0"/>
              </a:spcBef>
              <a:spcAft>
                <a:spcPts val="0"/>
              </a:spcAft>
            </a:pPr>
            <a:r>
              <a:rPr sz="1200" b="0" i="0">
                <a:solidFill>
                  <a:srgbClr val="A9BAC6"/>
                </a:solidFill>
                <a:latin typeface="Segoe UI"/>
              </a:rPr>
              <a:t>Schematic of the idea, not a measurement</a:t>
            </a:r>
          </a:p>
        </p:txBody>
      </p:sp>
      <p:sp>
        <p:nvSpPr>
          <p:cNvPr id="10" name="Rounded Rectangle 9"/>
          <p:cNvSpPr/>
          <p:nvPr/>
        </p:nvSpPr>
        <p:spPr>
          <a:xfrm>
            <a:off x="640080" y="1691640"/>
            <a:ext cx="457200" cy="64008"/>
          </a:xfrm>
          <a:prstGeom prst="roundRect">
            <a:avLst>
              <a:gd name="adj" fmla="val 42857"/>
            </a:avLst>
          </a:prstGeom>
          <a:solidFill>
            <a:srgbClr val="7FE3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40080" y="1874519"/>
            <a:ext cx="6400800" cy="365760"/>
          </a:xfrm>
          <a:prstGeom prst="rect">
            <a:avLst/>
          </a:prstGeom>
          <a:noFill/>
        </p:spPr>
        <p:txBody>
          <a:bodyPr wrap="square" lIns="0" tIns="0" rIns="0" bIns="0" anchor="t">
            <a:spAutoFit/>
          </a:bodyPr>
          <a:lstStyle/>
          <a:p>
            <a:pPr algn="l">
              <a:spcBef>
                <a:spcPts val="0"/>
              </a:spcBef>
              <a:spcAft>
                <a:spcPts val="0"/>
              </a:spcAft>
            </a:pPr>
            <a:r>
              <a:rPr sz="1400" b="1" i="0">
                <a:solidFill>
                  <a:srgbClr val="7FE3C0"/>
                </a:solidFill>
                <a:latin typeface="Segoe UI"/>
              </a:rPr>
              <a:t>DISTRIBUTED SYSTEMS · FINAL PROJECT</a:t>
            </a:r>
          </a:p>
        </p:txBody>
      </p:sp>
      <p:sp>
        <p:nvSpPr>
          <p:cNvPr id="12" name="TextBox 11"/>
          <p:cNvSpPr txBox="1"/>
          <p:nvPr/>
        </p:nvSpPr>
        <p:spPr>
          <a:xfrm>
            <a:off x="640080" y="2331720"/>
            <a:ext cx="6766560" cy="1188720"/>
          </a:xfrm>
          <a:prstGeom prst="rect">
            <a:avLst/>
          </a:prstGeom>
          <a:noFill/>
        </p:spPr>
        <p:txBody>
          <a:bodyPr wrap="square" lIns="0" tIns="0" rIns="0" bIns="0" anchor="t">
            <a:spAutoFit/>
          </a:bodyPr>
          <a:lstStyle/>
          <a:p>
            <a:pPr algn="l">
              <a:spcBef>
                <a:spcPts val="0"/>
              </a:spcBef>
              <a:spcAft>
                <a:spcPts val="0"/>
              </a:spcAft>
            </a:pPr>
            <a:r>
              <a:rPr sz="7200" b="1" i="0">
                <a:solidFill>
                  <a:srgbClr val="FFFFFF"/>
                </a:solidFill>
                <a:latin typeface="Segoe UI"/>
              </a:rPr>
              <a:t>Ishtirak</a:t>
            </a:r>
          </a:p>
        </p:txBody>
      </p:sp>
      <p:sp>
        <p:nvSpPr>
          <p:cNvPr id="13" name="TextBox 12"/>
          <p:cNvSpPr txBox="1"/>
          <p:nvPr/>
        </p:nvSpPr>
        <p:spPr>
          <a:xfrm>
            <a:off x="640080" y="3611880"/>
            <a:ext cx="6766560" cy="1188720"/>
          </a:xfrm>
          <a:prstGeom prst="rect">
            <a:avLst/>
          </a:prstGeom>
          <a:noFill/>
        </p:spPr>
        <p:txBody>
          <a:bodyPr wrap="square" lIns="0" tIns="0" rIns="0" bIns="0" anchor="t">
            <a:spAutoFit/>
          </a:bodyPr>
          <a:lstStyle/>
          <a:p>
            <a:pPr algn="l">
              <a:spcBef>
                <a:spcPts val="0"/>
              </a:spcBef>
              <a:spcAft>
                <a:spcPts val="0"/>
              </a:spcAft>
            </a:pPr>
            <a:r>
              <a:rPr sz="3400" b="1" i="0">
                <a:solidFill>
                  <a:srgbClr val="7FE3C0"/>
                </a:solidFill>
                <a:latin typeface="Segoe UI"/>
              </a:rPr>
              <a:t>Shared power.</a:t>
            </a:r>
          </a:p>
          <a:p>
            <a:pPr algn="l">
              <a:spcBef>
                <a:spcPts val="0"/>
              </a:spcBef>
              <a:spcAft>
                <a:spcPts val="0"/>
              </a:spcAft>
            </a:pPr>
            <a:r>
              <a:rPr sz="3400" b="1" i="0">
                <a:solidFill>
                  <a:srgbClr val="FFFFFF"/>
                </a:solidFill>
                <a:latin typeface="Segoe UI"/>
              </a:rPr>
              <a:t>Coordinated safely.</a:t>
            </a:r>
          </a:p>
        </p:txBody>
      </p:sp>
      <p:sp>
        <p:nvSpPr>
          <p:cNvPr id="14" name="TextBox 13"/>
          <p:cNvSpPr txBox="1"/>
          <p:nvPr/>
        </p:nvSpPr>
        <p:spPr>
          <a:xfrm>
            <a:off x="640080" y="5166360"/>
            <a:ext cx="6583680" cy="365760"/>
          </a:xfrm>
          <a:prstGeom prst="rect">
            <a:avLst/>
          </a:prstGeom>
          <a:noFill/>
        </p:spPr>
        <p:txBody>
          <a:bodyPr wrap="square" lIns="0" tIns="0" rIns="0" bIns="0" anchor="t">
            <a:spAutoFit/>
          </a:bodyPr>
          <a:lstStyle/>
          <a:p>
            <a:pPr algn="l">
              <a:spcBef>
                <a:spcPts val="0"/>
              </a:spcBef>
              <a:spcAft>
                <a:spcPts val="0"/>
              </a:spcAft>
            </a:pPr>
            <a:r>
              <a:rPr sz="1600" b="0" i="0">
                <a:solidFill>
                  <a:srgbClr val="A9BAC6"/>
                </a:solidFill>
                <a:latin typeface="Segoe UI"/>
              </a:rPr>
              <a:t>Go  ·  MQTT  ·  Raft  ·  PostgreSQL  ·  React  ·  Docker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ounded Rectangle 1"/>
          <p:cNvSpPr/>
          <p:nvPr/>
        </p:nvSpPr>
        <p:spPr>
          <a:xfrm>
            <a:off x="640080" y="475488"/>
            <a:ext cx="292608" cy="54864"/>
          </a:xfrm>
          <a:prstGeom prst="roundRect">
            <a:avLst>
              <a:gd name="adj" fmla="val 50000"/>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51560" y="365760"/>
            <a:ext cx="7315200" cy="274320"/>
          </a:xfrm>
          <a:prstGeom prst="rect">
            <a:avLst/>
          </a:prstGeom>
          <a:noFill/>
        </p:spPr>
        <p:txBody>
          <a:bodyPr wrap="square" lIns="0" tIns="0" rIns="0" bIns="0" anchor="ctr">
            <a:spAutoFit/>
          </a:bodyPr>
          <a:lstStyle/>
          <a:p>
            <a:pPr algn="l">
              <a:spcBef>
                <a:spcPts val="0"/>
              </a:spcBef>
              <a:spcAft>
                <a:spcPts val="0"/>
              </a:spcAft>
            </a:pPr>
            <a:r>
              <a:rPr sz="1200" b="1" i="0">
                <a:solidFill>
                  <a:srgbClr val="0B7A65"/>
                </a:solidFill>
                <a:latin typeface="Segoe UI"/>
              </a:rPr>
              <a:t>THE PROBLEM</a:t>
            </a:r>
          </a:p>
        </p:txBody>
      </p:sp>
      <p:sp>
        <p:nvSpPr>
          <p:cNvPr id="4" name="TextBox 3"/>
          <p:cNvSpPr txBox="1"/>
          <p:nvPr/>
        </p:nvSpPr>
        <p:spPr>
          <a:xfrm>
            <a:off x="640080" y="713232"/>
            <a:ext cx="10911535" cy="685800"/>
          </a:xfrm>
          <a:prstGeom prst="rect">
            <a:avLst/>
          </a:prstGeom>
          <a:noFill/>
        </p:spPr>
        <p:txBody>
          <a:bodyPr wrap="square" lIns="0" tIns="0" rIns="0" bIns="0" anchor="t">
            <a:spAutoFit/>
          </a:bodyPr>
          <a:lstStyle/>
          <a:p>
            <a:pPr algn="l">
              <a:spcBef>
                <a:spcPts val="0"/>
              </a:spcBef>
              <a:spcAft>
                <a:spcPts val="0"/>
              </a:spcAft>
            </a:pPr>
            <a:r>
              <a:rPr sz="3400" b="1" i="0">
                <a:solidFill>
                  <a:srgbClr val="0F1D26"/>
                </a:solidFill>
                <a:latin typeface="Segoe UI"/>
              </a:rPr>
              <a:t>One generator, no room for error</a:t>
            </a:r>
          </a:p>
        </p:txBody>
      </p:sp>
      <p:sp>
        <p:nvSpPr>
          <p:cNvPr id="5" name="TextBox 4"/>
          <p:cNvSpPr txBox="1"/>
          <p:nvPr/>
        </p:nvSpPr>
        <p:spPr>
          <a:xfrm>
            <a:off x="640080" y="6428232"/>
            <a:ext cx="4572000" cy="256032"/>
          </a:xfrm>
          <a:prstGeom prst="rect">
            <a:avLst/>
          </a:prstGeom>
          <a:noFill/>
        </p:spPr>
        <p:txBody>
          <a:bodyPr wrap="square" lIns="0" tIns="0" rIns="0" bIns="0" anchor="ctr">
            <a:spAutoFit/>
          </a:bodyPr>
          <a:lstStyle/>
          <a:p>
            <a:pPr algn="l">
              <a:spcBef>
                <a:spcPts val="0"/>
              </a:spcBef>
              <a:spcAft>
                <a:spcPts val="0"/>
              </a:spcAft>
            </a:pPr>
            <a:r>
              <a:rPr sz="1200" b="0" i="0">
                <a:solidFill>
                  <a:srgbClr val="52626F"/>
                </a:solidFill>
                <a:latin typeface="Segoe UI"/>
              </a:rPr>
              <a:t>Ishtirak · Distributed Systems</a:t>
            </a:r>
          </a:p>
        </p:txBody>
      </p:sp>
      <p:sp>
        <p:nvSpPr>
          <p:cNvPr id="6" name="TextBox 5"/>
          <p:cNvSpPr txBox="1"/>
          <p:nvPr/>
        </p:nvSpPr>
        <p:spPr>
          <a:xfrm>
            <a:off x="10180015" y="6428232"/>
            <a:ext cx="1371600" cy="256032"/>
          </a:xfrm>
          <a:prstGeom prst="rect">
            <a:avLst/>
          </a:prstGeom>
          <a:noFill/>
        </p:spPr>
        <p:txBody>
          <a:bodyPr wrap="square" lIns="0" tIns="0" rIns="0" bIns="0" anchor="ctr">
            <a:spAutoFit/>
          </a:bodyPr>
          <a:lstStyle/>
          <a:p>
            <a:pPr algn="r">
              <a:spcBef>
                <a:spcPts val="0"/>
              </a:spcBef>
              <a:spcAft>
                <a:spcPts val="0"/>
              </a:spcAft>
            </a:pPr>
            <a:r>
              <a:rPr sz="1200" b="0" i="0">
                <a:solidFill>
                  <a:srgbClr val="52626F"/>
                </a:solidFill>
                <a:latin typeface="Segoe UI"/>
              </a:rPr>
              <a:t>2 / 16</a:t>
            </a:r>
          </a:p>
        </p:txBody>
      </p:sp>
      <p:sp>
        <p:nvSpPr>
          <p:cNvPr id="7" name="Rounded Rectangle 6"/>
          <p:cNvSpPr/>
          <p:nvPr/>
        </p:nvSpPr>
        <p:spPr>
          <a:xfrm>
            <a:off x="2148840" y="1783080"/>
            <a:ext cx="2560320" cy="960120"/>
          </a:xfrm>
          <a:prstGeom prst="roundRect">
            <a:avLst>
              <a:gd name="adj" fmla="val 17142"/>
            </a:avLst>
          </a:prstGeom>
          <a:solidFill>
            <a:srgbClr val="0F1D2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400" b="0" i="0">
                <a:solidFill>
                  <a:srgbClr val="A9BAC6"/>
                </a:solidFill>
                <a:latin typeface="Segoe UI"/>
              </a:rPr>
              <a:t>Neighborhood generator</a:t>
            </a:r>
          </a:p>
          <a:p>
            <a:pPr algn="ctr">
              <a:spcBef>
                <a:spcPts val="0"/>
              </a:spcBef>
              <a:spcAft>
                <a:spcPts val="0"/>
              </a:spcAft>
            </a:pPr>
            <a:r>
              <a:rPr sz="2200" b="1" i="0">
                <a:solidFill>
                  <a:srgbClr val="7FE3C0"/>
                </a:solidFill>
                <a:latin typeface="Segoe UI"/>
              </a:rPr>
              <a:t>120 A in total</a:t>
            </a:r>
          </a:p>
        </p:txBody>
      </p:sp>
      <p:sp>
        <p:nvSpPr>
          <p:cNvPr id="8" name="Rounded Rectangle 7"/>
          <p:cNvSpPr/>
          <p:nvPr/>
        </p:nvSpPr>
        <p:spPr>
          <a:xfrm>
            <a:off x="640080" y="3886200"/>
            <a:ext cx="1737360" cy="914400"/>
          </a:xfrm>
          <a:prstGeom prst="roundRect">
            <a:avLst>
              <a:gd name="adj" fmla="val 16000"/>
            </a:avLst>
          </a:prstGeom>
          <a:solidFill>
            <a:srgbClr val="FFFFFF"/>
          </a:solidFill>
          <a:ln w="25400">
            <a:solidFill>
              <a:srgbClr val="6484DC"/>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600" b="1" i="0">
                <a:solidFill>
                  <a:srgbClr val="0F1D26"/>
                </a:solidFill>
                <a:latin typeface="Segoe UI"/>
              </a:rPr>
              <a:t>Hamra</a:t>
            </a:r>
          </a:p>
          <a:p>
            <a:pPr algn="ctr">
              <a:spcBef>
                <a:spcPts val="0"/>
              </a:spcBef>
              <a:spcAft>
                <a:spcPts val="0"/>
              </a:spcAft>
            </a:pPr>
            <a:r>
              <a:rPr sz="1200" b="0" i="0">
                <a:solidFill>
                  <a:srgbClr val="52626F"/>
                </a:solidFill>
                <a:latin typeface="Segoe UI"/>
              </a:rPr>
              <a:t>changing demand</a:t>
            </a:r>
          </a:p>
        </p:txBody>
      </p:sp>
      <p:cxnSp>
        <p:nvCxnSpPr>
          <p:cNvPr id="9" name="Connector 8"/>
          <p:cNvCxnSpPr/>
          <p:nvPr/>
        </p:nvCxnSpPr>
        <p:spPr>
          <a:xfrm flipV="1">
            <a:off x="1508760" y="2743200"/>
            <a:ext cx="1248156" cy="1143000"/>
          </a:xfrm>
          <a:prstGeom prst="line">
            <a:avLst/>
          </a:prstGeom>
          <a:ln w="25400">
            <a:solidFill>
              <a:srgbClr val="6484DC"/>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560320" y="3886200"/>
            <a:ext cx="1737360" cy="914400"/>
          </a:xfrm>
          <a:prstGeom prst="roundRect">
            <a:avLst>
              <a:gd name="adj" fmla="val 16000"/>
            </a:avLst>
          </a:prstGeom>
          <a:solidFill>
            <a:srgbClr val="FFFFFF"/>
          </a:solidFill>
          <a:ln w="25400">
            <a:solidFill>
              <a:srgbClr val="6484DC"/>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600" b="1" i="0">
                <a:solidFill>
                  <a:srgbClr val="0F1D26"/>
                </a:solidFill>
                <a:latin typeface="Segoe UI"/>
              </a:rPr>
              <a:t>Mar Mikhael</a:t>
            </a:r>
          </a:p>
          <a:p>
            <a:pPr algn="ctr">
              <a:spcBef>
                <a:spcPts val="0"/>
              </a:spcBef>
              <a:spcAft>
                <a:spcPts val="0"/>
              </a:spcAft>
            </a:pPr>
            <a:r>
              <a:rPr sz="1200" b="0" i="0">
                <a:solidFill>
                  <a:srgbClr val="52626F"/>
                </a:solidFill>
                <a:latin typeface="Segoe UI"/>
              </a:rPr>
              <a:t>changing demand</a:t>
            </a:r>
          </a:p>
        </p:txBody>
      </p:sp>
      <p:cxnSp>
        <p:nvCxnSpPr>
          <p:cNvPr id="11" name="Connector 10"/>
          <p:cNvCxnSpPr/>
          <p:nvPr/>
        </p:nvCxnSpPr>
        <p:spPr>
          <a:xfrm flipV="1">
            <a:off x="3429000" y="2743200"/>
            <a:ext cx="0" cy="1143000"/>
          </a:xfrm>
          <a:prstGeom prst="line">
            <a:avLst/>
          </a:prstGeom>
          <a:ln w="25400">
            <a:solidFill>
              <a:srgbClr val="6484DC"/>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480560" y="3886200"/>
            <a:ext cx="1737360" cy="914400"/>
          </a:xfrm>
          <a:prstGeom prst="roundRect">
            <a:avLst>
              <a:gd name="adj" fmla="val 16000"/>
            </a:avLst>
          </a:prstGeom>
          <a:solidFill>
            <a:srgbClr val="FFFFFF"/>
          </a:solidFill>
          <a:ln w="25400">
            <a:solidFill>
              <a:srgbClr val="6484DC"/>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600" b="1" i="0">
                <a:solidFill>
                  <a:srgbClr val="0F1D26"/>
                </a:solidFill>
                <a:latin typeface="Segoe UI"/>
              </a:rPr>
              <a:t>Achrafieh</a:t>
            </a:r>
          </a:p>
          <a:p>
            <a:pPr algn="ctr">
              <a:spcBef>
                <a:spcPts val="0"/>
              </a:spcBef>
              <a:spcAft>
                <a:spcPts val="0"/>
              </a:spcAft>
            </a:pPr>
            <a:r>
              <a:rPr sz="1200" b="0" i="0">
                <a:solidFill>
                  <a:srgbClr val="52626F"/>
                </a:solidFill>
                <a:latin typeface="Segoe UI"/>
              </a:rPr>
              <a:t>changing demand</a:t>
            </a:r>
          </a:p>
        </p:txBody>
      </p:sp>
      <p:cxnSp>
        <p:nvCxnSpPr>
          <p:cNvPr id="13" name="Connector 12"/>
          <p:cNvCxnSpPr/>
          <p:nvPr/>
        </p:nvCxnSpPr>
        <p:spPr>
          <a:xfrm flipH="1" flipV="1">
            <a:off x="4101084" y="2743200"/>
            <a:ext cx="1248156" cy="1143000"/>
          </a:xfrm>
          <a:prstGeom prst="line">
            <a:avLst/>
          </a:prstGeom>
          <a:ln w="25400">
            <a:solidFill>
              <a:srgbClr val="6484DC"/>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508760" y="3090672"/>
            <a:ext cx="3840480" cy="329184"/>
          </a:xfrm>
          <a:prstGeom prst="roundRect">
            <a:avLst>
              <a:gd name="adj" fmla="val 50000"/>
            </a:avLst>
          </a:prstGeom>
          <a:solidFill>
            <a:srgbClr val="E8EDF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300" b="1" i="0">
                <a:solidFill>
                  <a:srgbClr val="3F5FB8"/>
                </a:solidFill>
                <a:latin typeface="Segoe UI"/>
              </a:rPr>
              <a:t>Every building asks for amps on its own</a:t>
            </a:r>
          </a:p>
        </p:txBody>
      </p:sp>
      <p:sp>
        <p:nvSpPr>
          <p:cNvPr id="15" name="Rounded Rectangle 14"/>
          <p:cNvSpPr/>
          <p:nvPr/>
        </p:nvSpPr>
        <p:spPr>
          <a:xfrm>
            <a:off x="640080" y="5166360"/>
            <a:ext cx="5577840" cy="640080"/>
          </a:xfrm>
          <a:prstGeom prst="roundRect">
            <a:avLst>
              <a:gd name="adj" fmla="val 20000"/>
            </a:avLst>
          </a:prstGeom>
          <a:solidFill>
            <a:srgbClr val="FBF1DE"/>
          </a:solidFill>
          <a:ln w="9525">
            <a:solidFill>
              <a:srgbClr val="D69B3C"/>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400" b="1" i="0">
                <a:solidFill>
                  <a:srgbClr val="8F5F0B"/>
                </a:solidFill>
                <a:latin typeface="Segoe UI"/>
              </a:rPr>
              <a:t>If requests add up to more than 120 A, the generator overloads.</a:t>
            </a:r>
          </a:p>
        </p:txBody>
      </p:sp>
      <p:sp>
        <p:nvSpPr>
          <p:cNvPr id="16" name="TextBox 15"/>
          <p:cNvSpPr txBox="1"/>
          <p:nvPr/>
        </p:nvSpPr>
        <p:spPr>
          <a:xfrm>
            <a:off x="640080" y="5943600"/>
            <a:ext cx="5577840" cy="274320"/>
          </a:xfrm>
          <a:prstGeom prst="rect">
            <a:avLst/>
          </a:prstGeom>
          <a:noFill/>
        </p:spPr>
        <p:txBody>
          <a:bodyPr wrap="square" lIns="0" tIns="0" rIns="0" bIns="0" anchor="t">
            <a:spAutoFit/>
          </a:bodyPr>
          <a:lstStyle/>
          <a:p>
            <a:pPr algn="l">
              <a:spcBef>
                <a:spcPts val="0"/>
              </a:spcBef>
              <a:spcAft>
                <a:spcPts val="0"/>
              </a:spcAft>
            </a:pPr>
            <a:r>
              <a:rPr sz="1200" b="0" i="1">
                <a:solidFill>
                  <a:srgbClr val="52626F"/>
                </a:solidFill>
                <a:latin typeface="Segoe UI"/>
              </a:rPr>
              <a:t>Conceptual diagram</a:t>
            </a:r>
          </a:p>
        </p:txBody>
      </p:sp>
      <p:sp>
        <p:nvSpPr>
          <p:cNvPr id="17" name="Rounded Rectangle 16"/>
          <p:cNvSpPr/>
          <p:nvPr/>
        </p:nvSpPr>
        <p:spPr>
          <a:xfrm>
            <a:off x="6766560" y="1691640"/>
            <a:ext cx="4782312" cy="1325880"/>
          </a:xfrm>
          <a:prstGeom prst="roundRect">
            <a:avLst>
              <a:gd name="adj" fmla="val 9655"/>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6766560" y="1874520"/>
            <a:ext cx="64008" cy="960119"/>
          </a:xfrm>
          <a:prstGeom prst="roundRect">
            <a:avLst>
              <a:gd name="adj" fmla="val 42857"/>
            </a:avLst>
          </a:prstGeom>
          <a:solidFill>
            <a:srgbClr val="D69B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7040880" y="1874520"/>
            <a:ext cx="420624" cy="420624"/>
          </a:xfrm>
          <a:prstGeom prst="ellipse">
            <a:avLst/>
          </a:prstGeom>
          <a:solidFill>
            <a:srgbClr val="D69B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600" b="1" i="0">
                <a:solidFill>
                  <a:srgbClr val="FFFFFF"/>
                </a:solidFill>
                <a:latin typeface="Segoe UI"/>
              </a:rPr>
              <a:t>1</a:t>
            </a:r>
          </a:p>
        </p:txBody>
      </p:sp>
      <p:sp>
        <p:nvSpPr>
          <p:cNvPr id="20" name="TextBox 19"/>
          <p:cNvSpPr txBox="1"/>
          <p:nvPr/>
        </p:nvSpPr>
        <p:spPr>
          <a:xfrm>
            <a:off x="7635240" y="1847088"/>
            <a:ext cx="3749039" cy="365760"/>
          </a:xfrm>
          <a:prstGeom prst="rect">
            <a:avLst/>
          </a:prstGeom>
          <a:noFill/>
        </p:spPr>
        <p:txBody>
          <a:bodyPr wrap="square" lIns="0" tIns="0" rIns="0" bIns="0" anchor="t">
            <a:spAutoFit/>
          </a:bodyPr>
          <a:lstStyle/>
          <a:p>
            <a:pPr algn="l">
              <a:spcBef>
                <a:spcPts val="0"/>
              </a:spcBef>
              <a:spcAft>
                <a:spcPts val="0"/>
              </a:spcAft>
            </a:pPr>
            <a:r>
              <a:rPr sz="1800" b="1" i="0">
                <a:solidFill>
                  <a:srgbClr val="0F1D26"/>
                </a:solidFill>
                <a:latin typeface="Segoe UI"/>
              </a:rPr>
              <a:t>Overload</a:t>
            </a:r>
          </a:p>
        </p:txBody>
      </p:sp>
      <p:sp>
        <p:nvSpPr>
          <p:cNvPr id="21" name="TextBox 20"/>
          <p:cNvSpPr txBox="1"/>
          <p:nvPr/>
        </p:nvSpPr>
        <p:spPr>
          <a:xfrm>
            <a:off x="7635240" y="2240280"/>
            <a:ext cx="3749039" cy="731520"/>
          </a:xfrm>
          <a:prstGeom prst="rect">
            <a:avLst/>
          </a:prstGeom>
          <a:noFill/>
        </p:spPr>
        <p:txBody>
          <a:bodyPr wrap="square" lIns="0" tIns="0" rIns="0" bIns="0" anchor="t">
            <a:spAutoFit/>
          </a:bodyPr>
          <a:lstStyle/>
          <a:p>
            <a:pPr algn="l">
              <a:spcBef>
                <a:spcPts val="0"/>
              </a:spcBef>
              <a:spcAft>
                <a:spcPts val="0"/>
              </a:spcAft>
            </a:pPr>
            <a:r>
              <a:rPr sz="1500" b="0" i="0">
                <a:solidFill>
                  <a:srgbClr val="52626F"/>
                </a:solidFill>
                <a:latin typeface="Segoe UI"/>
              </a:rPr>
              <a:t>Concurrent requests and retries can reserve more than the generator can supply.</a:t>
            </a:r>
          </a:p>
        </p:txBody>
      </p:sp>
      <p:sp>
        <p:nvSpPr>
          <p:cNvPr id="22" name="Rounded Rectangle 21"/>
          <p:cNvSpPr/>
          <p:nvPr/>
        </p:nvSpPr>
        <p:spPr>
          <a:xfrm>
            <a:off x="6766560" y="3154680"/>
            <a:ext cx="4782312" cy="1325880"/>
          </a:xfrm>
          <a:prstGeom prst="roundRect">
            <a:avLst>
              <a:gd name="adj" fmla="val 9655"/>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6766560" y="3337560"/>
            <a:ext cx="64008" cy="960119"/>
          </a:xfrm>
          <a:prstGeom prst="roundRect">
            <a:avLst>
              <a:gd name="adj" fmla="val 42857"/>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val 23"/>
          <p:cNvSpPr/>
          <p:nvPr/>
        </p:nvSpPr>
        <p:spPr>
          <a:xfrm>
            <a:off x="7040880" y="3337560"/>
            <a:ext cx="420624" cy="420624"/>
          </a:xfrm>
          <a:prstGeom prst="ellipse">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600" b="1" i="0">
                <a:solidFill>
                  <a:srgbClr val="FFFFFF"/>
                </a:solidFill>
                <a:latin typeface="Segoe UI"/>
              </a:rPr>
              <a:t>2</a:t>
            </a:r>
          </a:p>
        </p:txBody>
      </p:sp>
      <p:sp>
        <p:nvSpPr>
          <p:cNvPr id="25" name="TextBox 24"/>
          <p:cNvSpPr txBox="1"/>
          <p:nvPr/>
        </p:nvSpPr>
        <p:spPr>
          <a:xfrm>
            <a:off x="7635240" y="3310128"/>
            <a:ext cx="3749039" cy="365760"/>
          </a:xfrm>
          <a:prstGeom prst="rect">
            <a:avLst/>
          </a:prstGeom>
          <a:noFill/>
        </p:spPr>
        <p:txBody>
          <a:bodyPr wrap="square" lIns="0" tIns="0" rIns="0" bIns="0" anchor="t">
            <a:spAutoFit/>
          </a:bodyPr>
          <a:lstStyle/>
          <a:p>
            <a:pPr algn="l">
              <a:spcBef>
                <a:spcPts val="0"/>
              </a:spcBef>
              <a:spcAft>
                <a:spcPts val="0"/>
              </a:spcAft>
            </a:pPr>
            <a:r>
              <a:rPr sz="1800" b="1" i="0">
                <a:solidFill>
                  <a:srgbClr val="0F1D26"/>
                </a:solidFill>
                <a:latin typeface="Segoe UI"/>
              </a:rPr>
              <a:t>Single point of failure</a:t>
            </a:r>
          </a:p>
        </p:txBody>
      </p:sp>
      <p:sp>
        <p:nvSpPr>
          <p:cNvPr id="26" name="TextBox 25"/>
          <p:cNvSpPr txBox="1"/>
          <p:nvPr/>
        </p:nvSpPr>
        <p:spPr>
          <a:xfrm>
            <a:off x="7635240" y="3703320"/>
            <a:ext cx="3749039" cy="731520"/>
          </a:xfrm>
          <a:prstGeom prst="rect">
            <a:avLst/>
          </a:prstGeom>
          <a:noFill/>
        </p:spPr>
        <p:txBody>
          <a:bodyPr wrap="square" lIns="0" tIns="0" rIns="0" bIns="0" anchor="t">
            <a:spAutoFit/>
          </a:bodyPr>
          <a:lstStyle/>
          <a:p>
            <a:pPr algn="l">
              <a:spcBef>
                <a:spcPts val="0"/>
              </a:spcBef>
              <a:spcAft>
                <a:spcPts val="0"/>
              </a:spcAft>
            </a:pPr>
            <a:r>
              <a:rPr sz="1500" b="0" i="0">
                <a:solidFill>
                  <a:srgbClr val="52626F"/>
                </a:solidFill>
                <a:latin typeface="Segoe UI"/>
              </a:rPr>
              <a:t>One central “boss” computer that crashes leaves every building without a decision.</a:t>
            </a:r>
          </a:p>
        </p:txBody>
      </p:sp>
      <p:sp>
        <p:nvSpPr>
          <p:cNvPr id="27" name="Rounded Rectangle 26"/>
          <p:cNvSpPr/>
          <p:nvPr/>
        </p:nvSpPr>
        <p:spPr>
          <a:xfrm>
            <a:off x="6766560" y="4617720"/>
            <a:ext cx="4782312" cy="1325880"/>
          </a:xfrm>
          <a:prstGeom prst="roundRect">
            <a:avLst>
              <a:gd name="adj" fmla="val 9655"/>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6766560" y="4800600"/>
            <a:ext cx="64008" cy="960119"/>
          </a:xfrm>
          <a:prstGeom prst="roundRect">
            <a:avLst>
              <a:gd name="adj" fmla="val 42857"/>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Oval 28"/>
          <p:cNvSpPr/>
          <p:nvPr/>
        </p:nvSpPr>
        <p:spPr>
          <a:xfrm>
            <a:off x="7040880" y="4800600"/>
            <a:ext cx="420624" cy="420624"/>
          </a:xfrm>
          <a:prstGeom prst="ellipse">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600" b="1" i="0">
                <a:solidFill>
                  <a:srgbClr val="FFFFFF"/>
                </a:solidFill>
                <a:latin typeface="Segoe UI"/>
              </a:rPr>
              <a:t>3</a:t>
            </a:r>
          </a:p>
        </p:txBody>
      </p:sp>
      <p:sp>
        <p:nvSpPr>
          <p:cNvPr id="30" name="TextBox 29"/>
          <p:cNvSpPr txBox="1"/>
          <p:nvPr/>
        </p:nvSpPr>
        <p:spPr>
          <a:xfrm>
            <a:off x="7635240" y="4773168"/>
            <a:ext cx="3749039" cy="365760"/>
          </a:xfrm>
          <a:prstGeom prst="rect">
            <a:avLst/>
          </a:prstGeom>
          <a:noFill/>
        </p:spPr>
        <p:txBody>
          <a:bodyPr wrap="square" lIns="0" tIns="0" rIns="0" bIns="0" anchor="t">
            <a:spAutoFit/>
          </a:bodyPr>
          <a:lstStyle/>
          <a:p>
            <a:pPr algn="l">
              <a:spcBef>
                <a:spcPts val="0"/>
              </a:spcBef>
              <a:spcAft>
                <a:spcPts val="0"/>
              </a:spcAft>
            </a:pPr>
            <a:r>
              <a:rPr sz="1800" b="1" i="0">
                <a:solidFill>
                  <a:srgbClr val="0F1D26"/>
                </a:solidFill>
                <a:latin typeface="Segoe UI"/>
              </a:rPr>
              <a:t>Unsafe replacement</a:t>
            </a:r>
          </a:p>
        </p:txBody>
      </p:sp>
      <p:sp>
        <p:nvSpPr>
          <p:cNvPr id="31" name="TextBox 30"/>
          <p:cNvSpPr txBox="1"/>
          <p:nvPr/>
        </p:nvSpPr>
        <p:spPr>
          <a:xfrm>
            <a:off x="7635240" y="5166360"/>
            <a:ext cx="3749039" cy="731520"/>
          </a:xfrm>
          <a:prstGeom prst="rect">
            <a:avLst/>
          </a:prstGeom>
          <a:noFill/>
        </p:spPr>
        <p:txBody>
          <a:bodyPr wrap="square" lIns="0" tIns="0" rIns="0" bIns="0" anchor="t">
            <a:spAutoFit/>
          </a:bodyPr>
          <a:lstStyle/>
          <a:p>
            <a:pPr algn="l">
              <a:spcBef>
                <a:spcPts val="0"/>
              </a:spcBef>
              <a:spcAft>
                <a:spcPts val="0"/>
              </a:spcAft>
            </a:pPr>
            <a:r>
              <a:rPr sz="1500" b="0" i="0">
                <a:solidFill>
                  <a:srgbClr val="52626F"/>
                </a:solidFill>
                <a:latin typeface="Segoe UI"/>
              </a:rPr>
              <a:t>A new coordinator must know which capacity is still authorized and which can be reused.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D26"/>
        </a:solidFill>
        <a:effectLst/>
      </p:bgPr>
    </p:bg>
    <p:spTree>
      <p:nvGrpSpPr>
        <p:cNvPr id="1" name=""/>
        <p:cNvGrpSpPr/>
        <p:nvPr/>
      </p:nvGrpSpPr>
      <p:grpSpPr/>
      <p:sp>
        <p:nvSpPr>
          <p:cNvPr id="2" name="Rounded Rectangle 1"/>
          <p:cNvSpPr/>
          <p:nvPr/>
        </p:nvSpPr>
        <p:spPr>
          <a:xfrm>
            <a:off x="640080" y="475488"/>
            <a:ext cx="292608" cy="54864"/>
          </a:xfrm>
          <a:prstGeom prst="roundRect">
            <a:avLst>
              <a:gd name="adj" fmla="val 50000"/>
            </a:avLst>
          </a:prstGeom>
          <a:solidFill>
            <a:srgbClr val="7FE3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51560" y="365760"/>
            <a:ext cx="7315200" cy="274320"/>
          </a:xfrm>
          <a:prstGeom prst="rect">
            <a:avLst/>
          </a:prstGeom>
          <a:noFill/>
        </p:spPr>
        <p:txBody>
          <a:bodyPr wrap="square" lIns="0" tIns="0" rIns="0" bIns="0" anchor="ctr">
            <a:spAutoFit/>
          </a:bodyPr>
          <a:lstStyle/>
          <a:p>
            <a:pPr algn="l">
              <a:spcBef>
                <a:spcPts val="0"/>
              </a:spcBef>
              <a:spcAft>
                <a:spcPts val="0"/>
              </a:spcAft>
            </a:pPr>
            <a:r>
              <a:rPr sz="1200" b="1" i="0">
                <a:solidFill>
                  <a:srgbClr val="7FE3C0"/>
                </a:solidFill>
                <a:latin typeface="Segoe UI"/>
              </a:rPr>
              <a:t>THE IDEA</a:t>
            </a:r>
          </a:p>
        </p:txBody>
      </p:sp>
      <p:sp>
        <p:nvSpPr>
          <p:cNvPr id="4" name="TextBox 3"/>
          <p:cNvSpPr txBox="1"/>
          <p:nvPr/>
        </p:nvSpPr>
        <p:spPr>
          <a:xfrm>
            <a:off x="640080" y="713232"/>
            <a:ext cx="10911535" cy="685800"/>
          </a:xfrm>
          <a:prstGeom prst="rect">
            <a:avLst/>
          </a:prstGeom>
          <a:noFill/>
        </p:spPr>
        <p:txBody>
          <a:bodyPr wrap="square" lIns="0" tIns="0" rIns="0" bIns="0" anchor="t">
            <a:spAutoFit/>
          </a:bodyPr>
          <a:lstStyle/>
          <a:p>
            <a:pPr algn="l">
              <a:spcBef>
                <a:spcPts val="0"/>
              </a:spcBef>
              <a:spcAft>
                <a:spcPts val="0"/>
              </a:spcAft>
            </a:pPr>
            <a:r>
              <a:rPr sz="3400" b="1" i="0">
                <a:solidFill>
                  <a:srgbClr val="FFFFFF"/>
                </a:solidFill>
                <a:latin typeface="Segoe UI"/>
              </a:rPr>
              <a:t>Three votes, expiring tickets, one rule</a:t>
            </a:r>
          </a:p>
        </p:txBody>
      </p:sp>
      <p:sp>
        <p:nvSpPr>
          <p:cNvPr id="5" name="TextBox 4"/>
          <p:cNvSpPr txBox="1"/>
          <p:nvPr/>
        </p:nvSpPr>
        <p:spPr>
          <a:xfrm>
            <a:off x="640080" y="6428232"/>
            <a:ext cx="4572000" cy="256032"/>
          </a:xfrm>
          <a:prstGeom prst="rect">
            <a:avLst/>
          </a:prstGeom>
          <a:noFill/>
        </p:spPr>
        <p:txBody>
          <a:bodyPr wrap="square" lIns="0" tIns="0" rIns="0" bIns="0" anchor="ctr">
            <a:spAutoFit/>
          </a:bodyPr>
          <a:lstStyle/>
          <a:p>
            <a:pPr algn="l">
              <a:spcBef>
                <a:spcPts val="0"/>
              </a:spcBef>
              <a:spcAft>
                <a:spcPts val="0"/>
              </a:spcAft>
            </a:pPr>
            <a:r>
              <a:rPr sz="1200" b="0" i="0">
                <a:solidFill>
                  <a:srgbClr val="A9BAC6"/>
                </a:solidFill>
                <a:latin typeface="Segoe UI"/>
              </a:rPr>
              <a:t>Ishtirak · Distributed Systems</a:t>
            </a:r>
          </a:p>
        </p:txBody>
      </p:sp>
      <p:sp>
        <p:nvSpPr>
          <p:cNvPr id="6" name="TextBox 5"/>
          <p:cNvSpPr txBox="1"/>
          <p:nvPr/>
        </p:nvSpPr>
        <p:spPr>
          <a:xfrm>
            <a:off x="10180015" y="6428232"/>
            <a:ext cx="1371600" cy="256032"/>
          </a:xfrm>
          <a:prstGeom prst="rect">
            <a:avLst/>
          </a:prstGeom>
          <a:noFill/>
        </p:spPr>
        <p:txBody>
          <a:bodyPr wrap="square" lIns="0" tIns="0" rIns="0" bIns="0" anchor="ctr">
            <a:spAutoFit/>
          </a:bodyPr>
          <a:lstStyle/>
          <a:p>
            <a:pPr algn="r">
              <a:spcBef>
                <a:spcPts val="0"/>
              </a:spcBef>
              <a:spcAft>
                <a:spcPts val="0"/>
              </a:spcAft>
            </a:pPr>
            <a:r>
              <a:rPr sz="1200" b="0" i="0">
                <a:solidFill>
                  <a:srgbClr val="A9BAC6"/>
                </a:solidFill>
                <a:latin typeface="Segoe UI"/>
              </a:rPr>
              <a:t>3 / 16</a:t>
            </a:r>
          </a:p>
        </p:txBody>
      </p:sp>
      <p:sp>
        <p:nvSpPr>
          <p:cNvPr id="7" name="Rounded Rectangle 6"/>
          <p:cNvSpPr/>
          <p:nvPr/>
        </p:nvSpPr>
        <p:spPr>
          <a:xfrm>
            <a:off x="640080" y="1691640"/>
            <a:ext cx="3429000" cy="2606040"/>
          </a:xfrm>
          <a:prstGeom prst="roundRect">
            <a:avLst>
              <a:gd name="adj" fmla="val 4912"/>
            </a:avLst>
          </a:prstGeom>
          <a:solidFill>
            <a:srgbClr val="172B38"/>
          </a:solidFill>
          <a:ln w="9525">
            <a:solidFill>
              <a:srgbClr val="2B43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640080" y="1874520"/>
            <a:ext cx="64008" cy="2240280"/>
          </a:xfrm>
          <a:prstGeom prst="roundRect">
            <a:avLst>
              <a:gd name="adj" fmla="val 42857"/>
            </a:avLst>
          </a:prstGeom>
          <a:solidFill>
            <a:srgbClr val="7FE3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60119" y="1828800"/>
            <a:ext cx="2880360" cy="731520"/>
          </a:xfrm>
          <a:prstGeom prst="rect">
            <a:avLst/>
          </a:prstGeom>
          <a:noFill/>
        </p:spPr>
        <p:txBody>
          <a:bodyPr wrap="square" lIns="0" tIns="0" rIns="0" bIns="0" anchor="ctr">
            <a:spAutoFit/>
          </a:bodyPr>
          <a:lstStyle/>
          <a:p>
            <a:pPr algn="l">
              <a:spcBef>
                <a:spcPts val="0"/>
              </a:spcBef>
              <a:spcAft>
                <a:spcPts val="0"/>
              </a:spcAft>
            </a:pPr>
            <a:r>
              <a:rPr sz="4000" b="1" i="0">
                <a:solidFill>
                  <a:srgbClr val="7FE3C0"/>
                </a:solidFill>
                <a:latin typeface="Segoe UI"/>
              </a:rPr>
              <a:t>3</a:t>
            </a:r>
          </a:p>
        </p:txBody>
      </p:sp>
      <p:sp>
        <p:nvSpPr>
          <p:cNvPr id="10" name="TextBox 9"/>
          <p:cNvSpPr txBox="1"/>
          <p:nvPr/>
        </p:nvSpPr>
        <p:spPr>
          <a:xfrm>
            <a:off x="960119" y="2606040"/>
            <a:ext cx="2880360" cy="365760"/>
          </a:xfrm>
          <a:prstGeom prst="rect">
            <a:avLst/>
          </a:prstGeom>
          <a:noFill/>
        </p:spPr>
        <p:txBody>
          <a:bodyPr wrap="square" lIns="0" tIns="0" rIns="0" bIns="0" anchor="t">
            <a:spAutoFit/>
          </a:bodyPr>
          <a:lstStyle/>
          <a:p>
            <a:pPr algn="l">
              <a:spcBef>
                <a:spcPts val="0"/>
              </a:spcBef>
              <a:spcAft>
                <a:spcPts val="0"/>
              </a:spcAft>
            </a:pPr>
            <a:r>
              <a:rPr sz="1900" b="1" i="0">
                <a:solidFill>
                  <a:srgbClr val="FFFFFF"/>
                </a:solidFill>
                <a:latin typeface="Segoe UI"/>
              </a:rPr>
              <a:t>Three coordinators vote</a:t>
            </a:r>
          </a:p>
        </p:txBody>
      </p:sp>
      <p:sp>
        <p:nvSpPr>
          <p:cNvPr id="11" name="TextBox 10"/>
          <p:cNvSpPr txBox="1"/>
          <p:nvPr/>
        </p:nvSpPr>
        <p:spPr>
          <a:xfrm>
            <a:off x="960119" y="3017520"/>
            <a:ext cx="2834640" cy="1234440"/>
          </a:xfrm>
          <a:prstGeom prst="rect">
            <a:avLst/>
          </a:prstGeom>
          <a:noFill/>
        </p:spPr>
        <p:txBody>
          <a:bodyPr wrap="square" lIns="0" tIns="0" rIns="0" bIns="0" anchor="t">
            <a:spAutoFit/>
          </a:bodyPr>
          <a:lstStyle/>
          <a:p>
            <a:pPr algn="l">
              <a:spcBef>
                <a:spcPts val="0"/>
              </a:spcBef>
              <a:spcAft>
                <a:spcPts val="0"/>
              </a:spcAft>
            </a:pPr>
            <a:r>
              <a:rPr sz="1500" b="0" i="0">
                <a:solidFill>
                  <a:srgbClr val="A9BAC6"/>
                </a:solidFill>
                <a:latin typeface="Segoe UI"/>
              </a:rPr>
              <a:t>Three independent programs keep identical copies of the ledger. Raft is the protocol that keeps them in agreement.</a:t>
            </a:r>
          </a:p>
        </p:txBody>
      </p:sp>
      <p:sp>
        <p:nvSpPr>
          <p:cNvPr id="12" name="Rounded Rectangle 11"/>
          <p:cNvSpPr/>
          <p:nvPr/>
        </p:nvSpPr>
        <p:spPr>
          <a:xfrm>
            <a:off x="4379976" y="1691640"/>
            <a:ext cx="3429000" cy="2606040"/>
          </a:xfrm>
          <a:prstGeom prst="roundRect">
            <a:avLst>
              <a:gd name="adj" fmla="val 4912"/>
            </a:avLst>
          </a:prstGeom>
          <a:solidFill>
            <a:srgbClr val="172B38"/>
          </a:solidFill>
          <a:ln w="9525">
            <a:solidFill>
              <a:srgbClr val="2B43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4379976" y="1874520"/>
            <a:ext cx="64008" cy="2240280"/>
          </a:xfrm>
          <a:prstGeom prst="roundRect">
            <a:avLst>
              <a:gd name="adj" fmla="val 42857"/>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00016" y="1828800"/>
            <a:ext cx="2880360" cy="731520"/>
          </a:xfrm>
          <a:prstGeom prst="rect">
            <a:avLst/>
          </a:prstGeom>
          <a:noFill/>
        </p:spPr>
        <p:txBody>
          <a:bodyPr wrap="square" lIns="0" tIns="0" rIns="0" bIns="0" anchor="ctr">
            <a:spAutoFit/>
          </a:bodyPr>
          <a:lstStyle/>
          <a:p>
            <a:pPr algn="l">
              <a:spcBef>
                <a:spcPts val="0"/>
              </a:spcBef>
              <a:spcAft>
                <a:spcPts val="0"/>
              </a:spcAft>
            </a:pPr>
            <a:r>
              <a:rPr sz="4000" b="1" i="0">
                <a:solidFill>
                  <a:srgbClr val="9DB4F0"/>
                </a:solidFill>
                <a:latin typeface="Segoe UI"/>
              </a:rPr>
              <a:t>2 of 3</a:t>
            </a:r>
          </a:p>
        </p:txBody>
      </p:sp>
      <p:sp>
        <p:nvSpPr>
          <p:cNvPr id="15" name="TextBox 14"/>
          <p:cNvSpPr txBox="1"/>
          <p:nvPr/>
        </p:nvSpPr>
        <p:spPr>
          <a:xfrm>
            <a:off x="4700016" y="2606040"/>
            <a:ext cx="2880360" cy="365760"/>
          </a:xfrm>
          <a:prstGeom prst="rect">
            <a:avLst/>
          </a:prstGeom>
          <a:noFill/>
        </p:spPr>
        <p:txBody>
          <a:bodyPr wrap="square" lIns="0" tIns="0" rIns="0" bIns="0" anchor="t">
            <a:spAutoFit/>
          </a:bodyPr>
          <a:lstStyle/>
          <a:p>
            <a:pPr algn="l">
              <a:spcBef>
                <a:spcPts val="0"/>
              </a:spcBef>
              <a:spcAft>
                <a:spcPts val="0"/>
              </a:spcAft>
            </a:pPr>
            <a:r>
              <a:rPr sz="1900" b="1" i="0">
                <a:solidFill>
                  <a:srgbClr val="FFFFFF"/>
                </a:solidFill>
                <a:latin typeface="Segoe UI"/>
              </a:rPr>
              <a:t>A majority decides</a:t>
            </a:r>
          </a:p>
        </p:txBody>
      </p:sp>
      <p:sp>
        <p:nvSpPr>
          <p:cNvPr id="16" name="TextBox 15"/>
          <p:cNvSpPr txBox="1"/>
          <p:nvPr/>
        </p:nvSpPr>
        <p:spPr>
          <a:xfrm>
            <a:off x="4700016" y="3017520"/>
            <a:ext cx="2834640" cy="1234440"/>
          </a:xfrm>
          <a:prstGeom prst="rect">
            <a:avLst/>
          </a:prstGeom>
          <a:noFill/>
        </p:spPr>
        <p:txBody>
          <a:bodyPr wrap="square" lIns="0" tIns="0" rIns="0" bIns="0" anchor="t">
            <a:spAutoFit/>
          </a:bodyPr>
          <a:lstStyle/>
          <a:p>
            <a:pPr algn="l">
              <a:spcBef>
                <a:spcPts val="0"/>
              </a:spcBef>
              <a:spcAft>
                <a:spcPts val="0"/>
              </a:spcAft>
            </a:pPr>
            <a:r>
              <a:rPr sz="1500" b="0" i="0">
                <a:solidFill>
                  <a:srgbClr val="A9BAC6"/>
                </a:solidFill>
                <a:latin typeface="Segoe UI"/>
              </a:rPr>
              <a:t>A grant counts only when at least two coordinators have written it down. If one is down, the other two carry on.</a:t>
            </a:r>
          </a:p>
        </p:txBody>
      </p:sp>
      <p:sp>
        <p:nvSpPr>
          <p:cNvPr id="17" name="Rounded Rectangle 16"/>
          <p:cNvSpPr/>
          <p:nvPr/>
        </p:nvSpPr>
        <p:spPr>
          <a:xfrm>
            <a:off x="8119871" y="1691640"/>
            <a:ext cx="3429000" cy="2606040"/>
          </a:xfrm>
          <a:prstGeom prst="roundRect">
            <a:avLst>
              <a:gd name="adj" fmla="val 4912"/>
            </a:avLst>
          </a:prstGeom>
          <a:solidFill>
            <a:srgbClr val="172B38"/>
          </a:solidFill>
          <a:ln w="9525">
            <a:solidFill>
              <a:srgbClr val="2B43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8119871" y="1874520"/>
            <a:ext cx="64008" cy="2240280"/>
          </a:xfrm>
          <a:prstGeom prst="roundRect">
            <a:avLst>
              <a:gd name="adj" fmla="val 42857"/>
            </a:avLst>
          </a:prstGeom>
          <a:solidFill>
            <a:srgbClr val="D69B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439911" y="1828800"/>
            <a:ext cx="2880360" cy="731520"/>
          </a:xfrm>
          <a:prstGeom prst="rect">
            <a:avLst/>
          </a:prstGeom>
          <a:noFill/>
        </p:spPr>
        <p:txBody>
          <a:bodyPr wrap="square" lIns="0" tIns="0" rIns="0" bIns="0" anchor="ctr">
            <a:spAutoFit/>
          </a:bodyPr>
          <a:lstStyle/>
          <a:p>
            <a:pPr algn="l">
              <a:spcBef>
                <a:spcPts val="0"/>
              </a:spcBef>
              <a:spcAft>
                <a:spcPts val="0"/>
              </a:spcAft>
            </a:pPr>
            <a:r>
              <a:rPr sz="4000" b="1" i="0">
                <a:solidFill>
                  <a:srgbClr val="F0C06E"/>
                </a:solidFill>
                <a:latin typeface="Segoe UI"/>
              </a:rPr>
              <a:t>12 s</a:t>
            </a:r>
          </a:p>
        </p:txBody>
      </p:sp>
      <p:sp>
        <p:nvSpPr>
          <p:cNvPr id="20" name="TextBox 19"/>
          <p:cNvSpPr txBox="1"/>
          <p:nvPr/>
        </p:nvSpPr>
        <p:spPr>
          <a:xfrm>
            <a:off x="8439911" y="2606040"/>
            <a:ext cx="2880360" cy="365760"/>
          </a:xfrm>
          <a:prstGeom prst="rect">
            <a:avLst/>
          </a:prstGeom>
          <a:noFill/>
        </p:spPr>
        <p:txBody>
          <a:bodyPr wrap="square" lIns="0" tIns="0" rIns="0" bIns="0" anchor="t">
            <a:spAutoFit/>
          </a:bodyPr>
          <a:lstStyle/>
          <a:p>
            <a:pPr algn="l">
              <a:spcBef>
                <a:spcPts val="0"/>
              </a:spcBef>
              <a:spcAft>
                <a:spcPts val="0"/>
              </a:spcAft>
            </a:pPr>
            <a:r>
              <a:rPr sz="1900" b="1" i="0">
                <a:solidFill>
                  <a:srgbClr val="FFFFFF"/>
                </a:solidFill>
                <a:latin typeface="Segoe UI"/>
              </a:rPr>
              <a:t>Short-lived tickets</a:t>
            </a:r>
          </a:p>
        </p:txBody>
      </p:sp>
      <p:sp>
        <p:nvSpPr>
          <p:cNvPr id="21" name="TextBox 20"/>
          <p:cNvSpPr txBox="1"/>
          <p:nvPr/>
        </p:nvSpPr>
        <p:spPr>
          <a:xfrm>
            <a:off x="8439911" y="3017520"/>
            <a:ext cx="2834640" cy="1234440"/>
          </a:xfrm>
          <a:prstGeom prst="rect">
            <a:avLst/>
          </a:prstGeom>
          <a:noFill/>
        </p:spPr>
        <p:txBody>
          <a:bodyPr wrap="square" lIns="0" tIns="0" rIns="0" bIns="0" anchor="t">
            <a:spAutoFit/>
          </a:bodyPr>
          <a:lstStyle/>
          <a:p>
            <a:pPr algn="l">
              <a:spcBef>
                <a:spcPts val="0"/>
              </a:spcBef>
              <a:spcAft>
                <a:spcPts val="0"/>
              </a:spcAft>
            </a:pPr>
            <a:r>
              <a:rPr sz="1500" b="0" i="0">
                <a:solidFill>
                  <a:srgbClr val="A9BAC6"/>
                </a:solidFill>
                <a:latin typeface="Segoe UI"/>
              </a:rPr>
              <a:t>Power is lent as a lease, a ticket that expires. If it is not renewed, the capacity safely returns to the pool.</a:t>
            </a:r>
          </a:p>
        </p:txBody>
      </p:sp>
      <p:sp>
        <p:nvSpPr>
          <p:cNvPr id="22" name="Rounded Rectangle 21"/>
          <p:cNvSpPr/>
          <p:nvPr/>
        </p:nvSpPr>
        <p:spPr>
          <a:xfrm>
            <a:off x="640080" y="4526280"/>
            <a:ext cx="10911535" cy="1691640"/>
          </a:xfrm>
          <a:prstGeom prst="roundRect">
            <a:avLst>
              <a:gd name="adj" fmla="val 10810"/>
            </a:avLst>
          </a:prstGeom>
          <a:solidFill>
            <a:srgbClr val="10352F"/>
          </a:solidFill>
          <a:ln w="19050">
            <a:solidFill>
              <a:srgbClr val="14A5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40080" y="4645152"/>
            <a:ext cx="10911535" cy="274320"/>
          </a:xfrm>
          <a:prstGeom prst="rect">
            <a:avLst/>
          </a:prstGeom>
          <a:noFill/>
        </p:spPr>
        <p:txBody>
          <a:bodyPr wrap="square" lIns="0" tIns="0" rIns="0" bIns="0" anchor="ctr">
            <a:spAutoFit/>
          </a:bodyPr>
          <a:lstStyle/>
          <a:p>
            <a:pPr algn="ctr">
              <a:spcBef>
                <a:spcPts val="0"/>
              </a:spcBef>
              <a:spcAft>
                <a:spcPts val="0"/>
              </a:spcAft>
            </a:pPr>
            <a:r>
              <a:rPr sz="1200" b="1" i="0">
                <a:solidFill>
                  <a:srgbClr val="7FE3C0"/>
                </a:solidFill>
                <a:latin typeface="Segoe UI"/>
              </a:rPr>
              <a:t>THE ONE RULE</a:t>
            </a:r>
          </a:p>
        </p:txBody>
      </p:sp>
      <p:sp>
        <p:nvSpPr>
          <p:cNvPr id="24" name="TextBox 23"/>
          <p:cNvSpPr txBox="1"/>
          <p:nvPr/>
        </p:nvSpPr>
        <p:spPr>
          <a:xfrm>
            <a:off x="640080" y="4937760"/>
            <a:ext cx="10911535" cy="777240"/>
          </a:xfrm>
          <a:prstGeom prst="rect">
            <a:avLst/>
          </a:prstGeom>
          <a:noFill/>
        </p:spPr>
        <p:txBody>
          <a:bodyPr wrap="square" lIns="0" tIns="0" rIns="0" bIns="0" anchor="ctr">
            <a:spAutoFit/>
          </a:bodyPr>
          <a:lstStyle/>
          <a:p>
            <a:pPr algn="ctr">
              <a:spcBef>
                <a:spcPts val="0"/>
              </a:spcBef>
              <a:spcAft>
                <a:spcPts val="0"/>
              </a:spcAft>
            </a:pPr>
            <a:r>
              <a:rPr sz="4400" b="1" i="0">
                <a:solidFill>
                  <a:srgbClr val="7FE3C0"/>
                </a:solidFill>
                <a:latin typeface="Segoe UI"/>
              </a:rPr>
              <a:t>Σ granted amps  ≤  120 A</a:t>
            </a:r>
          </a:p>
        </p:txBody>
      </p:sp>
      <p:sp>
        <p:nvSpPr>
          <p:cNvPr id="25" name="TextBox 24"/>
          <p:cNvSpPr txBox="1"/>
          <p:nvPr/>
        </p:nvSpPr>
        <p:spPr>
          <a:xfrm>
            <a:off x="640080" y="5760720"/>
            <a:ext cx="10911535" cy="320040"/>
          </a:xfrm>
          <a:prstGeom prst="rect">
            <a:avLst/>
          </a:prstGeom>
          <a:noFill/>
        </p:spPr>
        <p:txBody>
          <a:bodyPr wrap="square" lIns="0" tIns="0" rIns="0" bIns="0" anchor="ctr">
            <a:spAutoFit/>
          </a:bodyPr>
          <a:lstStyle/>
          <a:p>
            <a:pPr algn="ctr">
              <a:spcBef>
                <a:spcPts val="0"/>
              </a:spcBef>
              <a:spcAft>
                <a:spcPts val="0"/>
              </a:spcAft>
            </a:pPr>
            <a:r>
              <a:rPr sz="1800" b="0" i="0">
                <a:solidFill>
                  <a:srgbClr val="FFFFFF"/>
                </a:solidFill>
                <a:latin typeface="Segoe UI"/>
              </a:rPr>
              <a:t>By design, and in every run we observed — even while computers fail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ounded Rectangle 1"/>
          <p:cNvSpPr/>
          <p:nvPr/>
        </p:nvSpPr>
        <p:spPr>
          <a:xfrm>
            <a:off x="640080" y="475488"/>
            <a:ext cx="292608" cy="54864"/>
          </a:xfrm>
          <a:prstGeom prst="roundRect">
            <a:avLst>
              <a:gd name="adj" fmla="val 50000"/>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51560" y="365760"/>
            <a:ext cx="7315200" cy="274320"/>
          </a:xfrm>
          <a:prstGeom prst="rect">
            <a:avLst/>
          </a:prstGeom>
          <a:noFill/>
        </p:spPr>
        <p:txBody>
          <a:bodyPr wrap="square" lIns="0" tIns="0" rIns="0" bIns="0" anchor="ctr">
            <a:spAutoFit/>
          </a:bodyPr>
          <a:lstStyle/>
          <a:p>
            <a:pPr algn="l">
              <a:spcBef>
                <a:spcPts val="0"/>
              </a:spcBef>
              <a:spcAft>
                <a:spcPts val="0"/>
              </a:spcAft>
            </a:pPr>
            <a:r>
              <a:rPr sz="1200" b="1" i="0">
                <a:solidFill>
                  <a:srgbClr val="0B7A65"/>
                </a:solidFill>
                <a:latin typeface="Segoe UI"/>
              </a:rPr>
              <a:t>ARCHITECTURE</a:t>
            </a:r>
          </a:p>
        </p:txBody>
      </p:sp>
      <p:sp>
        <p:nvSpPr>
          <p:cNvPr id="4" name="TextBox 3"/>
          <p:cNvSpPr txBox="1"/>
          <p:nvPr/>
        </p:nvSpPr>
        <p:spPr>
          <a:xfrm>
            <a:off x="640080" y="713232"/>
            <a:ext cx="10911535" cy="685800"/>
          </a:xfrm>
          <a:prstGeom prst="rect">
            <a:avLst/>
          </a:prstGeom>
          <a:noFill/>
        </p:spPr>
        <p:txBody>
          <a:bodyPr wrap="square" lIns="0" tIns="0" rIns="0" bIns="0" anchor="t">
            <a:spAutoFit/>
          </a:bodyPr>
          <a:lstStyle/>
          <a:p>
            <a:pPr algn="l">
              <a:spcBef>
                <a:spcPts val="0"/>
              </a:spcBef>
              <a:spcAft>
                <a:spcPts val="0"/>
              </a:spcAft>
            </a:pPr>
            <a:r>
              <a:rPr sz="3400" b="1" i="0">
                <a:solidFill>
                  <a:srgbClr val="0F1D26"/>
                </a:solidFill>
                <a:latin typeface="Segoe UI"/>
              </a:rPr>
              <a:t>Eleven services, one agreed ledger</a:t>
            </a:r>
          </a:p>
        </p:txBody>
      </p:sp>
      <p:sp>
        <p:nvSpPr>
          <p:cNvPr id="5" name="TextBox 4"/>
          <p:cNvSpPr txBox="1"/>
          <p:nvPr/>
        </p:nvSpPr>
        <p:spPr>
          <a:xfrm>
            <a:off x="640080" y="6428232"/>
            <a:ext cx="4572000" cy="256032"/>
          </a:xfrm>
          <a:prstGeom prst="rect">
            <a:avLst/>
          </a:prstGeom>
          <a:noFill/>
        </p:spPr>
        <p:txBody>
          <a:bodyPr wrap="square" lIns="0" tIns="0" rIns="0" bIns="0" anchor="ctr">
            <a:spAutoFit/>
          </a:bodyPr>
          <a:lstStyle/>
          <a:p>
            <a:pPr algn="l">
              <a:spcBef>
                <a:spcPts val="0"/>
              </a:spcBef>
              <a:spcAft>
                <a:spcPts val="0"/>
              </a:spcAft>
            </a:pPr>
            <a:r>
              <a:rPr sz="1200" b="0" i="0">
                <a:solidFill>
                  <a:srgbClr val="52626F"/>
                </a:solidFill>
                <a:latin typeface="Segoe UI"/>
              </a:rPr>
              <a:t>Ishtirak · Distributed Systems</a:t>
            </a:r>
          </a:p>
        </p:txBody>
      </p:sp>
      <p:sp>
        <p:nvSpPr>
          <p:cNvPr id="6" name="TextBox 5"/>
          <p:cNvSpPr txBox="1"/>
          <p:nvPr/>
        </p:nvSpPr>
        <p:spPr>
          <a:xfrm>
            <a:off x="10180015" y="6428232"/>
            <a:ext cx="1371600" cy="256032"/>
          </a:xfrm>
          <a:prstGeom prst="rect">
            <a:avLst/>
          </a:prstGeom>
          <a:noFill/>
        </p:spPr>
        <p:txBody>
          <a:bodyPr wrap="square" lIns="0" tIns="0" rIns="0" bIns="0" anchor="ctr">
            <a:spAutoFit/>
          </a:bodyPr>
          <a:lstStyle/>
          <a:p>
            <a:pPr algn="r">
              <a:spcBef>
                <a:spcPts val="0"/>
              </a:spcBef>
              <a:spcAft>
                <a:spcPts val="0"/>
              </a:spcAft>
            </a:pPr>
            <a:r>
              <a:rPr sz="1200" b="0" i="0">
                <a:solidFill>
                  <a:srgbClr val="52626F"/>
                </a:solidFill>
                <a:latin typeface="Segoe UI"/>
              </a:rPr>
              <a:t>4 / 16</a:t>
            </a:r>
          </a:p>
        </p:txBody>
      </p:sp>
      <p:sp>
        <p:nvSpPr>
          <p:cNvPr id="7" name="TextBox 6"/>
          <p:cNvSpPr txBox="1"/>
          <p:nvPr/>
        </p:nvSpPr>
        <p:spPr>
          <a:xfrm>
            <a:off x="274319" y="1481328"/>
            <a:ext cx="2240280" cy="274320"/>
          </a:xfrm>
          <a:prstGeom prst="rect">
            <a:avLst/>
          </a:prstGeom>
          <a:noFill/>
        </p:spPr>
        <p:txBody>
          <a:bodyPr wrap="square" lIns="0" tIns="0" rIns="0" bIns="0" anchor="ctr">
            <a:spAutoFit/>
          </a:bodyPr>
          <a:lstStyle/>
          <a:p>
            <a:pPr algn="ctr">
              <a:spcBef>
                <a:spcPts val="0"/>
              </a:spcBef>
              <a:spcAft>
                <a:spcPts val="0"/>
              </a:spcAft>
            </a:pPr>
            <a:r>
              <a:rPr sz="1200" b="1" i="0">
                <a:solidFill>
                  <a:srgbClr val="52626F"/>
                </a:solidFill>
                <a:latin typeface="Segoe UI"/>
              </a:rPr>
              <a:t>METERS</a:t>
            </a:r>
          </a:p>
        </p:txBody>
      </p:sp>
      <p:sp>
        <p:nvSpPr>
          <p:cNvPr id="8" name="TextBox 7"/>
          <p:cNvSpPr txBox="1"/>
          <p:nvPr/>
        </p:nvSpPr>
        <p:spPr>
          <a:xfrm>
            <a:off x="2606040" y="1481328"/>
            <a:ext cx="2240280" cy="274320"/>
          </a:xfrm>
          <a:prstGeom prst="rect">
            <a:avLst/>
          </a:prstGeom>
          <a:noFill/>
        </p:spPr>
        <p:txBody>
          <a:bodyPr wrap="square" lIns="0" tIns="0" rIns="0" bIns="0" anchor="ctr">
            <a:spAutoFit/>
          </a:bodyPr>
          <a:lstStyle/>
          <a:p>
            <a:pPr algn="ctr">
              <a:spcBef>
                <a:spcPts val="0"/>
              </a:spcBef>
              <a:spcAft>
                <a:spcPts val="0"/>
              </a:spcAft>
            </a:pPr>
            <a:r>
              <a:rPr sz="1200" b="1" i="0">
                <a:solidFill>
                  <a:srgbClr val="52626F"/>
                </a:solidFill>
                <a:latin typeface="Segoe UI"/>
              </a:rPr>
              <a:t>BROKER</a:t>
            </a:r>
          </a:p>
        </p:txBody>
      </p:sp>
      <p:sp>
        <p:nvSpPr>
          <p:cNvPr id="9" name="TextBox 8"/>
          <p:cNvSpPr txBox="1"/>
          <p:nvPr/>
        </p:nvSpPr>
        <p:spPr>
          <a:xfrm>
            <a:off x="4937759" y="1481328"/>
            <a:ext cx="2240280" cy="274320"/>
          </a:xfrm>
          <a:prstGeom prst="rect">
            <a:avLst/>
          </a:prstGeom>
          <a:noFill/>
        </p:spPr>
        <p:txBody>
          <a:bodyPr wrap="square" lIns="0" tIns="0" rIns="0" bIns="0" anchor="ctr">
            <a:spAutoFit/>
          </a:bodyPr>
          <a:lstStyle/>
          <a:p>
            <a:pPr algn="ctr">
              <a:spcBef>
                <a:spcPts val="0"/>
              </a:spcBef>
              <a:spcAft>
                <a:spcPts val="0"/>
              </a:spcAft>
            </a:pPr>
            <a:r>
              <a:rPr sz="1200" b="1" i="0">
                <a:solidFill>
                  <a:srgbClr val="52626F"/>
                </a:solidFill>
                <a:latin typeface="Segoe UI"/>
              </a:rPr>
              <a:t>GATEWAYS</a:t>
            </a:r>
          </a:p>
        </p:txBody>
      </p:sp>
      <p:sp>
        <p:nvSpPr>
          <p:cNvPr id="10" name="TextBox 9"/>
          <p:cNvSpPr txBox="1"/>
          <p:nvPr/>
        </p:nvSpPr>
        <p:spPr>
          <a:xfrm>
            <a:off x="7269479" y="1481328"/>
            <a:ext cx="2240280" cy="274320"/>
          </a:xfrm>
          <a:prstGeom prst="rect">
            <a:avLst/>
          </a:prstGeom>
          <a:noFill/>
        </p:spPr>
        <p:txBody>
          <a:bodyPr wrap="square" lIns="0" tIns="0" rIns="0" bIns="0" anchor="ctr">
            <a:spAutoFit/>
          </a:bodyPr>
          <a:lstStyle/>
          <a:p>
            <a:pPr algn="ctr">
              <a:spcBef>
                <a:spcPts val="0"/>
              </a:spcBef>
              <a:spcAft>
                <a:spcPts val="0"/>
              </a:spcAft>
            </a:pPr>
            <a:r>
              <a:rPr sz="1200" b="1" i="0">
                <a:solidFill>
                  <a:srgbClr val="52626F"/>
                </a:solidFill>
                <a:latin typeface="Segoe UI"/>
              </a:rPr>
              <a:t>RAFT CLUSTER (TCP)</a:t>
            </a:r>
          </a:p>
        </p:txBody>
      </p:sp>
      <p:sp>
        <p:nvSpPr>
          <p:cNvPr id="11" name="TextBox 10"/>
          <p:cNvSpPr txBox="1"/>
          <p:nvPr/>
        </p:nvSpPr>
        <p:spPr>
          <a:xfrm>
            <a:off x="9601199" y="1481328"/>
            <a:ext cx="2240280" cy="274320"/>
          </a:xfrm>
          <a:prstGeom prst="rect">
            <a:avLst/>
          </a:prstGeom>
          <a:noFill/>
        </p:spPr>
        <p:txBody>
          <a:bodyPr wrap="square" lIns="0" tIns="0" rIns="0" bIns="0" anchor="ctr">
            <a:spAutoFit/>
          </a:bodyPr>
          <a:lstStyle/>
          <a:p>
            <a:pPr algn="ctr">
              <a:spcBef>
                <a:spcPts val="0"/>
              </a:spcBef>
              <a:spcAft>
                <a:spcPts val="0"/>
              </a:spcAft>
            </a:pPr>
            <a:r>
              <a:rPr sz="1200" b="1" i="0">
                <a:solidFill>
                  <a:srgbClr val="52626F"/>
                </a:solidFill>
                <a:latin typeface="Segoe UI"/>
              </a:rPr>
              <a:t>DATABASE</a:t>
            </a:r>
          </a:p>
        </p:txBody>
      </p:sp>
      <p:sp>
        <p:nvSpPr>
          <p:cNvPr id="12" name="Rounded Rectangle 11"/>
          <p:cNvSpPr/>
          <p:nvPr/>
        </p:nvSpPr>
        <p:spPr>
          <a:xfrm>
            <a:off x="640080" y="1874519"/>
            <a:ext cx="1508760" cy="2331720"/>
          </a:xfrm>
          <a:prstGeom prst="roundRect">
            <a:avLst>
              <a:gd name="adj" fmla="val 8484"/>
            </a:avLst>
          </a:prstGeom>
          <a:solidFill>
            <a:srgbClr val="FFFFFF"/>
          </a:solidFill>
          <a:ln w="25400">
            <a:solidFill>
              <a:srgbClr val="14A58A"/>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500" b="1" i="0">
                <a:solidFill>
                  <a:srgbClr val="0F1D26"/>
                </a:solidFill>
                <a:latin typeface="Segoe UI"/>
              </a:rPr>
              <a:t>Meter simulators</a:t>
            </a:r>
          </a:p>
          <a:p>
            <a:pPr algn="ctr">
              <a:spcBef>
                <a:spcPts val="0"/>
              </a:spcBef>
              <a:spcAft>
                <a:spcPts val="0"/>
              </a:spcAft>
            </a:pPr>
            <a:r>
              <a:rPr sz="1200" b="0" i="0">
                <a:solidFill>
                  <a:srgbClr val="52626F"/>
                </a:solidFill>
                <a:latin typeface="Segoe UI"/>
              </a:rPr>
              <a:t>50 meters in the demo (10 / 50 / 200 tested)</a:t>
            </a:r>
          </a:p>
        </p:txBody>
      </p:sp>
      <p:sp>
        <p:nvSpPr>
          <p:cNvPr id="13" name="Rounded Rectangle 12"/>
          <p:cNvSpPr/>
          <p:nvPr/>
        </p:nvSpPr>
        <p:spPr>
          <a:xfrm>
            <a:off x="2971800" y="1874519"/>
            <a:ext cx="1508760" cy="2331720"/>
          </a:xfrm>
          <a:prstGeom prst="roundRect">
            <a:avLst>
              <a:gd name="adj" fmla="val 8484"/>
            </a:avLst>
          </a:prstGeom>
          <a:solidFill>
            <a:srgbClr val="FFFFFF"/>
          </a:solidFill>
          <a:ln w="25400">
            <a:solidFill>
              <a:srgbClr val="14A58A"/>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500" b="1" i="0">
                <a:solidFill>
                  <a:srgbClr val="0F1D26"/>
                </a:solidFill>
                <a:latin typeface="Segoe UI"/>
              </a:rPr>
              <a:t>Mosquitto</a:t>
            </a:r>
          </a:p>
          <a:p>
            <a:pPr algn="ctr">
              <a:spcBef>
                <a:spcPts val="0"/>
              </a:spcBef>
              <a:spcAft>
                <a:spcPts val="0"/>
              </a:spcAft>
            </a:pPr>
            <a:r>
              <a:rPr sz="1200" b="0" i="0">
                <a:solidFill>
                  <a:srgbClr val="52626F"/>
                </a:solidFill>
                <a:latin typeface="Segoe UI"/>
              </a:rPr>
              <a:t>MQTT broker, one topic per building</a:t>
            </a:r>
          </a:p>
        </p:txBody>
      </p:sp>
      <p:sp>
        <p:nvSpPr>
          <p:cNvPr id="14" name="Rounded Rectangle 13"/>
          <p:cNvSpPr/>
          <p:nvPr/>
        </p:nvSpPr>
        <p:spPr>
          <a:xfrm>
            <a:off x="5303520" y="1874519"/>
            <a:ext cx="1508760" cy="658368"/>
          </a:xfrm>
          <a:prstGeom prst="roundRect">
            <a:avLst>
              <a:gd name="adj" fmla="val 16666"/>
            </a:avLst>
          </a:prstGeom>
          <a:solidFill>
            <a:srgbClr val="FFFFFF"/>
          </a:solidFill>
          <a:ln w="25400">
            <a:solidFill>
              <a:srgbClr val="6484DC"/>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200" b="0" i="0">
                <a:solidFill>
                  <a:srgbClr val="52626F"/>
                </a:solidFill>
                <a:latin typeface="Segoe UI"/>
              </a:rPr>
              <a:t>Gateway</a:t>
            </a:r>
          </a:p>
          <a:p>
            <a:pPr algn="ctr">
              <a:spcBef>
                <a:spcPts val="0"/>
              </a:spcBef>
              <a:spcAft>
                <a:spcPts val="0"/>
              </a:spcAft>
            </a:pPr>
            <a:r>
              <a:rPr sz="1400" b="1" i="0">
                <a:solidFill>
                  <a:srgbClr val="0F1D26"/>
                </a:solidFill>
                <a:latin typeface="Segoe UI"/>
              </a:rPr>
              <a:t>Hamra</a:t>
            </a:r>
          </a:p>
        </p:txBody>
      </p:sp>
      <p:sp>
        <p:nvSpPr>
          <p:cNvPr id="15" name="Rounded Rectangle 14"/>
          <p:cNvSpPr/>
          <p:nvPr/>
        </p:nvSpPr>
        <p:spPr>
          <a:xfrm>
            <a:off x="5303520" y="2711196"/>
            <a:ext cx="1508760" cy="658368"/>
          </a:xfrm>
          <a:prstGeom prst="roundRect">
            <a:avLst>
              <a:gd name="adj" fmla="val 16666"/>
            </a:avLst>
          </a:prstGeom>
          <a:solidFill>
            <a:srgbClr val="FFFFFF"/>
          </a:solidFill>
          <a:ln w="25400">
            <a:solidFill>
              <a:srgbClr val="6484DC"/>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200" b="0" i="0">
                <a:solidFill>
                  <a:srgbClr val="52626F"/>
                </a:solidFill>
                <a:latin typeface="Segoe UI"/>
              </a:rPr>
              <a:t>Gateway</a:t>
            </a:r>
          </a:p>
          <a:p>
            <a:pPr algn="ctr">
              <a:spcBef>
                <a:spcPts val="0"/>
              </a:spcBef>
              <a:spcAft>
                <a:spcPts val="0"/>
              </a:spcAft>
            </a:pPr>
            <a:r>
              <a:rPr sz="1400" b="1" i="0">
                <a:solidFill>
                  <a:srgbClr val="0F1D26"/>
                </a:solidFill>
                <a:latin typeface="Segoe UI"/>
              </a:rPr>
              <a:t>Mar Mikhael</a:t>
            </a:r>
          </a:p>
        </p:txBody>
      </p:sp>
      <p:sp>
        <p:nvSpPr>
          <p:cNvPr id="16" name="Rounded Rectangle 15"/>
          <p:cNvSpPr/>
          <p:nvPr/>
        </p:nvSpPr>
        <p:spPr>
          <a:xfrm>
            <a:off x="5303520" y="3547871"/>
            <a:ext cx="1508760" cy="658368"/>
          </a:xfrm>
          <a:prstGeom prst="roundRect">
            <a:avLst>
              <a:gd name="adj" fmla="val 16666"/>
            </a:avLst>
          </a:prstGeom>
          <a:solidFill>
            <a:srgbClr val="FFFFFF"/>
          </a:solidFill>
          <a:ln w="25400">
            <a:solidFill>
              <a:srgbClr val="6484DC"/>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200" b="0" i="0">
                <a:solidFill>
                  <a:srgbClr val="52626F"/>
                </a:solidFill>
                <a:latin typeface="Segoe UI"/>
              </a:rPr>
              <a:t>Gateway</a:t>
            </a:r>
          </a:p>
          <a:p>
            <a:pPr algn="ctr">
              <a:spcBef>
                <a:spcPts val="0"/>
              </a:spcBef>
              <a:spcAft>
                <a:spcPts val="0"/>
              </a:spcAft>
            </a:pPr>
            <a:r>
              <a:rPr sz="1400" b="1" i="0">
                <a:solidFill>
                  <a:srgbClr val="0F1D26"/>
                </a:solidFill>
                <a:latin typeface="Segoe UI"/>
              </a:rPr>
              <a:t>Achrafieh</a:t>
            </a:r>
          </a:p>
        </p:txBody>
      </p:sp>
      <p:sp>
        <p:nvSpPr>
          <p:cNvPr id="17" name="Rounded Rectangle 16"/>
          <p:cNvSpPr/>
          <p:nvPr/>
        </p:nvSpPr>
        <p:spPr>
          <a:xfrm>
            <a:off x="7543800" y="1783079"/>
            <a:ext cx="1691639" cy="2514600"/>
          </a:xfrm>
          <a:prstGeom prst="roundRect">
            <a:avLst>
              <a:gd name="adj" fmla="val 8648"/>
            </a:avLst>
          </a:prstGeom>
          <a:solidFill>
            <a:srgbClr val="E8EDFA"/>
          </a:solidFill>
          <a:ln w="25400">
            <a:solidFill>
              <a:srgbClr val="648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7635240" y="1874519"/>
            <a:ext cx="1508760" cy="658368"/>
          </a:xfrm>
          <a:prstGeom prst="roundRect">
            <a:avLst>
              <a:gd name="adj" fmla="val 16666"/>
            </a:avLst>
          </a:prstGeom>
          <a:solidFill>
            <a:srgbClr val="0F1D2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400" b="1" i="0">
                <a:solidFill>
                  <a:srgbClr val="FFFFFF"/>
                </a:solidFill>
                <a:latin typeface="Segoe UI"/>
              </a:rPr>
              <a:t>Coordinator 1</a:t>
            </a:r>
          </a:p>
        </p:txBody>
      </p:sp>
      <p:sp>
        <p:nvSpPr>
          <p:cNvPr id="19" name="Rounded Rectangle 18"/>
          <p:cNvSpPr/>
          <p:nvPr/>
        </p:nvSpPr>
        <p:spPr>
          <a:xfrm>
            <a:off x="7635240" y="2711196"/>
            <a:ext cx="1508760" cy="658368"/>
          </a:xfrm>
          <a:prstGeom prst="roundRect">
            <a:avLst>
              <a:gd name="adj" fmla="val 16666"/>
            </a:avLst>
          </a:prstGeom>
          <a:solidFill>
            <a:srgbClr val="0F1D2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400" b="1" i="0">
                <a:solidFill>
                  <a:srgbClr val="FFFFFF"/>
                </a:solidFill>
                <a:latin typeface="Segoe UI"/>
              </a:rPr>
              <a:t>Coordinator 2</a:t>
            </a:r>
          </a:p>
        </p:txBody>
      </p:sp>
      <p:sp>
        <p:nvSpPr>
          <p:cNvPr id="20" name="Rounded Rectangle 19"/>
          <p:cNvSpPr/>
          <p:nvPr/>
        </p:nvSpPr>
        <p:spPr>
          <a:xfrm>
            <a:off x="7635240" y="3547871"/>
            <a:ext cx="1508760" cy="658368"/>
          </a:xfrm>
          <a:prstGeom prst="roundRect">
            <a:avLst>
              <a:gd name="adj" fmla="val 16666"/>
            </a:avLst>
          </a:prstGeom>
          <a:solidFill>
            <a:srgbClr val="0F1D2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400" b="1" i="0">
                <a:solidFill>
                  <a:srgbClr val="FFFFFF"/>
                </a:solidFill>
                <a:latin typeface="Segoe UI"/>
              </a:rPr>
              <a:t>Coordinator 3</a:t>
            </a:r>
          </a:p>
        </p:txBody>
      </p:sp>
      <p:sp>
        <p:nvSpPr>
          <p:cNvPr id="21" name="Rounded Rectangle 20"/>
          <p:cNvSpPr/>
          <p:nvPr/>
        </p:nvSpPr>
        <p:spPr>
          <a:xfrm>
            <a:off x="9966959" y="1874519"/>
            <a:ext cx="1508760" cy="2331720"/>
          </a:xfrm>
          <a:prstGeom prst="roundRect">
            <a:avLst>
              <a:gd name="adj" fmla="val 8484"/>
            </a:avLst>
          </a:prstGeom>
          <a:solidFill>
            <a:srgbClr val="FFFFFF"/>
          </a:solidFill>
          <a:ln w="25400">
            <a:solidFill>
              <a:srgbClr val="D69B3C"/>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500" b="1" i="0">
                <a:solidFill>
                  <a:srgbClr val="0F1D26"/>
                </a:solidFill>
                <a:latin typeface="Segoe UI"/>
              </a:rPr>
              <a:t>PostgreSQL</a:t>
            </a:r>
          </a:p>
          <a:p>
            <a:pPr algn="ctr">
              <a:spcBef>
                <a:spcPts val="0"/>
              </a:spcBef>
              <a:spcAft>
                <a:spcPts val="0"/>
              </a:spcAft>
            </a:pPr>
            <a:r>
              <a:rPr sz="1200" b="0" i="0">
                <a:solidFill>
                  <a:srgbClr val="52626F"/>
                </a:solidFill>
                <a:latin typeface="Segoe UI"/>
              </a:rPr>
              <a:t>audit log and readings (single instance)</a:t>
            </a:r>
          </a:p>
        </p:txBody>
      </p:sp>
      <p:cxnSp>
        <p:nvCxnSpPr>
          <p:cNvPr id="22" name="Connector 21"/>
          <p:cNvCxnSpPr/>
          <p:nvPr/>
        </p:nvCxnSpPr>
        <p:spPr>
          <a:xfrm>
            <a:off x="2148839" y="3040379"/>
            <a:ext cx="822961" cy="0"/>
          </a:xfrm>
          <a:prstGeom prst="line">
            <a:avLst/>
          </a:prstGeom>
          <a:ln w="31750">
            <a:solidFill>
              <a:srgbClr val="14A58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480560" y="2203703"/>
            <a:ext cx="822960" cy="0"/>
          </a:xfrm>
          <a:prstGeom prst="line">
            <a:avLst/>
          </a:prstGeom>
          <a:ln w="31750">
            <a:solidFill>
              <a:srgbClr val="14A58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812279" y="2203703"/>
            <a:ext cx="731521" cy="0"/>
          </a:xfrm>
          <a:prstGeom prst="line">
            <a:avLst/>
          </a:prstGeom>
          <a:ln w="31750">
            <a:solidFill>
              <a:srgbClr val="6484DC"/>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80560" y="3040379"/>
            <a:ext cx="822960" cy="0"/>
          </a:xfrm>
          <a:prstGeom prst="line">
            <a:avLst/>
          </a:prstGeom>
          <a:ln w="31750">
            <a:solidFill>
              <a:srgbClr val="14A58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812279" y="3040379"/>
            <a:ext cx="731521" cy="0"/>
          </a:xfrm>
          <a:prstGeom prst="line">
            <a:avLst/>
          </a:prstGeom>
          <a:ln w="31750">
            <a:solidFill>
              <a:srgbClr val="6484DC"/>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480560" y="3877055"/>
            <a:ext cx="822960" cy="0"/>
          </a:xfrm>
          <a:prstGeom prst="line">
            <a:avLst/>
          </a:prstGeom>
          <a:ln w="31750">
            <a:solidFill>
              <a:srgbClr val="14A58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812279" y="3877055"/>
            <a:ext cx="731521" cy="0"/>
          </a:xfrm>
          <a:prstGeom prst="line">
            <a:avLst/>
          </a:prstGeom>
          <a:ln w="31750">
            <a:solidFill>
              <a:srgbClr val="6484DC"/>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235440" y="3040379"/>
            <a:ext cx="731519" cy="0"/>
          </a:xfrm>
          <a:prstGeom prst="line">
            <a:avLst/>
          </a:prstGeom>
          <a:ln w="31750">
            <a:solidFill>
              <a:srgbClr val="D69B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167127" y="1371599"/>
            <a:ext cx="786384" cy="457200"/>
          </a:xfrm>
          <a:prstGeom prst="rect">
            <a:avLst/>
          </a:prstGeom>
          <a:noFill/>
        </p:spPr>
        <p:txBody>
          <a:bodyPr wrap="square" lIns="0" tIns="0" rIns="0" bIns="0" anchor="b">
            <a:spAutoFit/>
          </a:bodyPr>
          <a:lstStyle/>
          <a:p>
            <a:pPr algn="ctr">
              <a:spcBef>
                <a:spcPts val="0"/>
              </a:spcBef>
              <a:spcAft>
                <a:spcPts val="0"/>
              </a:spcAft>
            </a:pPr>
            <a:r>
              <a:rPr sz="1200" b="1" i="0">
                <a:solidFill>
                  <a:srgbClr val="0B7A65"/>
                </a:solidFill>
                <a:latin typeface="Segoe UI"/>
              </a:rPr>
              <a:t>MQTT</a:t>
            </a:r>
          </a:p>
          <a:p>
            <a:pPr algn="ctr">
              <a:spcBef>
                <a:spcPts val="0"/>
              </a:spcBef>
              <a:spcAft>
                <a:spcPts val="0"/>
              </a:spcAft>
            </a:pPr>
            <a:r>
              <a:rPr sz="1200" b="1" i="0">
                <a:solidFill>
                  <a:srgbClr val="0B7A65"/>
                </a:solidFill>
                <a:latin typeface="Segoe UI"/>
              </a:rPr>
              <a:t>QoS 1</a:t>
            </a:r>
          </a:p>
        </p:txBody>
      </p:sp>
      <p:sp>
        <p:nvSpPr>
          <p:cNvPr id="31" name="TextBox 30"/>
          <p:cNvSpPr txBox="1"/>
          <p:nvPr/>
        </p:nvSpPr>
        <p:spPr>
          <a:xfrm>
            <a:off x="4498848" y="1371599"/>
            <a:ext cx="786384" cy="457200"/>
          </a:xfrm>
          <a:prstGeom prst="rect">
            <a:avLst/>
          </a:prstGeom>
          <a:noFill/>
        </p:spPr>
        <p:txBody>
          <a:bodyPr wrap="square" lIns="0" tIns="0" rIns="0" bIns="0" anchor="b">
            <a:spAutoFit/>
          </a:bodyPr>
          <a:lstStyle/>
          <a:p>
            <a:pPr algn="ctr">
              <a:spcBef>
                <a:spcPts val="0"/>
              </a:spcBef>
              <a:spcAft>
                <a:spcPts val="0"/>
              </a:spcAft>
            </a:pPr>
            <a:r>
              <a:rPr sz="1200" b="1" i="0">
                <a:solidFill>
                  <a:srgbClr val="0B7A65"/>
                </a:solidFill>
                <a:latin typeface="Segoe UI"/>
              </a:rPr>
              <a:t>MQTT</a:t>
            </a:r>
          </a:p>
          <a:p>
            <a:pPr algn="ctr">
              <a:spcBef>
                <a:spcPts val="0"/>
              </a:spcBef>
              <a:spcAft>
                <a:spcPts val="0"/>
              </a:spcAft>
            </a:pPr>
            <a:r>
              <a:rPr sz="1200" b="1" i="0">
                <a:solidFill>
                  <a:srgbClr val="0B7A65"/>
                </a:solidFill>
                <a:latin typeface="Segoe UI"/>
              </a:rPr>
              <a:t>QoS 1</a:t>
            </a:r>
          </a:p>
        </p:txBody>
      </p:sp>
      <p:sp>
        <p:nvSpPr>
          <p:cNvPr id="32" name="TextBox 31"/>
          <p:cNvSpPr txBox="1"/>
          <p:nvPr/>
        </p:nvSpPr>
        <p:spPr>
          <a:xfrm>
            <a:off x="6830567" y="1371599"/>
            <a:ext cx="786384" cy="457200"/>
          </a:xfrm>
          <a:prstGeom prst="rect">
            <a:avLst/>
          </a:prstGeom>
          <a:noFill/>
        </p:spPr>
        <p:txBody>
          <a:bodyPr wrap="square" lIns="0" tIns="0" rIns="0" bIns="0" anchor="b">
            <a:spAutoFit/>
          </a:bodyPr>
          <a:lstStyle/>
          <a:p>
            <a:pPr algn="ctr">
              <a:spcBef>
                <a:spcPts val="0"/>
              </a:spcBef>
              <a:spcAft>
                <a:spcPts val="0"/>
              </a:spcAft>
            </a:pPr>
            <a:r>
              <a:rPr sz="1200" b="1" i="0">
                <a:solidFill>
                  <a:srgbClr val="3F5FB8"/>
                </a:solidFill>
                <a:latin typeface="Segoe UI"/>
              </a:rPr>
              <a:t>HTTP</a:t>
            </a:r>
          </a:p>
          <a:p>
            <a:pPr algn="ctr">
              <a:spcBef>
                <a:spcPts val="0"/>
              </a:spcBef>
              <a:spcAft>
                <a:spcPts val="0"/>
              </a:spcAft>
            </a:pPr>
            <a:r>
              <a:rPr sz="1200" b="1" i="0">
                <a:solidFill>
                  <a:srgbClr val="3F5FB8"/>
                </a:solidFill>
                <a:latin typeface="Segoe UI"/>
              </a:rPr>
              <a:t>JSON</a:t>
            </a:r>
          </a:p>
        </p:txBody>
      </p:sp>
      <p:sp>
        <p:nvSpPr>
          <p:cNvPr id="33" name="TextBox 32"/>
          <p:cNvSpPr txBox="1"/>
          <p:nvPr/>
        </p:nvSpPr>
        <p:spPr>
          <a:xfrm>
            <a:off x="9253728" y="1371599"/>
            <a:ext cx="694944" cy="457200"/>
          </a:xfrm>
          <a:prstGeom prst="rect">
            <a:avLst/>
          </a:prstGeom>
          <a:noFill/>
        </p:spPr>
        <p:txBody>
          <a:bodyPr wrap="square" lIns="0" tIns="0" rIns="0" bIns="0" anchor="b">
            <a:spAutoFit/>
          </a:bodyPr>
          <a:lstStyle/>
          <a:p>
            <a:pPr algn="ctr">
              <a:spcBef>
                <a:spcPts val="0"/>
              </a:spcBef>
              <a:spcAft>
                <a:spcPts val="0"/>
              </a:spcAft>
            </a:pPr>
            <a:r>
              <a:rPr sz="1200" b="1" i="0">
                <a:solidFill>
                  <a:srgbClr val="8F5F0B"/>
                </a:solidFill>
                <a:latin typeface="Segoe UI"/>
              </a:rPr>
              <a:t>SQL</a:t>
            </a:r>
          </a:p>
        </p:txBody>
      </p:sp>
      <p:sp>
        <p:nvSpPr>
          <p:cNvPr id="34" name="Rounded Rectangle 33"/>
          <p:cNvSpPr/>
          <p:nvPr/>
        </p:nvSpPr>
        <p:spPr>
          <a:xfrm>
            <a:off x="7543800" y="4617720"/>
            <a:ext cx="4023360" cy="566928"/>
          </a:xfrm>
          <a:prstGeom prst="roundRect">
            <a:avLst>
              <a:gd name="adj" fmla="val 22580"/>
            </a:avLst>
          </a:prstGeom>
          <a:solidFill>
            <a:srgbClr val="FFFFFF"/>
          </a:solidFill>
          <a:ln w="25400">
            <a:solidFill>
              <a:srgbClr val="14A58A"/>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400" b="1" i="0">
                <a:solidFill>
                  <a:srgbClr val="0F1D26"/>
                </a:solidFill>
                <a:latin typeface="Segoe UI"/>
              </a:rPr>
              <a:t>React dashboard + local controller</a:t>
            </a:r>
          </a:p>
        </p:txBody>
      </p:sp>
      <p:cxnSp>
        <p:nvCxnSpPr>
          <p:cNvPr id="35" name="Connector 34"/>
          <p:cNvCxnSpPr/>
          <p:nvPr/>
        </p:nvCxnSpPr>
        <p:spPr>
          <a:xfrm flipV="1">
            <a:off x="8389619" y="4297679"/>
            <a:ext cx="0" cy="320041"/>
          </a:xfrm>
          <a:prstGeom prst="line">
            <a:avLst/>
          </a:prstGeom>
          <a:ln w="31750">
            <a:solidFill>
              <a:srgbClr val="14A58A"/>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526780" y="4343400"/>
            <a:ext cx="1737360" cy="256032"/>
          </a:xfrm>
          <a:prstGeom prst="rect">
            <a:avLst/>
          </a:prstGeom>
          <a:noFill/>
        </p:spPr>
        <p:txBody>
          <a:bodyPr wrap="square" lIns="0" tIns="0" rIns="0" bIns="0" anchor="ctr">
            <a:spAutoFit/>
          </a:bodyPr>
          <a:lstStyle/>
          <a:p>
            <a:pPr algn="l">
              <a:spcBef>
                <a:spcPts val="0"/>
              </a:spcBef>
              <a:spcAft>
                <a:spcPts val="0"/>
              </a:spcAft>
            </a:pPr>
            <a:r>
              <a:rPr sz="1200" b="1" i="0">
                <a:solidFill>
                  <a:srgbClr val="0B7A65"/>
                </a:solidFill>
                <a:latin typeface="Segoe UI"/>
              </a:rPr>
              <a:t>HTTP + WebSocket</a:t>
            </a:r>
          </a:p>
        </p:txBody>
      </p:sp>
      <p:sp>
        <p:nvSpPr>
          <p:cNvPr id="37" name="TextBox 36"/>
          <p:cNvSpPr txBox="1"/>
          <p:nvPr/>
        </p:nvSpPr>
        <p:spPr>
          <a:xfrm>
            <a:off x="640080" y="4553712"/>
            <a:ext cx="6035040" cy="274320"/>
          </a:xfrm>
          <a:prstGeom prst="rect">
            <a:avLst/>
          </a:prstGeom>
          <a:noFill/>
        </p:spPr>
        <p:txBody>
          <a:bodyPr wrap="square" lIns="0" tIns="0" rIns="0" bIns="0" anchor="ctr">
            <a:spAutoFit/>
          </a:bodyPr>
          <a:lstStyle/>
          <a:p>
            <a:pPr algn="l">
              <a:spcBef>
                <a:spcPts val="0"/>
              </a:spcBef>
              <a:spcAft>
                <a:spcPts val="0"/>
              </a:spcAft>
            </a:pPr>
            <a:r>
              <a:rPr sz="1200" b="1" i="0">
                <a:solidFill>
                  <a:srgbClr val="52626F"/>
                </a:solidFill>
                <a:latin typeface="Segoe UI"/>
              </a:rPr>
              <a:t>THE BRIEF’S EXAMPLE COMPONENTS, IN OUR SYSTEM</a:t>
            </a:r>
          </a:p>
        </p:txBody>
      </p:sp>
      <p:sp>
        <p:nvSpPr>
          <p:cNvPr id="38" name="Rounded Rectangle 37"/>
          <p:cNvSpPr/>
          <p:nvPr/>
        </p:nvSpPr>
        <p:spPr>
          <a:xfrm>
            <a:off x="640080" y="4892040"/>
            <a:ext cx="91440" cy="347472"/>
          </a:xfrm>
          <a:prstGeom prst="roundRect">
            <a:avLst>
              <a:gd name="adj" fmla="val 40000"/>
            </a:avLst>
          </a:prstGeom>
          <a:solidFill>
            <a:srgbClr val="D69B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868680" y="4892040"/>
            <a:ext cx="5852160" cy="347472"/>
          </a:xfrm>
          <a:prstGeom prst="rect">
            <a:avLst/>
          </a:prstGeom>
          <a:noFill/>
        </p:spPr>
        <p:txBody>
          <a:bodyPr wrap="square" lIns="0" tIns="0" rIns="0" bIns="0" anchor="ctr">
            <a:spAutoFit/>
          </a:bodyPr>
          <a:lstStyle/>
          <a:p>
            <a:pPr algn="l">
              <a:spcBef>
                <a:spcPts val="0"/>
              </a:spcBef>
              <a:spcAft>
                <a:spcPts val="0"/>
              </a:spcAft>
            </a:pPr>
            <a:r>
              <a:rPr sz="1400" b="1" i="0">
                <a:solidFill>
                  <a:srgbClr val="0F1D26"/>
                </a:solidFill>
                <a:latin typeface="Segoe UI"/>
              </a:rPr>
              <a:t>Database  </a:t>
            </a:r>
            <a:r>
              <a:rPr sz="1400" b="0" i="0">
                <a:solidFill>
                  <a:srgbClr val="52626F"/>
                </a:solidFill>
                <a:latin typeface="Segoe UI"/>
              </a:rPr>
              <a:t>= PostgreSQL</a:t>
            </a:r>
          </a:p>
        </p:txBody>
      </p:sp>
      <p:sp>
        <p:nvSpPr>
          <p:cNvPr id="40" name="Rounded Rectangle 39"/>
          <p:cNvSpPr/>
          <p:nvPr/>
        </p:nvSpPr>
        <p:spPr>
          <a:xfrm>
            <a:off x="640080" y="5303520"/>
            <a:ext cx="91440" cy="347472"/>
          </a:xfrm>
          <a:prstGeom prst="roundRect">
            <a:avLst>
              <a:gd name="adj" fmla="val 40000"/>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868680" y="5303520"/>
            <a:ext cx="5852160" cy="347472"/>
          </a:xfrm>
          <a:prstGeom prst="rect">
            <a:avLst/>
          </a:prstGeom>
          <a:noFill/>
        </p:spPr>
        <p:txBody>
          <a:bodyPr wrap="square" lIns="0" tIns="0" rIns="0" bIns="0" anchor="ctr">
            <a:spAutoFit/>
          </a:bodyPr>
          <a:lstStyle/>
          <a:p>
            <a:pPr algn="l">
              <a:spcBef>
                <a:spcPts val="0"/>
              </a:spcBef>
              <a:spcAft>
                <a:spcPts val="0"/>
              </a:spcAft>
            </a:pPr>
            <a:r>
              <a:rPr sz="1400" b="1" i="0">
                <a:solidFill>
                  <a:srgbClr val="0F1D26"/>
                </a:solidFill>
                <a:latin typeface="Segoe UI"/>
              </a:rPr>
              <a:t>Application  </a:t>
            </a:r>
            <a:r>
              <a:rPr sz="1400" b="0" i="0">
                <a:solidFill>
                  <a:srgbClr val="52626F"/>
                </a:solidFill>
                <a:latin typeface="Segoe UI"/>
              </a:rPr>
              <a:t>= meters, gateways, coordinators, dashboard</a:t>
            </a:r>
          </a:p>
        </p:txBody>
      </p:sp>
      <p:sp>
        <p:nvSpPr>
          <p:cNvPr id="42" name="Rounded Rectangle 41"/>
          <p:cNvSpPr/>
          <p:nvPr/>
        </p:nvSpPr>
        <p:spPr>
          <a:xfrm>
            <a:off x="640080" y="5715000"/>
            <a:ext cx="91440" cy="347472"/>
          </a:xfrm>
          <a:prstGeom prst="roundRect">
            <a:avLst>
              <a:gd name="adj" fmla="val 40000"/>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868680" y="5715000"/>
            <a:ext cx="5852160" cy="347472"/>
          </a:xfrm>
          <a:prstGeom prst="rect">
            <a:avLst/>
          </a:prstGeom>
          <a:noFill/>
        </p:spPr>
        <p:txBody>
          <a:bodyPr wrap="square" lIns="0" tIns="0" rIns="0" bIns="0" anchor="ctr">
            <a:spAutoFit/>
          </a:bodyPr>
          <a:lstStyle/>
          <a:p>
            <a:pPr algn="l">
              <a:spcBef>
                <a:spcPts val="0"/>
              </a:spcBef>
              <a:spcAft>
                <a:spcPts val="0"/>
              </a:spcAft>
            </a:pPr>
            <a:r>
              <a:rPr sz="1400" b="1" i="0">
                <a:solidFill>
                  <a:srgbClr val="0F1D26"/>
                </a:solidFill>
                <a:latin typeface="Segoe UI"/>
              </a:rPr>
              <a:t>Logging service  </a:t>
            </a:r>
            <a:r>
              <a:rPr sz="1400" b="0" i="0">
                <a:solidFill>
                  <a:srgbClr val="52626F"/>
                </a:solidFill>
                <a:latin typeface="Segoe UI"/>
              </a:rPr>
              <a:t>= replicated audit log, projected to SQL</a:t>
            </a:r>
          </a:p>
        </p:txBody>
      </p:sp>
      <p:sp>
        <p:nvSpPr>
          <p:cNvPr id="44" name="TextBox 43"/>
          <p:cNvSpPr txBox="1"/>
          <p:nvPr/>
        </p:nvSpPr>
        <p:spPr>
          <a:xfrm>
            <a:off x="7680960" y="5394960"/>
            <a:ext cx="3867912" cy="457200"/>
          </a:xfrm>
          <a:prstGeom prst="rect">
            <a:avLst/>
          </a:prstGeom>
          <a:noFill/>
        </p:spPr>
        <p:txBody>
          <a:bodyPr wrap="square" lIns="0" tIns="0" rIns="0" bIns="0" anchor="t">
            <a:spAutoFit/>
          </a:bodyPr>
          <a:lstStyle/>
          <a:p>
            <a:pPr algn="l">
              <a:spcBef>
                <a:spcPts val="0"/>
              </a:spcBef>
              <a:spcAft>
                <a:spcPts val="0"/>
              </a:spcAft>
            </a:pPr>
            <a:r>
              <a:rPr sz="1200" b="0" i="1">
                <a:solidFill>
                  <a:srgbClr val="52626F"/>
                </a:solidFill>
                <a:latin typeface="Segoe UI"/>
              </a:rPr>
              <a:t>Simplified diagram. All eleven Compose services run on one host.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ounded Rectangle 1"/>
          <p:cNvSpPr/>
          <p:nvPr/>
        </p:nvSpPr>
        <p:spPr>
          <a:xfrm>
            <a:off x="640080" y="475488"/>
            <a:ext cx="292608" cy="54864"/>
          </a:xfrm>
          <a:prstGeom prst="roundRect">
            <a:avLst>
              <a:gd name="adj" fmla="val 50000"/>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51560" y="365760"/>
            <a:ext cx="7315200" cy="274320"/>
          </a:xfrm>
          <a:prstGeom prst="rect">
            <a:avLst/>
          </a:prstGeom>
          <a:noFill/>
        </p:spPr>
        <p:txBody>
          <a:bodyPr wrap="square" lIns="0" tIns="0" rIns="0" bIns="0" anchor="ctr">
            <a:spAutoFit/>
          </a:bodyPr>
          <a:lstStyle/>
          <a:p>
            <a:pPr algn="l">
              <a:spcBef>
                <a:spcPts val="0"/>
              </a:spcBef>
              <a:spcAft>
                <a:spcPts val="0"/>
              </a:spcAft>
            </a:pPr>
            <a:r>
              <a:rPr sz="1200" b="1" i="0">
                <a:solidFill>
                  <a:srgbClr val="0B7A65"/>
                </a:solidFill>
                <a:latin typeface="Segoe UI"/>
              </a:rPr>
              <a:t>WHY IT IS DISTRIBUTED</a:t>
            </a:r>
          </a:p>
        </p:txBody>
      </p:sp>
      <p:sp>
        <p:nvSpPr>
          <p:cNvPr id="4" name="TextBox 3"/>
          <p:cNvSpPr txBox="1"/>
          <p:nvPr/>
        </p:nvSpPr>
        <p:spPr>
          <a:xfrm>
            <a:off x="640080" y="713232"/>
            <a:ext cx="10911535" cy="685800"/>
          </a:xfrm>
          <a:prstGeom prst="rect">
            <a:avLst/>
          </a:prstGeom>
          <a:noFill/>
        </p:spPr>
        <p:txBody>
          <a:bodyPr wrap="square" lIns="0" tIns="0" rIns="0" bIns="0" anchor="t">
            <a:spAutoFit/>
          </a:bodyPr>
          <a:lstStyle/>
          <a:p>
            <a:pPr algn="l">
              <a:spcBef>
                <a:spcPts val="0"/>
              </a:spcBef>
              <a:spcAft>
                <a:spcPts val="0"/>
              </a:spcAft>
            </a:pPr>
            <a:r>
              <a:rPr sz="3400" b="1" i="0">
                <a:solidFill>
                  <a:srgbClr val="0F1D26"/>
                </a:solidFill>
                <a:latin typeface="Segoe UI"/>
              </a:rPr>
              <a:t>Six distributed-systems ideas, all in use</a:t>
            </a:r>
          </a:p>
        </p:txBody>
      </p:sp>
      <p:sp>
        <p:nvSpPr>
          <p:cNvPr id="5" name="TextBox 4"/>
          <p:cNvSpPr txBox="1"/>
          <p:nvPr/>
        </p:nvSpPr>
        <p:spPr>
          <a:xfrm>
            <a:off x="640080" y="6428232"/>
            <a:ext cx="4572000" cy="256032"/>
          </a:xfrm>
          <a:prstGeom prst="rect">
            <a:avLst/>
          </a:prstGeom>
          <a:noFill/>
        </p:spPr>
        <p:txBody>
          <a:bodyPr wrap="square" lIns="0" tIns="0" rIns="0" bIns="0" anchor="ctr">
            <a:spAutoFit/>
          </a:bodyPr>
          <a:lstStyle/>
          <a:p>
            <a:pPr algn="l">
              <a:spcBef>
                <a:spcPts val="0"/>
              </a:spcBef>
              <a:spcAft>
                <a:spcPts val="0"/>
              </a:spcAft>
            </a:pPr>
            <a:r>
              <a:rPr sz="1200" b="0" i="0">
                <a:solidFill>
                  <a:srgbClr val="52626F"/>
                </a:solidFill>
                <a:latin typeface="Segoe UI"/>
              </a:rPr>
              <a:t>Ishtirak · Distributed Systems</a:t>
            </a:r>
          </a:p>
        </p:txBody>
      </p:sp>
      <p:sp>
        <p:nvSpPr>
          <p:cNvPr id="6" name="TextBox 5"/>
          <p:cNvSpPr txBox="1"/>
          <p:nvPr/>
        </p:nvSpPr>
        <p:spPr>
          <a:xfrm>
            <a:off x="10180015" y="6428232"/>
            <a:ext cx="1371600" cy="256032"/>
          </a:xfrm>
          <a:prstGeom prst="rect">
            <a:avLst/>
          </a:prstGeom>
          <a:noFill/>
        </p:spPr>
        <p:txBody>
          <a:bodyPr wrap="square" lIns="0" tIns="0" rIns="0" bIns="0" anchor="ctr">
            <a:spAutoFit/>
          </a:bodyPr>
          <a:lstStyle/>
          <a:p>
            <a:pPr algn="r">
              <a:spcBef>
                <a:spcPts val="0"/>
              </a:spcBef>
              <a:spcAft>
                <a:spcPts val="0"/>
              </a:spcAft>
            </a:pPr>
            <a:r>
              <a:rPr sz="1200" b="0" i="0">
                <a:solidFill>
                  <a:srgbClr val="52626F"/>
                </a:solidFill>
                <a:latin typeface="Segoe UI"/>
              </a:rPr>
              <a:t>5 / 16</a:t>
            </a:r>
          </a:p>
        </p:txBody>
      </p:sp>
      <p:sp>
        <p:nvSpPr>
          <p:cNvPr id="7" name="Rounded Rectangle 6"/>
          <p:cNvSpPr/>
          <p:nvPr/>
        </p:nvSpPr>
        <p:spPr>
          <a:xfrm>
            <a:off x="640080" y="1600200"/>
            <a:ext cx="3502152" cy="1828800"/>
          </a:xfrm>
          <a:prstGeom prst="roundRect">
            <a:avLst>
              <a:gd name="adj" fmla="val 7000"/>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640080" y="1783080"/>
            <a:ext cx="64008" cy="1463040"/>
          </a:xfrm>
          <a:prstGeom prst="roundRect">
            <a:avLst>
              <a:gd name="adj" fmla="val 42857"/>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1783080"/>
            <a:ext cx="3044952" cy="365760"/>
          </a:xfrm>
          <a:prstGeom prst="rect">
            <a:avLst/>
          </a:prstGeom>
          <a:noFill/>
        </p:spPr>
        <p:txBody>
          <a:bodyPr wrap="square" lIns="0" tIns="0" rIns="0" bIns="0" anchor="t">
            <a:spAutoFit/>
          </a:bodyPr>
          <a:lstStyle/>
          <a:p>
            <a:pPr algn="l">
              <a:spcBef>
                <a:spcPts val="0"/>
              </a:spcBef>
              <a:spcAft>
                <a:spcPts val="0"/>
              </a:spcAft>
            </a:pPr>
            <a:r>
              <a:rPr sz="1800" b="1" i="0">
                <a:solidFill>
                  <a:srgbClr val="0F1D26"/>
                </a:solidFill>
                <a:latin typeface="Segoe UI"/>
              </a:rPr>
              <a:t>Independent processes</a:t>
            </a:r>
          </a:p>
        </p:txBody>
      </p:sp>
      <p:sp>
        <p:nvSpPr>
          <p:cNvPr id="10" name="TextBox 9"/>
          <p:cNvSpPr txBox="1"/>
          <p:nvPr/>
        </p:nvSpPr>
        <p:spPr>
          <a:xfrm>
            <a:off x="914400" y="2221992"/>
            <a:ext cx="3044952" cy="1188720"/>
          </a:xfrm>
          <a:prstGeom prst="rect">
            <a:avLst/>
          </a:prstGeom>
          <a:noFill/>
        </p:spPr>
        <p:txBody>
          <a:bodyPr wrap="square" lIns="0" tIns="0" rIns="0" bIns="0" anchor="t">
            <a:spAutoFit/>
          </a:bodyPr>
          <a:lstStyle/>
          <a:p>
            <a:pPr algn="l">
              <a:spcBef>
                <a:spcPts val="0"/>
              </a:spcBef>
              <a:spcAft>
                <a:spcPts val="0"/>
              </a:spcAft>
            </a:pPr>
            <a:r>
              <a:rPr sz="1600" b="0" i="0">
                <a:solidFill>
                  <a:srgbClr val="52626F"/>
                </a:solidFill>
                <a:latin typeface="Segoe UI"/>
              </a:rPr>
              <a:t>Eleven services; each coordinator has its own log and storage volume. No shared memory.</a:t>
            </a:r>
          </a:p>
        </p:txBody>
      </p:sp>
      <p:sp>
        <p:nvSpPr>
          <p:cNvPr id="11" name="Rounded Rectangle 10"/>
          <p:cNvSpPr/>
          <p:nvPr/>
        </p:nvSpPr>
        <p:spPr>
          <a:xfrm>
            <a:off x="4343400" y="1600200"/>
            <a:ext cx="3502152" cy="1828800"/>
          </a:xfrm>
          <a:prstGeom prst="roundRect">
            <a:avLst>
              <a:gd name="adj" fmla="val 7000"/>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4343400" y="1783080"/>
            <a:ext cx="64008" cy="1463040"/>
          </a:xfrm>
          <a:prstGeom prst="roundRect">
            <a:avLst>
              <a:gd name="adj" fmla="val 42857"/>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617720" y="1783080"/>
            <a:ext cx="3044952" cy="365760"/>
          </a:xfrm>
          <a:prstGeom prst="rect">
            <a:avLst/>
          </a:prstGeom>
          <a:noFill/>
        </p:spPr>
        <p:txBody>
          <a:bodyPr wrap="square" lIns="0" tIns="0" rIns="0" bIns="0" anchor="t">
            <a:spAutoFit/>
          </a:bodyPr>
          <a:lstStyle/>
          <a:p>
            <a:pPr algn="l">
              <a:spcBef>
                <a:spcPts val="0"/>
              </a:spcBef>
              <a:spcAft>
                <a:spcPts val="0"/>
              </a:spcAft>
            </a:pPr>
            <a:r>
              <a:rPr sz="1800" b="1" i="0">
                <a:solidFill>
                  <a:srgbClr val="0F1D26"/>
                </a:solidFill>
                <a:latin typeface="Segoe UI"/>
              </a:rPr>
              <a:t>Consensus</a:t>
            </a:r>
          </a:p>
        </p:txBody>
      </p:sp>
      <p:sp>
        <p:nvSpPr>
          <p:cNvPr id="14" name="TextBox 13"/>
          <p:cNvSpPr txBox="1"/>
          <p:nvPr/>
        </p:nvSpPr>
        <p:spPr>
          <a:xfrm>
            <a:off x="4617720" y="2221992"/>
            <a:ext cx="3044952" cy="1188720"/>
          </a:xfrm>
          <a:prstGeom prst="rect">
            <a:avLst/>
          </a:prstGeom>
          <a:noFill/>
        </p:spPr>
        <p:txBody>
          <a:bodyPr wrap="square" lIns="0" tIns="0" rIns="0" bIns="0" anchor="t">
            <a:spAutoFit/>
          </a:bodyPr>
          <a:lstStyle/>
          <a:p>
            <a:pPr algn="l">
              <a:spcBef>
                <a:spcPts val="0"/>
              </a:spcBef>
              <a:spcAft>
                <a:spcPts val="0"/>
              </a:spcAft>
            </a:pPr>
            <a:r>
              <a:rPr sz="1600" b="0" i="0">
                <a:solidFill>
                  <a:srgbClr val="52626F"/>
                </a:solidFill>
                <a:latin typeface="Segoe UI"/>
              </a:rPr>
              <a:t>Raft over three coordinators: a grant commits only after a majority vote.</a:t>
            </a:r>
          </a:p>
        </p:txBody>
      </p:sp>
      <p:sp>
        <p:nvSpPr>
          <p:cNvPr id="15" name="Rounded Rectangle 14"/>
          <p:cNvSpPr/>
          <p:nvPr/>
        </p:nvSpPr>
        <p:spPr>
          <a:xfrm>
            <a:off x="8046719" y="1600200"/>
            <a:ext cx="3502152" cy="1828800"/>
          </a:xfrm>
          <a:prstGeom prst="roundRect">
            <a:avLst>
              <a:gd name="adj" fmla="val 7000"/>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8046719" y="1783080"/>
            <a:ext cx="64008" cy="1463040"/>
          </a:xfrm>
          <a:prstGeom prst="roundRect">
            <a:avLst>
              <a:gd name="adj" fmla="val 42857"/>
            </a:avLst>
          </a:prstGeom>
          <a:solidFill>
            <a:srgbClr val="D69B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321040" y="1783080"/>
            <a:ext cx="3044952" cy="365760"/>
          </a:xfrm>
          <a:prstGeom prst="rect">
            <a:avLst/>
          </a:prstGeom>
          <a:noFill/>
        </p:spPr>
        <p:txBody>
          <a:bodyPr wrap="square" lIns="0" tIns="0" rIns="0" bIns="0" anchor="t">
            <a:spAutoFit/>
          </a:bodyPr>
          <a:lstStyle/>
          <a:p>
            <a:pPr algn="l">
              <a:spcBef>
                <a:spcPts val="0"/>
              </a:spcBef>
              <a:spcAft>
                <a:spcPts val="0"/>
              </a:spcAft>
            </a:pPr>
            <a:r>
              <a:rPr sz="1800" b="1" i="0">
                <a:solidFill>
                  <a:srgbClr val="0F1D26"/>
                </a:solidFill>
                <a:latin typeface="Segoe UI"/>
              </a:rPr>
              <a:t>Data partitioning</a:t>
            </a:r>
          </a:p>
        </p:txBody>
      </p:sp>
      <p:sp>
        <p:nvSpPr>
          <p:cNvPr id="18" name="TextBox 17"/>
          <p:cNvSpPr txBox="1"/>
          <p:nvPr/>
        </p:nvSpPr>
        <p:spPr>
          <a:xfrm>
            <a:off x="8321040" y="2221992"/>
            <a:ext cx="3044952" cy="1188720"/>
          </a:xfrm>
          <a:prstGeom prst="rect">
            <a:avLst/>
          </a:prstGeom>
          <a:noFill/>
        </p:spPr>
        <p:txBody>
          <a:bodyPr wrap="square" lIns="0" tIns="0" rIns="0" bIns="0" anchor="t">
            <a:spAutoFit/>
          </a:bodyPr>
          <a:lstStyle/>
          <a:p>
            <a:pPr algn="l">
              <a:spcBef>
                <a:spcPts val="0"/>
              </a:spcBef>
              <a:spcAft>
                <a:spcPts val="0"/>
              </a:spcAft>
            </a:pPr>
            <a:r>
              <a:rPr sz="1600" b="0" i="0">
                <a:solidFill>
                  <a:srgbClr val="52626F"/>
                </a:solidFill>
                <a:latin typeface="Segoe UI"/>
              </a:rPr>
              <a:t>One gateway per building; MQTT topics split meter telemetry by building.</a:t>
            </a:r>
          </a:p>
        </p:txBody>
      </p:sp>
      <p:sp>
        <p:nvSpPr>
          <p:cNvPr id="19" name="Rounded Rectangle 18"/>
          <p:cNvSpPr/>
          <p:nvPr/>
        </p:nvSpPr>
        <p:spPr>
          <a:xfrm>
            <a:off x="640080" y="3630168"/>
            <a:ext cx="3502152" cy="1828800"/>
          </a:xfrm>
          <a:prstGeom prst="roundRect">
            <a:avLst>
              <a:gd name="adj" fmla="val 7000"/>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640080" y="3813048"/>
            <a:ext cx="64008" cy="1463040"/>
          </a:xfrm>
          <a:prstGeom prst="roundRect">
            <a:avLst>
              <a:gd name="adj" fmla="val 42857"/>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14400" y="3813048"/>
            <a:ext cx="3044952" cy="365760"/>
          </a:xfrm>
          <a:prstGeom prst="rect">
            <a:avLst/>
          </a:prstGeom>
          <a:noFill/>
        </p:spPr>
        <p:txBody>
          <a:bodyPr wrap="square" lIns="0" tIns="0" rIns="0" bIns="0" anchor="t">
            <a:spAutoFit/>
          </a:bodyPr>
          <a:lstStyle/>
          <a:p>
            <a:pPr algn="l">
              <a:spcBef>
                <a:spcPts val="0"/>
              </a:spcBef>
              <a:spcAft>
                <a:spcPts val="0"/>
              </a:spcAft>
            </a:pPr>
            <a:r>
              <a:rPr sz="1800" b="1" i="0">
                <a:solidFill>
                  <a:srgbClr val="0F1D26"/>
                </a:solidFill>
                <a:latin typeface="Segoe UI"/>
              </a:rPr>
              <a:t>Communication protocols</a:t>
            </a:r>
          </a:p>
        </p:txBody>
      </p:sp>
      <p:sp>
        <p:nvSpPr>
          <p:cNvPr id="22" name="TextBox 21"/>
          <p:cNvSpPr txBox="1"/>
          <p:nvPr/>
        </p:nvSpPr>
        <p:spPr>
          <a:xfrm>
            <a:off x="914400" y="4251960"/>
            <a:ext cx="3044952" cy="1188720"/>
          </a:xfrm>
          <a:prstGeom prst="rect">
            <a:avLst/>
          </a:prstGeom>
          <a:noFill/>
        </p:spPr>
        <p:txBody>
          <a:bodyPr wrap="square" lIns="0" tIns="0" rIns="0" bIns="0" anchor="t">
            <a:spAutoFit/>
          </a:bodyPr>
          <a:lstStyle/>
          <a:p>
            <a:pPr algn="l">
              <a:spcBef>
                <a:spcPts val="0"/>
              </a:spcBef>
              <a:spcAft>
                <a:spcPts val="0"/>
              </a:spcAft>
            </a:pPr>
            <a:r>
              <a:rPr sz="1600" b="0" i="0">
                <a:solidFill>
                  <a:srgbClr val="52626F"/>
                </a:solidFill>
                <a:latin typeface="Segoe UI"/>
              </a:rPr>
              <a:t>MQTT QoS 1, HTTP/JSON, Raft over TCP, SQL and WebSocket.</a:t>
            </a:r>
          </a:p>
        </p:txBody>
      </p:sp>
      <p:sp>
        <p:nvSpPr>
          <p:cNvPr id="23" name="Rounded Rectangle 22"/>
          <p:cNvSpPr/>
          <p:nvPr/>
        </p:nvSpPr>
        <p:spPr>
          <a:xfrm>
            <a:off x="4343400" y="3630168"/>
            <a:ext cx="3502152" cy="1828800"/>
          </a:xfrm>
          <a:prstGeom prst="roundRect">
            <a:avLst>
              <a:gd name="adj" fmla="val 7000"/>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4343400" y="3813048"/>
            <a:ext cx="64008" cy="1463040"/>
          </a:xfrm>
          <a:prstGeom prst="roundRect">
            <a:avLst>
              <a:gd name="adj" fmla="val 42857"/>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617720" y="3813048"/>
            <a:ext cx="3044952" cy="365760"/>
          </a:xfrm>
          <a:prstGeom prst="rect">
            <a:avLst/>
          </a:prstGeom>
          <a:noFill/>
        </p:spPr>
        <p:txBody>
          <a:bodyPr wrap="square" lIns="0" tIns="0" rIns="0" bIns="0" anchor="t">
            <a:spAutoFit/>
          </a:bodyPr>
          <a:lstStyle/>
          <a:p>
            <a:pPr algn="l">
              <a:spcBef>
                <a:spcPts val="0"/>
              </a:spcBef>
              <a:spcAft>
                <a:spcPts val="0"/>
              </a:spcAft>
            </a:pPr>
            <a:r>
              <a:rPr sz="1800" b="1" i="0">
                <a:solidFill>
                  <a:srgbClr val="0F1D26"/>
                </a:solidFill>
                <a:latin typeface="Segoe UI"/>
              </a:rPr>
              <a:t>Concurrency control</a:t>
            </a:r>
          </a:p>
        </p:txBody>
      </p:sp>
      <p:sp>
        <p:nvSpPr>
          <p:cNvPr id="26" name="TextBox 25"/>
          <p:cNvSpPr txBox="1"/>
          <p:nvPr/>
        </p:nvSpPr>
        <p:spPr>
          <a:xfrm>
            <a:off x="4617720" y="4251960"/>
            <a:ext cx="3044952" cy="1188720"/>
          </a:xfrm>
          <a:prstGeom prst="rect">
            <a:avLst/>
          </a:prstGeom>
          <a:noFill/>
        </p:spPr>
        <p:txBody>
          <a:bodyPr wrap="square" lIns="0" tIns="0" rIns="0" bIns="0" anchor="t">
            <a:spAutoFit/>
          </a:bodyPr>
          <a:lstStyle/>
          <a:p>
            <a:pPr algn="l">
              <a:spcBef>
                <a:spcPts val="0"/>
              </a:spcBef>
              <a:spcAft>
                <a:spcPts val="0"/>
              </a:spcAft>
            </a:pPr>
            <a:r>
              <a:rPr sz="1600" b="0" i="0">
                <a:solidFill>
                  <a:srgbClr val="52626F"/>
                </a:solidFill>
                <a:latin typeface="Segoe UI"/>
              </a:rPr>
              <a:t>One ordered log, idempotent request IDs, and an atomic capacity check.</a:t>
            </a:r>
          </a:p>
        </p:txBody>
      </p:sp>
      <p:sp>
        <p:nvSpPr>
          <p:cNvPr id="27" name="Rounded Rectangle 26"/>
          <p:cNvSpPr/>
          <p:nvPr/>
        </p:nvSpPr>
        <p:spPr>
          <a:xfrm>
            <a:off x="8046719" y="3630168"/>
            <a:ext cx="3502152" cy="1828800"/>
          </a:xfrm>
          <a:prstGeom prst="roundRect">
            <a:avLst>
              <a:gd name="adj" fmla="val 7000"/>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8046719" y="3813048"/>
            <a:ext cx="64008" cy="1463040"/>
          </a:xfrm>
          <a:prstGeom prst="roundRect">
            <a:avLst>
              <a:gd name="adj" fmla="val 42857"/>
            </a:avLst>
          </a:prstGeom>
          <a:solidFill>
            <a:srgbClr val="D69B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8321040" y="3813048"/>
            <a:ext cx="3044952" cy="365760"/>
          </a:xfrm>
          <a:prstGeom prst="rect">
            <a:avLst/>
          </a:prstGeom>
          <a:noFill/>
        </p:spPr>
        <p:txBody>
          <a:bodyPr wrap="square" lIns="0" tIns="0" rIns="0" bIns="0" anchor="t">
            <a:spAutoFit/>
          </a:bodyPr>
          <a:lstStyle/>
          <a:p>
            <a:pPr algn="l">
              <a:spcBef>
                <a:spcPts val="0"/>
              </a:spcBef>
              <a:spcAft>
                <a:spcPts val="0"/>
              </a:spcAft>
            </a:pPr>
            <a:r>
              <a:rPr sz="1800" b="1" i="0">
                <a:solidFill>
                  <a:srgbClr val="0F1D26"/>
                </a:solidFill>
                <a:latin typeface="Segoe UI"/>
              </a:rPr>
              <a:t>Fault tolerance</a:t>
            </a:r>
          </a:p>
        </p:txBody>
      </p:sp>
      <p:sp>
        <p:nvSpPr>
          <p:cNvPr id="30" name="TextBox 29"/>
          <p:cNvSpPr txBox="1"/>
          <p:nvPr/>
        </p:nvSpPr>
        <p:spPr>
          <a:xfrm>
            <a:off x="8321040" y="4251960"/>
            <a:ext cx="3044952" cy="1188720"/>
          </a:xfrm>
          <a:prstGeom prst="rect">
            <a:avLst/>
          </a:prstGeom>
          <a:noFill/>
        </p:spPr>
        <p:txBody>
          <a:bodyPr wrap="square" lIns="0" tIns="0" rIns="0" bIns="0" anchor="t">
            <a:spAutoFit/>
          </a:bodyPr>
          <a:lstStyle/>
          <a:p>
            <a:pPr algn="l">
              <a:spcBef>
                <a:spcPts val="0"/>
              </a:spcBef>
              <a:spcAft>
                <a:spcPts val="0"/>
              </a:spcAft>
            </a:pPr>
            <a:r>
              <a:rPr sz="1600" b="0" i="0">
                <a:solidFill>
                  <a:srgbClr val="52626F"/>
                </a:solidFill>
                <a:latin typeface="Segoe UI"/>
              </a:rPr>
              <a:t>Leader replacement, no grants without a majority, expiring leases.</a:t>
            </a:r>
          </a:p>
        </p:txBody>
      </p:sp>
      <p:sp>
        <p:nvSpPr>
          <p:cNvPr id="31" name="Rounded Rectangle 30"/>
          <p:cNvSpPr/>
          <p:nvPr/>
        </p:nvSpPr>
        <p:spPr>
          <a:xfrm>
            <a:off x="640080" y="5623560"/>
            <a:ext cx="10911535" cy="594360"/>
          </a:xfrm>
          <a:prstGeom prst="roundRect">
            <a:avLst>
              <a:gd name="adj" fmla="val 21538"/>
            </a:avLst>
          </a:prstGeom>
          <a:solidFill>
            <a:srgbClr val="FBF1DE"/>
          </a:solidFill>
          <a:ln w="9525">
            <a:solidFill>
              <a:srgbClr val="D69B3C"/>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400" b="1" i="0">
                <a:solidFill>
                  <a:srgbClr val="8F5F0B"/>
                </a:solidFill>
                <a:latin typeface="Segoe UI"/>
              </a:rPr>
              <a:t>Honest limit: </a:t>
            </a:r>
            <a:r>
              <a:rPr sz="1400" b="0" i="0">
                <a:solidFill>
                  <a:srgbClr val="8F5F0B"/>
                </a:solidFill>
                <a:latin typeface="Segoe UI"/>
              </a:rPr>
              <a:t>everything runs on one Docker host. It shows protocols and process or network failures, not the loss of the host.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ounded Rectangle 1"/>
          <p:cNvSpPr/>
          <p:nvPr/>
        </p:nvSpPr>
        <p:spPr>
          <a:xfrm>
            <a:off x="640080" y="475488"/>
            <a:ext cx="292608" cy="54864"/>
          </a:xfrm>
          <a:prstGeom prst="roundRect">
            <a:avLst>
              <a:gd name="adj" fmla="val 50000"/>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51560" y="365760"/>
            <a:ext cx="7315200" cy="274320"/>
          </a:xfrm>
          <a:prstGeom prst="rect">
            <a:avLst/>
          </a:prstGeom>
          <a:noFill/>
        </p:spPr>
        <p:txBody>
          <a:bodyPr wrap="square" lIns="0" tIns="0" rIns="0" bIns="0" anchor="ctr">
            <a:spAutoFit/>
          </a:bodyPr>
          <a:lstStyle/>
          <a:p>
            <a:pPr algn="l">
              <a:spcBef>
                <a:spcPts val="0"/>
              </a:spcBef>
              <a:spcAft>
                <a:spcPts val="0"/>
              </a:spcAft>
            </a:pPr>
            <a:r>
              <a:rPr sz="1200" b="1" i="0">
                <a:solidFill>
                  <a:srgbClr val="0B7A65"/>
                </a:solidFill>
                <a:latin typeface="Segoe UI"/>
              </a:rPr>
              <a:t>HOW ONE GRANT HAPPENS</a:t>
            </a:r>
          </a:p>
        </p:txBody>
      </p:sp>
      <p:sp>
        <p:nvSpPr>
          <p:cNvPr id="4" name="TextBox 3"/>
          <p:cNvSpPr txBox="1"/>
          <p:nvPr/>
        </p:nvSpPr>
        <p:spPr>
          <a:xfrm>
            <a:off x="640080" y="713232"/>
            <a:ext cx="10911535" cy="685800"/>
          </a:xfrm>
          <a:prstGeom prst="rect">
            <a:avLst/>
          </a:prstGeom>
          <a:noFill/>
        </p:spPr>
        <p:txBody>
          <a:bodyPr wrap="square" lIns="0" tIns="0" rIns="0" bIns="0" anchor="t">
            <a:spAutoFit/>
          </a:bodyPr>
          <a:lstStyle/>
          <a:p>
            <a:pPr algn="l">
              <a:spcBef>
                <a:spcPts val="0"/>
              </a:spcBef>
              <a:spcAft>
                <a:spcPts val="0"/>
              </a:spcAft>
            </a:pPr>
            <a:r>
              <a:rPr sz="3400" b="1" i="0">
                <a:solidFill>
                  <a:srgbClr val="0F1D26"/>
                </a:solidFill>
                <a:latin typeface="Segoe UI"/>
              </a:rPr>
              <a:t>No grant without a majority</a:t>
            </a:r>
          </a:p>
        </p:txBody>
      </p:sp>
      <p:sp>
        <p:nvSpPr>
          <p:cNvPr id="5" name="TextBox 4"/>
          <p:cNvSpPr txBox="1"/>
          <p:nvPr/>
        </p:nvSpPr>
        <p:spPr>
          <a:xfrm>
            <a:off x="640080" y="6428232"/>
            <a:ext cx="4572000" cy="256032"/>
          </a:xfrm>
          <a:prstGeom prst="rect">
            <a:avLst/>
          </a:prstGeom>
          <a:noFill/>
        </p:spPr>
        <p:txBody>
          <a:bodyPr wrap="square" lIns="0" tIns="0" rIns="0" bIns="0" anchor="ctr">
            <a:spAutoFit/>
          </a:bodyPr>
          <a:lstStyle/>
          <a:p>
            <a:pPr algn="l">
              <a:spcBef>
                <a:spcPts val="0"/>
              </a:spcBef>
              <a:spcAft>
                <a:spcPts val="0"/>
              </a:spcAft>
            </a:pPr>
            <a:r>
              <a:rPr sz="1200" b="0" i="0">
                <a:solidFill>
                  <a:srgbClr val="52626F"/>
                </a:solidFill>
                <a:latin typeface="Segoe UI"/>
              </a:rPr>
              <a:t>Ishtirak · Distributed Systems</a:t>
            </a:r>
          </a:p>
        </p:txBody>
      </p:sp>
      <p:sp>
        <p:nvSpPr>
          <p:cNvPr id="6" name="TextBox 5"/>
          <p:cNvSpPr txBox="1"/>
          <p:nvPr/>
        </p:nvSpPr>
        <p:spPr>
          <a:xfrm>
            <a:off x="10180015" y="6428232"/>
            <a:ext cx="1371600" cy="256032"/>
          </a:xfrm>
          <a:prstGeom prst="rect">
            <a:avLst/>
          </a:prstGeom>
          <a:noFill/>
        </p:spPr>
        <p:txBody>
          <a:bodyPr wrap="square" lIns="0" tIns="0" rIns="0" bIns="0" anchor="ctr">
            <a:spAutoFit/>
          </a:bodyPr>
          <a:lstStyle/>
          <a:p>
            <a:pPr algn="r">
              <a:spcBef>
                <a:spcPts val="0"/>
              </a:spcBef>
              <a:spcAft>
                <a:spcPts val="0"/>
              </a:spcAft>
            </a:pPr>
            <a:r>
              <a:rPr sz="1200" b="0" i="0">
                <a:solidFill>
                  <a:srgbClr val="52626F"/>
                </a:solidFill>
                <a:latin typeface="Segoe UI"/>
              </a:rPr>
              <a:t>6 / 16</a:t>
            </a:r>
          </a:p>
        </p:txBody>
      </p:sp>
      <p:sp>
        <p:nvSpPr>
          <p:cNvPr id="7" name="Rounded Rectangle 6"/>
          <p:cNvSpPr/>
          <p:nvPr/>
        </p:nvSpPr>
        <p:spPr>
          <a:xfrm>
            <a:off x="640080" y="1600200"/>
            <a:ext cx="1920240" cy="1600200"/>
          </a:xfrm>
          <a:prstGeom prst="roundRect">
            <a:avLst>
              <a:gd name="adj" fmla="val 8000"/>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640080" y="1600200"/>
            <a:ext cx="1920240" cy="82296"/>
          </a:xfrm>
          <a:prstGeom prst="roundRect">
            <a:avLst>
              <a:gd name="adj" fmla="val 44444"/>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804671" y="1874519"/>
            <a:ext cx="384048" cy="384048"/>
          </a:xfrm>
          <a:prstGeom prst="ellipse">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500" b="1" i="0">
                <a:solidFill>
                  <a:srgbClr val="FFFFFF"/>
                </a:solidFill>
                <a:latin typeface="Segoe UI"/>
              </a:rPr>
              <a:t>1</a:t>
            </a:r>
          </a:p>
        </p:txBody>
      </p:sp>
      <p:sp>
        <p:nvSpPr>
          <p:cNvPr id="10" name="TextBox 9"/>
          <p:cNvSpPr txBox="1"/>
          <p:nvPr/>
        </p:nvSpPr>
        <p:spPr>
          <a:xfrm>
            <a:off x="1280160" y="1874519"/>
            <a:ext cx="1188720" cy="384048"/>
          </a:xfrm>
          <a:prstGeom prst="rect">
            <a:avLst/>
          </a:prstGeom>
          <a:noFill/>
        </p:spPr>
        <p:txBody>
          <a:bodyPr wrap="square" lIns="0" tIns="0" rIns="0" bIns="0" anchor="ctr">
            <a:spAutoFit/>
          </a:bodyPr>
          <a:lstStyle/>
          <a:p>
            <a:pPr algn="l">
              <a:spcBef>
                <a:spcPts val="0"/>
              </a:spcBef>
              <a:spcAft>
                <a:spcPts val="0"/>
              </a:spcAft>
            </a:pPr>
            <a:r>
              <a:rPr sz="1500" b="1" i="0">
                <a:solidFill>
                  <a:srgbClr val="0F1D26"/>
                </a:solidFill>
                <a:latin typeface="Segoe UI"/>
              </a:rPr>
              <a:t>Request</a:t>
            </a:r>
          </a:p>
        </p:txBody>
      </p:sp>
      <p:sp>
        <p:nvSpPr>
          <p:cNvPr id="11" name="TextBox 10"/>
          <p:cNvSpPr txBox="1"/>
          <p:nvPr/>
        </p:nvSpPr>
        <p:spPr>
          <a:xfrm>
            <a:off x="804671" y="2395728"/>
            <a:ext cx="1645920" cy="777240"/>
          </a:xfrm>
          <a:prstGeom prst="rect">
            <a:avLst/>
          </a:prstGeom>
          <a:noFill/>
        </p:spPr>
        <p:txBody>
          <a:bodyPr wrap="square" lIns="0" tIns="0" rIns="0" bIns="0" anchor="t">
            <a:spAutoFit/>
          </a:bodyPr>
          <a:lstStyle/>
          <a:p>
            <a:pPr algn="l">
              <a:spcBef>
                <a:spcPts val="0"/>
              </a:spcBef>
              <a:spcAft>
                <a:spcPts val="0"/>
              </a:spcAft>
            </a:pPr>
            <a:r>
              <a:rPr sz="1400" b="0" i="0">
                <a:solidFill>
                  <a:srgbClr val="52626F"/>
                </a:solidFill>
                <a:latin typeface="Segoe UI"/>
              </a:rPr>
              <a:t>Gateway asks for amps with a unique ID</a:t>
            </a:r>
          </a:p>
        </p:txBody>
      </p:sp>
      <p:cxnSp>
        <p:nvCxnSpPr>
          <p:cNvPr id="12" name="Connector 11"/>
          <p:cNvCxnSpPr/>
          <p:nvPr/>
        </p:nvCxnSpPr>
        <p:spPr>
          <a:xfrm>
            <a:off x="2596896" y="2395728"/>
            <a:ext cx="256031" cy="0"/>
          </a:xfrm>
          <a:prstGeom prst="line">
            <a:avLst/>
          </a:prstGeom>
          <a:ln w="28575">
            <a:solidFill>
              <a:srgbClr val="5262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89504" y="1600200"/>
            <a:ext cx="1920240" cy="1600200"/>
          </a:xfrm>
          <a:prstGeom prst="roundRect">
            <a:avLst>
              <a:gd name="adj" fmla="val 8000"/>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2889504" y="1600200"/>
            <a:ext cx="1920240" cy="82296"/>
          </a:xfrm>
          <a:prstGeom prst="roundRect">
            <a:avLst>
              <a:gd name="adj" fmla="val 44444"/>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3054096" y="1874519"/>
            <a:ext cx="384048" cy="384048"/>
          </a:xfrm>
          <a:prstGeom prst="ellipse">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500" b="1" i="0">
                <a:solidFill>
                  <a:srgbClr val="FFFFFF"/>
                </a:solidFill>
                <a:latin typeface="Segoe UI"/>
              </a:rPr>
              <a:t>2</a:t>
            </a:r>
          </a:p>
        </p:txBody>
      </p:sp>
      <p:sp>
        <p:nvSpPr>
          <p:cNvPr id="16" name="TextBox 15"/>
          <p:cNvSpPr txBox="1"/>
          <p:nvPr/>
        </p:nvSpPr>
        <p:spPr>
          <a:xfrm>
            <a:off x="3529584" y="1874519"/>
            <a:ext cx="1188720" cy="384048"/>
          </a:xfrm>
          <a:prstGeom prst="rect">
            <a:avLst/>
          </a:prstGeom>
          <a:noFill/>
        </p:spPr>
        <p:txBody>
          <a:bodyPr wrap="square" lIns="0" tIns="0" rIns="0" bIns="0" anchor="ctr">
            <a:spAutoFit/>
          </a:bodyPr>
          <a:lstStyle/>
          <a:p>
            <a:pPr algn="l">
              <a:spcBef>
                <a:spcPts val="0"/>
              </a:spcBef>
              <a:spcAft>
                <a:spcPts val="0"/>
              </a:spcAft>
            </a:pPr>
            <a:r>
              <a:rPr sz="1500" b="1" i="0">
                <a:solidFill>
                  <a:srgbClr val="0F1D26"/>
                </a:solidFill>
                <a:latin typeface="Segoe UI"/>
              </a:rPr>
              <a:t>Leader appends</a:t>
            </a:r>
          </a:p>
        </p:txBody>
      </p:sp>
      <p:sp>
        <p:nvSpPr>
          <p:cNvPr id="17" name="TextBox 16"/>
          <p:cNvSpPr txBox="1"/>
          <p:nvPr/>
        </p:nvSpPr>
        <p:spPr>
          <a:xfrm>
            <a:off x="3054096" y="2395728"/>
            <a:ext cx="1645920" cy="777240"/>
          </a:xfrm>
          <a:prstGeom prst="rect">
            <a:avLst/>
          </a:prstGeom>
          <a:noFill/>
        </p:spPr>
        <p:txBody>
          <a:bodyPr wrap="square" lIns="0" tIns="0" rIns="0" bIns="0" anchor="t">
            <a:spAutoFit/>
          </a:bodyPr>
          <a:lstStyle/>
          <a:p>
            <a:pPr algn="l">
              <a:spcBef>
                <a:spcPts val="0"/>
              </a:spcBef>
              <a:spcAft>
                <a:spcPts val="0"/>
              </a:spcAft>
            </a:pPr>
            <a:r>
              <a:rPr sz="1400" b="0" i="0">
                <a:solidFill>
                  <a:srgbClr val="52626F"/>
                </a:solidFill>
                <a:latin typeface="Segoe UI"/>
              </a:rPr>
              <a:t>The leader writes the command to its log</a:t>
            </a:r>
          </a:p>
        </p:txBody>
      </p:sp>
      <p:cxnSp>
        <p:nvCxnSpPr>
          <p:cNvPr id="18" name="Connector 17"/>
          <p:cNvCxnSpPr/>
          <p:nvPr/>
        </p:nvCxnSpPr>
        <p:spPr>
          <a:xfrm>
            <a:off x="4846320" y="2395728"/>
            <a:ext cx="256032" cy="0"/>
          </a:xfrm>
          <a:prstGeom prst="line">
            <a:avLst/>
          </a:prstGeom>
          <a:ln w="28575">
            <a:solidFill>
              <a:srgbClr val="5262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38928" y="1600200"/>
            <a:ext cx="1920240" cy="1600200"/>
          </a:xfrm>
          <a:prstGeom prst="roundRect">
            <a:avLst>
              <a:gd name="adj" fmla="val 8000"/>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5138928" y="1600200"/>
            <a:ext cx="1920240" cy="82296"/>
          </a:xfrm>
          <a:prstGeom prst="roundRect">
            <a:avLst>
              <a:gd name="adj" fmla="val 44444"/>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5303520" y="1874519"/>
            <a:ext cx="384048" cy="384048"/>
          </a:xfrm>
          <a:prstGeom prst="ellipse">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500" b="1" i="0">
                <a:solidFill>
                  <a:srgbClr val="FFFFFF"/>
                </a:solidFill>
                <a:latin typeface="Segoe UI"/>
              </a:rPr>
              <a:t>3</a:t>
            </a:r>
          </a:p>
        </p:txBody>
      </p:sp>
      <p:sp>
        <p:nvSpPr>
          <p:cNvPr id="22" name="TextBox 21"/>
          <p:cNvSpPr txBox="1"/>
          <p:nvPr/>
        </p:nvSpPr>
        <p:spPr>
          <a:xfrm>
            <a:off x="5779008" y="1874519"/>
            <a:ext cx="1188720" cy="384048"/>
          </a:xfrm>
          <a:prstGeom prst="rect">
            <a:avLst/>
          </a:prstGeom>
          <a:noFill/>
        </p:spPr>
        <p:txBody>
          <a:bodyPr wrap="square" lIns="0" tIns="0" rIns="0" bIns="0" anchor="ctr">
            <a:spAutoFit/>
          </a:bodyPr>
          <a:lstStyle/>
          <a:p>
            <a:pPr algn="l">
              <a:spcBef>
                <a:spcPts val="0"/>
              </a:spcBef>
              <a:spcAft>
                <a:spcPts val="0"/>
              </a:spcAft>
            </a:pPr>
            <a:r>
              <a:rPr sz="1500" b="1" i="0">
                <a:solidFill>
                  <a:srgbClr val="0F1D26"/>
                </a:solidFill>
                <a:latin typeface="Segoe UI"/>
              </a:rPr>
              <a:t>Majority commits</a:t>
            </a:r>
          </a:p>
        </p:txBody>
      </p:sp>
      <p:sp>
        <p:nvSpPr>
          <p:cNvPr id="23" name="TextBox 22"/>
          <p:cNvSpPr txBox="1"/>
          <p:nvPr/>
        </p:nvSpPr>
        <p:spPr>
          <a:xfrm>
            <a:off x="5303520" y="2395728"/>
            <a:ext cx="1645920" cy="777240"/>
          </a:xfrm>
          <a:prstGeom prst="rect">
            <a:avLst/>
          </a:prstGeom>
          <a:noFill/>
        </p:spPr>
        <p:txBody>
          <a:bodyPr wrap="square" lIns="0" tIns="0" rIns="0" bIns="0" anchor="t">
            <a:spAutoFit/>
          </a:bodyPr>
          <a:lstStyle/>
          <a:p>
            <a:pPr algn="l">
              <a:spcBef>
                <a:spcPts val="0"/>
              </a:spcBef>
              <a:spcAft>
                <a:spcPts val="0"/>
              </a:spcAft>
            </a:pPr>
            <a:r>
              <a:rPr sz="1400" b="0" i="0">
                <a:solidFill>
                  <a:srgbClr val="52626F"/>
                </a:solidFill>
                <a:latin typeface="Segoe UI"/>
              </a:rPr>
              <a:t>At least 2 of 3 have stored it</a:t>
            </a:r>
          </a:p>
        </p:txBody>
      </p:sp>
      <p:cxnSp>
        <p:nvCxnSpPr>
          <p:cNvPr id="24" name="Connector 23"/>
          <p:cNvCxnSpPr/>
          <p:nvPr/>
        </p:nvCxnSpPr>
        <p:spPr>
          <a:xfrm>
            <a:off x="7095744" y="2395728"/>
            <a:ext cx="256032" cy="0"/>
          </a:xfrm>
          <a:prstGeom prst="line">
            <a:avLst/>
          </a:prstGeom>
          <a:ln w="28575">
            <a:solidFill>
              <a:srgbClr val="5262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8352" y="1600200"/>
            <a:ext cx="1920240" cy="1600200"/>
          </a:xfrm>
          <a:prstGeom prst="roundRect">
            <a:avLst>
              <a:gd name="adj" fmla="val 8000"/>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7388352" y="1600200"/>
            <a:ext cx="1920240" cy="82296"/>
          </a:xfrm>
          <a:prstGeom prst="roundRect">
            <a:avLst>
              <a:gd name="adj" fmla="val 44444"/>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val 26"/>
          <p:cNvSpPr/>
          <p:nvPr/>
        </p:nvSpPr>
        <p:spPr>
          <a:xfrm>
            <a:off x="7552944" y="1874519"/>
            <a:ext cx="384048" cy="384048"/>
          </a:xfrm>
          <a:prstGeom prst="ellipse">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500" b="1" i="0">
                <a:solidFill>
                  <a:srgbClr val="FFFFFF"/>
                </a:solidFill>
                <a:latin typeface="Segoe UI"/>
              </a:rPr>
              <a:t>4</a:t>
            </a:r>
          </a:p>
        </p:txBody>
      </p:sp>
      <p:sp>
        <p:nvSpPr>
          <p:cNvPr id="28" name="TextBox 27"/>
          <p:cNvSpPr txBox="1"/>
          <p:nvPr/>
        </p:nvSpPr>
        <p:spPr>
          <a:xfrm>
            <a:off x="8028431" y="1874519"/>
            <a:ext cx="1188720" cy="384048"/>
          </a:xfrm>
          <a:prstGeom prst="rect">
            <a:avLst/>
          </a:prstGeom>
          <a:noFill/>
        </p:spPr>
        <p:txBody>
          <a:bodyPr wrap="square" lIns="0" tIns="0" rIns="0" bIns="0" anchor="ctr">
            <a:spAutoFit/>
          </a:bodyPr>
          <a:lstStyle/>
          <a:p>
            <a:pPr algn="l">
              <a:spcBef>
                <a:spcPts val="0"/>
              </a:spcBef>
              <a:spcAft>
                <a:spcPts val="0"/>
              </a:spcAft>
            </a:pPr>
            <a:r>
              <a:rPr sz="1500" b="1" i="0">
                <a:solidFill>
                  <a:srgbClr val="0F1D26"/>
                </a:solidFill>
                <a:latin typeface="Segoe UI"/>
              </a:rPr>
              <a:t>Lease returned</a:t>
            </a:r>
          </a:p>
        </p:txBody>
      </p:sp>
      <p:sp>
        <p:nvSpPr>
          <p:cNvPr id="29" name="TextBox 28"/>
          <p:cNvSpPr txBox="1"/>
          <p:nvPr/>
        </p:nvSpPr>
        <p:spPr>
          <a:xfrm>
            <a:off x="7552944" y="2395728"/>
            <a:ext cx="1645920" cy="777240"/>
          </a:xfrm>
          <a:prstGeom prst="rect">
            <a:avLst/>
          </a:prstGeom>
          <a:noFill/>
        </p:spPr>
        <p:txBody>
          <a:bodyPr wrap="square" lIns="0" tIns="0" rIns="0" bIns="0" anchor="t">
            <a:spAutoFit/>
          </a:bodyPr>
          <a:lstStyle/>
          <a:p>
            <a:pPr algn="l">
              <a:spcBef>
                <a:spcPts val="0"/>
              </a:spcBef>
              <a:spcAft>
                <a:spcPts val="0"/>
              </a:spcAft>
            </a:pPr>
            <a:r>
              <a:rPr sz="1400" b="0" i="0">
                <a:solidFill>
                  <a:srgbClr val="52626F"/>
                </a:solidFill>
                <a:latin typeface="Segoe UI"/>
              </a:rPr>
              <a:t>Reply carries amps and a lease version</a:t>
            </a:r>
          </a:p>
        </p:txBody>
      </p:sp>
      <p:cxnSp>
        <p:nvCxnSpPr>
          <p:cNvPr id="30" name="Connector 29"/>
          <p:cNvCxnSpPr/>
          <p:nvPr/>
        </p:nvCxnSpPr>
        <p:spPr>
          <a:xfrm>
            <a:off x="9345167" y="2395728"/>
            <a:ext cx="256033" cy="0"/>
          </a:xfrm>
          <a:prstGeom prst="line">
            <a:avLst/>
          </a:prstGeom>
          <a:ln w="28575">
            <a:solidFill>
              <a:srgbClr val="5262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637776" y="1600200"/>
            <a:ext cx="1920240" cy="1600200"/>
          </a:xfrm>
          <a:prstGeom prst="roundRect">
            <a:avLst>
              <a:gd name="adj" fmla="val 8000"/>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9637776" y="1600200"/>
            <a:ext cx="1920240" cy="82296"/>
          </a:xfrm>
          <a:prstGeom prst="roundRect">
            <a:avLst>
              <a:gd name="adj" fmla="val 44444"/>
            </a:avLst>
          </a:prstGeom>
          <a:solidFill>
            <a:srgbClr val="D69B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Oval 32"/>
          <p:cNvSpPr/>
          <p:nvPr/>
        </p:nvSpPr>
        <p:spPr>
          <a:xfrm>
            <a:off x="9802367" y="1874519"/>
            <a:ext cx="384048" cy="384048"/>
          </a:xfrm>
          <a:prstGeom prst="ellipse">
            <a:avLst/>
          </a:prstGeom>
          <a:solidFill>
            <a:srgbClr val="D69B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500" b="1" i="0">
                <a:solidFill>
                  <a:srgbClr val="FFFFFF"/>
                </a:solidFill>
                <a:latin typeface="Segoe UI"/>
              </a:rPr>
              <a:t>5</a:t>
            </a:r>
          </a:p>
        </p:txBody>
      </p:sp>
      <p:sp>
        <p:nvSpPr>
          <p:cNvPr id="34" name="TextBox 33"/>
          <p:cNvSpPr txBox="1"/>
          <p:nvPr/>
        </p:nvSpPr>
        <p:spPr>
          <a:xfrm>
            <a:off x="10277855" y="1874519"/>
            <a:ext cx="1188720" cy="384048"/>
          </a:xfrm>
          <a:prstGeom prst="rect">
            <a:avLst/>
          </a:prstGeom>
          <a:noFill/>
        </p:spPr>
        <p:txBody>
          <a:bodyPr wrap="square" lIns="0" tIns="0" rIns="0" bIns="0" anchor="ctr">
            <a:spAutoFit/>
          </a:bodyPr>
          <a:lstStyle/>
          <a:p>
            <a:pPr algn="l">
              <a:spcBef>
                <a:spcPts val="0"/>
              </a:spcBef>
              <a:spcAft>
                <a:spcPts val="0"/>
              </a:spcAft>
            </a:pPr>
            <a:r>
              <a:rPr sz="1500" b="1" i="0">
                <a:solidFill>
                  <a:srgbClr val="0F1D26"/>
                </a:solidFill>
                <a:latin typeface="Segoe UI"/>
              </a:rPr>
              <a:t>Gateway enforces</a:t>
            </a:r>
          </a:p>
        </p:txBody>
      </p:sp>
      <p:sp>
        <p:nvSpPr>
          <p:cNvPr id="35" name="TextBox 34"/>
          <p:cNvSpPr txBox="1"/>
          <p:nvPr/>
        </p:nvSpPr>
        <p:spPr>
          <a:xfrm>
            <a:off x="9802367" y="2395728"/>
            <a:ext cx="1645920" cy="777240"/>
          </a:xfrm>
          <a:prstGeom prst="rect">
            <a:avLst/>
          </a:prstGeom>
          <a:noFill/>
        </p:spPr>
        <p:txBody>
          <a:bodyPr wrap="square" lIns="0" tIns="0" rIns="0" bIns="0" anchor="t">
            <a:spAutoFit/>
          </a:bodyPr>
          <a:lstStyle/>
          <a:p>
            <a:pPr algn="l">
              <a:spcBef>
                <a:spcPts val="0"/>
              </a:spcBef>
              <a:spcAft>
                <a:spcPts val="0"/>
              </a:spcAft>
            </a:pPr>
            <a:r>
              <a:rPr sz="1400" b="0" i="0">
                <a:solidFill>
                  <a:srgbClr val="52626F"/>
                </a:solidFill>
                <a:latin typeface="Segoe UI"/>
              </a:rPr>
              <a:t>Serves the smaller of demand and lease</a:t>
            </a:r>
          </a:p>
        </p:txBody>
      </p:sp>
      <p:sp>
        <p:nvSpPr>
          <p:cNvPr id="36" name="Rounded Rectangle 35"/>
          <p:cNvSpPr/>
          <p:nvPr/>
        </p:nvSpPr>
        <p:spPr>
          <a:xfrm>
            <a:off x="640080" y="3474720"/>
            <a:ext cx="6035040" cy="2743200"/>
          </a:xfrm>
          <a:prstGeom prst="roundRect">
            <a:avLst>
              <a:gd name="adj" fmla="val 4666"/>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14400" y="3584448"/>
            <a:ext cx="5486400" cy="274320"/>
          </a:xfrm>
          <a:prstGeom prst="rect">
            <a:avLst/>
          </a:prstGeom>
          <a:noFill/>
        </p:spPr>
        <p:txBody>
          <a:bodyPr wrap="square" lIns="0" tIns="0" rIns="0" bIns="0" anchor="ctr">
            <a:spAutoFit/>
          </a:bodyPr>
          <a:lstStyle/>
          <a:p>
            <a:pPr algn="l">
              <a:spcBef>
                <a:spcPts val="0"/>
              </a:spcBef>
              <a:spcAft>
                <a:spcPts val="0"/>
              </a:spcAft>
            </a:pPr>
            <a:r>
              <a:rPr sz="1200" b="1" i="0">
                <a:solidFill>
                  <a:srgbClr val="52626F"/>
                </a:solidFill>
                <a:latin typeface="Segoe UI"/>
              </a:rPr>
              <a:t>THE VOTE (ILLUSTRATION)</a:t>
            </a:r>
          </a:p>
        </p:txBody>
      </p:sp>
      <p:sp>
        <p:nvSpPr>
          <p:cNvPr id="38" name="Oval 37"/>
          <p:cNvSpPr/>
          <p:nvPr/>
        </p:nvSpPr>
        <p:spPr>
          <a:xfrm>
            <a:off x="914400" y="4206240"/>
            <a:ext cx="1280160" cy="1280160"/>
          </a:xfrm>
          <a:prstGeom prst="ellipse">
            <a:avLst/>
          </a:prstGeom>
          <a:solidFill>
            <a:srgbClr val="0F1D26"/>
          </a:solidFill>
          <a:ln w="38100">
            <a:solidFill>
              <a:srgbClr val="14A58A"/>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400" b="1" i="0">
                <a:solidFill>
                  <a:srgbClr val="7FE3C0"/>
                </a:solidFill>
                <a:latin typeface="Segoe UI"/>
              </a:rPr>
              <a:t>Leader</a:t>
            </a:r>
          </a:p>
          <a:p>
            <a:pPr algn="ctr">
              <a:spcBef>
                <a:spcPts val="0"/>
              </a:spcBef>
              <a:spcAft>
                <a:spcPts val="0"/>
              </a:spcAft>
            </a:pPr>
            <a:r>
              <a:rPr sz="1200" b="0" i="0">
                <a:solidFill>
                  <a:srgbClr val="A9BAC6"/>
                </a:solidFill>
                <a:latin typeface="Segoe UI"/>
              </a:rPr>
              <a:t>writes entry</a:t>
            </a:r>
          </a:p>
        </p:txBody>
      </p:sp>
      <p:sp>
        <p:nvSpPr>
          <p:cNvPr id="39" name="Oval 38"/>
          <p:cNvSpPr/>
          <p:nvPr/>
        </p:nvSpPr>
        <p:spPr>
          <a:xfrm>
            <a:off x="3977640" y="3977639"/>
            <a:ext cx="1005840" cy="1005840"/>
          </a:xfrm>
          <a:prstGeom prst="ellipse">
            <a:avLst/>
          </a:prstGeom>
          <a:solidFill>
            <a:srgbClr val="E3F5EF"/>
          </a:solidFill>
          <a:ln w="31750">
            <a:solidFill>
              <a:srgbClr val="14A58A"/>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200" b="1" i="0">
                <a:solidFill>
                  <a:srgbClr val="0B7A65"/>
                </a:solidFill>
                <a:latin typeface="Segoe UI"/>
              </a:rPr>
              <a:t>Follower</a:t>
            </a:r>
          </a:p>
          <a:p>
            <a:pPr algn="ctr">
              <a:spcBef>
                <a:spcPts val="0"/>
              </a:spcBef>
              <a:spcAft>
                <a:spcPts val="0"/>
              </a:spcAft>
            </a:pPr>
            <a:r>
              <a:rPr sz="1200" b="0" i="0">
                <a:solidFill>
                  <a:srgbClr val="0B7A65"/>
                </a:solidFill>
                <a:latin typeface="Segoe UI"/>
              </a:rPr>
              <a:t>stored it</a:t>
            </a:r>
          </a:p>
        </p:txBody>
      </p:sp>
      <p:sp>
        <p:nvSpPr>
          <p:cNvPr id="40" name="Oval 39"/>
          <p:cNvSpPr/>
          <p:nvPr/>
        </p:nvSpPr>
        <p:spPr>
          <a:xfrm>
            <a:off x="3977640" y="5349240"/>
            <a:ext cx="1005840" cy="822960"/>
          </a:xfrm>
          <a:prstGeom prst="ellipse">
            <a:avLst/>
          </a:prstGeom>
          <a:solidFill>
            <a:srgbClr val="EEF1F4"/>
          </a:solidFill>
          <a:ln w="25400">
            <a:solidFill>
              <a:srgbClr val="9AA8B3"/>
            </a:solidFill>
            <a:prstDash val="dash"/>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200" b="1" i="0">
                <a:solidFill>
                  <a:srgbClr val="52626F"/>
                </a:solidFill>
                <a:latin typeface="Segoe UI"/>
              </a:rPr>
              <a:t>Follower</a:t>
            </a:r>
          </a:p>
          <a:p>
            <a:pPr algn="ctr">
              <a:spcBef>
                <a:spcPts val="0"/>
              </a:spcBef>
              <a:spcAft>
                <a:spcPts val="0"/>
              </a:spcAft>
            </a:pPr>
            <a:r>
              <a:rPr sz="1200" b="0" i="0">
                <a:solidFill>
                  <a:srgbClr val="52626F"/>
                </a:solidFill>
                <a:latin typeface="Segoe UI"/>
              </a:rPr>
              <a:t>down</a:t>
            </a:r>
          </a:p>
        </p:txBody>
      </p:sp>
      <p:cxnSp>
        <p:nvCxnSpPr>
          <p:cNvPr id="41" name="Connector 40"/>
          <p:cNvCxnSpPr/>
          <p:nvPr/>
        </p:nvCxnSpPr>
        <p:spPr>
          <a:xfrm flipV="1">
            <a:off x="2121408" y="4526280"/>
            <a:ext cx="1828800" cy="64008"/>
          </a:xfrm>
          <a:prstGeom prst="line">
            <a:avLst/>
          </a:prstGeom>
          <a:ln w="31750">
            <a:solidFill>
              <a:srgbClr val="14A58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2121408" y="5120640"/>
            <a:ext cx="1828800" cy="548640"/>
          </a:xfrm>
          <a:prstGeom prst="line">
            <a:avLst/>
          </a:prstGeom>
          <a:ln w="25400">
            <a:solidFill>
              <a:srgbClr val="9AA8B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212080" y="4251960"/>
            <a:ext cx="1371600" cy="822960"/>
          </a:xfrm>
          <a:prstGeom prst="rect">
            <a:avLst/>
          </a:prstGeom>
          <a:noFill/>
        </p:spPr>
        <p:txBody>
          <a:bodyPr wrap="square" lIns="0" tIns="0" rIns="0" bIns="0" anchor="t">
            <a:spAutoFit/>
          </a:bodyPr>
          <a:lstStyle/>
          <a:p>
            <a:pPr algn="ctr">
              <a:spcBef>
                <a:spcPts val="0"/>
              </a:spcBef>
              <a:spcAft>
                <a:spcPts val="0"/>
              </a:spcAft>
            </a:pPr>
            <a:r>
              <a:rPr sz="2800" b="1" i="0">
                <a:solidFill>
                  <a:srgbClr val="0B7A65"/>
                </a:solidFill>
                <a:latin typeface="Segoe UI"/>
              </a:rPr>
              <a:t>2 of 3</a:t>
            </a:r>
          </a:p>
          <a:p>
            <a:pPr algn="ctr">
              <a:spcBef>
                <a:spcPts val="0"/>
              </a:spcBef>
              <a:spcAft>
                <a:spcPts val="0"/>
              </a:spcAft>
            </a:pPr>
            <a:r>
              <a:rPr sz="1400" b="0" i="0">
                <a:solidFill>
                  <a:srgbClr val="52626F"/>
                </a:solidFill>
                <a:latin typeface="Segoe UI"/>
              </a:rPr>
              <a:t>= committed</a:t>
            </a:r>
          </a:p>
        </p:txBody>
      </p:sp>
      <p:sp>
        <p:nvSpPr>
          <p:cNvPr id="44" name="Rounded Rectangle 43"/>
          <p:cNvSpPr/>
          <p:nvPr/>
        </p:nvSpPr>
        <p:spPr>
          <a:xfrm>
            <a:off x="6949440" y="3474720"/>
            <a:ext cx="4599432" cy="1280160"/>
          </a:xfrm>
          <a:prstGeom prst="roundRect">
            <a:avLst>
              <a:gd name="adj" fmla="val 10000"/>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ounded Rectangle 44"/>
          <p:cNvSpPr/>
          <p:nvPr/>
        </p:nvSpPr>
        <p:spPr>
          <a:xfrm>
            <a:off x="6949440" y="3657600"/>
            <a:ext cx="64008" cy="914399"/>
          </a:xfrm>
          <a:prstGeom prst="roundRect">
            <a:avLst>
              <a:gd name="adj" fmla="val 42857"/>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7223760" y="3584448"/>
            <a:ext cx="4206240" cy="365760"/>
          </a:xfrm>
          <a:prstGeom prst="rect">
            <a:avLst/>
          </a:prstGeom>
          <a:noFill/>
        </p:spPr>
        <p:txBody>
          <a:bodyPr wrap="square" lIns="0" tIns="0" rIns="0" bIns="0" anchor="t">
            <a:spAutoFit/>
          </a:bodyPr>
          <a:lstStyle/>
          <a:p>
            <a:pPr algn="l">
              <a:spcBef>
                <a:spcPts val="0"/>
              </a:spcBef>
              <a:spcAft>
                <a:spcPts val="0"/>
              </a:spcAft>
            </a:pPr>
            <a:r>
              <a:rPr sz="1800" b="1" i="0">
                <a:solidFill>
                  <a:srgbClr val="0F1D26"/>
                </a:solidFill>
                <a:latin typeface="Segoe UI"/>
              </a:rPr>
              <a:t>Same request ID, same result</a:t>
            </a:r>
          </a:p>
        </p:txBody>
      </p:sp>
      <p:sp>
        <p:nvSpPr>
          <p:cNvPr id="47" name="TextBox 46"/>
          <p:cNvSpPr txBox="1"/>
          <p:nvPr/>
        </p:nvSpPr>
        <p:spPr>
          <a:xfrm>
            <a:off x="7223760" y="4005072"/>
            <a:ext cx="4206240" cy="731520"/>
          </a:xfrm>
          <a:prstGeom prst="rect">
            <a:avLst/>
          </a:prstGeom>
          <a:noFill/>
        </p:spPr>
        <p:txBody>
          <a:bodyPr wrap="square" lIns="0" tIns="0" rIns="0" bIns="0" anchor="t">
            <a:spAutoFit/>
          </a:bodyPr>
          <a:lstStyle/>
          <a:p>
            <a:pPr algn="l">
              <a:spcBef>
                <a:spcPts val="0"/>
              </a:spcBef>
              <a:spcAft>
                <a:spcPts val="0"/>
              </a:spcAft>
            </a:pPr>
            <a:r>
              <a:rPr sz="1500" b="0" i="0">
                <a:solidFill>
                  <a:srgbClr val="52626F"/>
                </a:solidFill>
                <a:latin typeface="Segoe UI"/>
              </a:rPr>
              <a:t>Repeating a request is idempotent: it returns the stored answer and changes nothing.</a:t>
            </a:r>
          </a:p>
        </p:txBody>
      </p:sp>
      <p:sp>
        <p:nvSpPr>
          <p:cNvPr id="48" name="Rounded Rectangle 47"/>
          <p:cNvSpPr/>
          <p:nvPr/>
        </p:nvSpPr>
        <p:spPr>
          <a:xfrm>
            <a:off x="6949440" y="4937760"/>
            <a:ext cx="4599432" cy="1280160"/>
          </a:xfrm>
          <a:prstGeom prst="roundRect">
            <a:avLst>
              <a:gd name="adj" fmla="val 10000"/>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ounded Rectangle 48"/>
          <p:cNvSpPr/>
          <p:nvPr/>
        </p:nvSpPr>
        <p:spPr>
          <a:xfrm>
            <a:off x="6949440" y="5120640"/>
            <a:ext cx="64008" cy="914399"/>
          </a:xfrm>
          <a:prstGeom prst="roundRect">
            <a:avLst>
              <a:gd name="adj" fmla="val 42857"/>
            </a:avLst>
          </a:prstGeom>
          <a:solidFill>
            <a:srgbClr val="D69B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7223760" y="5047488"/>
            <a:ext cx="4206240" cy="365760"/>
          </a:xfrm>
          <a:prstGeom prst="rect">
            <a:avLst/>
          </a:prstGeom>
          <a:noFill/>
        </p:spPr>
        <p:txBody>
          <a:bodyPr wrap="square" lIns="0" tIns="0" rIns="0" bIns="0" anchor="t">
            <a:spAutoFit/>
          </a:bodyPr>
          <a:lstStyle/>
          <a:p>
            <a:pPr algn="l">
              <a:spcBef>
                <a:spcPts val="0"/>
              </a:spcBef>
              <a:spcAft>
                <a:spcPts val="0"/>
              </a:spcAft>
            </a:pPr>
            <a:r>
              <a:rPr sz="1800" b="1" i="0">
                <a:solidFill>
                  <a:srgbClr val="0F1D26"/>
                </a:solidFill>
                <a:latin typeface="Segoe UI"/>
              </a:rPr>
              <a:t>Changed payload, rejected</a:t>
            </a:r>
          </a:p>
        </p:txBody>
      </p:sp>
      <p:sp>
        <p:nvSpPr>
          <p:cNvPr id="51" name="TextBox 50"/>
          <p:cNvSpPr txBox="1"/>
          <p:nvPr/>
        </p:nvSpPr>
        <p:spPr>
          <a:xfrm>
            <a:off x="7223760" y="5468112"/>
            <a:ext cx="4206240" cy="731520"/>
          </a:xfrm>
          <a:prstGeom prst="rect">
            <a:avLst/>
          </a:prstGeom>
          <a:noFill/>
        </p:spPr>
        <p:txBody>
          <a:bodyPr wrap="square" lIns="0" tIns="0" rIns="0" bIns="0" anchor="t">
            <a:spAutoFit/>
          </a:bodyPr>
          <a:lstStyle/>
          <a:p>
            <a:pPr algn="l">
              <a:spcBef>
                <a:spcPts val="0"/>
              </a:spcBef>
              <a:spcAft>
                <a:spcPts val="0"/>
              </a:spcAft>
            </a:pPr>
            <a:r>
              <a:rPr sz="1500" b="0" i="0">
                <a:solidFill>
                  <a:srgbClr val="52626F"/>
                </a:solidFill>
                <a:latin typeface="Segoe UI"/>
              </a:rPr>
              <a:t>Same ID with different amps is refused as a request ID conflict.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ounded Rectangle 1"/>
          <p:cNvSpPr/>
          <p:nvPr/>
        </p:nvSpPr>
        <p:spPr>
          <a:xfrm>
            <a:off x="640080" y="475488"/>
            <a:ext cx="292608" cy="54864"/>
          </a:xfrm>
          <a:prstGeom prst="roundRect">
            <a:avLst>
              <a:gd name="adj" fmla="val 50000"/>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51560" y="365760"/>
            <a:ext cx="7315200" cy="274320"/>
          </a:xfrm>
          <a:prstGeom prst="rect">
            <a:avLst/>
          </a:prstGeom>
          <a:noFill/>
        </p:spPr>
        <p:txBody>
          <a:bodyPr wrap="square" lIns="0" tIns="0" rIns="0" bIns="0" anchor="ctr">
            <a:spAutoFit/>
          </a:bodyPr>
          <a:lstStyle/>
          <a:p>
            <a:pPr algn="l">
              <a:spcBef>
                <a:spcPts val="0"/>
              </a:spcBef>
              <a:spcAft>
                <a:spcPts val="0"/>
              </a:spcAft>
            </a:pPr>
            <a:r>
              <a:rPr sz="1200" b="1" i="0">
                <a:solidFill>
                  <a:srgbClr val="0B7A65"/>
                </a:solidFill>
                <a:latin typeface="Segoe UI"/>
              </a:rPr>
              <a:t>SAFETY TIMING</a:t>
            </a:r>
          </a:p>
        </p:txBody>
      </p:sp>
      <p:sp>
        <p:nvSpPr>
          <p:cNvPr id="4" name="TextBox 3"/>
          <p:cNvSpPr txBox="1"/>
          <p:nvPr/>
        </p:nvSpPr>
        <p:spPr>
          <a:xfrm>
            <a:off x="640080" y="713232"/>
            <a:ext cx="10911535" cy="685800"/>
          </a:xfrm>
          <a:prstGeom prst="rect">
            <a:avLst/>
          </a:prstGeom>
          <a:noFill/>
        </p:spPr>
        <p:txBody>
          <a:bodyPr wrap="square" lIns="0" tIns="0" rIns="0" bIns="0" anchor="t">
            <a:spAutoFit/>
          </a:bodyPr>
          <a:lstStyle/>
          <a:p>
            <a:pPr algn="l">
              <a:spcBef>
                <a:spcPts val="0"/>
              </a:spcBef>
              <a:spcAft>
                <a:spcPts val="0"/>
              </a:spcAft>
            </a:pPr>
            <a:r>
              <a:rPr sz="3400" b="1" i="0">
                <a:solidFill>
                  <a:srgbClr val="0F1D26"/>
                </a:solidFill>
                <a:latin typeface="Segoe UI"/>
              </a:rPr>
              <a:t>Safe expiry, even when clocks drift</a:t>
            </a:r>
          </a:p>
        </p:txBody>
      </p:sp>
      <p:sp>
        <p:nvSpPr>
          <p:cNvPr id="5" name="TextBox 4"/>
          <p:cNvSpPr txBox="1"/>
          <p:nvPr/>
        </p:nvSpPr>
        <p:spPr>
          <a:xfrm>
            <a:off x="640080" y="6428232"/>
            <a:ext cx="4572000" cy="256032"/>
          </a:xfrm>
          <a:prstGeom prst="rect">
            <a:avLst/>
          </a:prstGeom>
          <a:noFill/>
        </p:spPr>
        <p:txBody>
          <a:bodyPr wrap="square" lIns="0" tIns="0" rIns="0" bIns="0" anchor="ctr">
            <a:spAutoFit/>
          </a:bodyPr>
          <a:lstStyle/>
          <a:p>
            <a:pPr algn="l">
              <a:spcBef>
                <a:spcPts val="0"/>
              </a:spcBef>
              <a:spcAft>
                <a:spcPts val="0"/>
              </a:spcAft>
            </a:pPr>
            <a:r>
              <a:rPr sz="1200" b="0" i="0">
                <a:solidFill>
                  <a:srgbClr val="52626F"/>
                </a:solidFill>
                <a:latin typeface="Segoe UI"/>
              </a:rPr>
              <a:t>Ishtirak · Distributed Systems</a:t>
            </a:r>
          </a:p>
        </p:txBody>
      </p:sp>
      <p:sp>
        <p:nvSpPr>
          <p:cNvPr id="6" name="TextBox 5"/>
          <p:cNvSpPr txBox="1"/>
          <p:nvPr/>
        </p:nvSpPr>
        <p:spPr>
          <a:xfrm>
            <a:off x="10180015" y="6428232"/>
            <a:ext cx="1371600" cy="256032"/>
          </a:xfrm>
          <a:prstGeom prst="rect">
            <a:avLst/>
          </a:prstGeom>
          <a:noFill/>
        </p:spPr>
        <p:txBody>
          <a:bodyPr wrap="square" lIns="0" tIns="0" rIns="0" bIns="0" anchor="ctr">
            <a:spAutoFit/>
          </a:bodyPr>
          <a:lstStyle/>
          <a:p>
            <a:pPr algn="r">
              <a:spcBef>
                <a:spcPts val="0"/>
              </a:spcBef>
              <a:spcAft>
                <a:spcPts val="0"/>
              </a:spcAft>
            </a:pPr>
            <a:r>
              <a:rPr sz="1200" b="0" i="0">
                <a:solidFill>
                  <a:srgbClr val="52626F"/>
                </a:solidFill>
                <a:latin typeface="Segoe UI"/>
              </a:rPr>
              <a:t>7 / 16</a:t>
            </a:r>
          </a:p>
        </p:txBody>
      </p:sp>
      <p:sp>
        <p:nvSpPr>
          <p:cNvPr id="7" name="TextBox 6"/>
          <p:cNvSpPr txBox="1"/>
          <p:nvPr/>
        </p:nvSpPr>
        <p:spPr>
          <a:xfrm>
            <a:off x="640080" y="1417320"/>
            <a:ext cx="10911535" cy="274320"/>
          </a:xfrm>
          <a:prstGeom prst="rect">
            <a:avLst/>
          </a:prstGeom>
          <a:noFill/>
        </p:spPr>
        <p:txBody>
          <a:bodyPr wrap="square" lIns="0" tIns="0" rIns="0" bIns="0" anchor="ctr">
            <a:spAutoFit/>
          </a:bodyPr>
          <a:lstStyle/>
          <a:p>
            <a:pPr algn="l">
              <a:spcBef>
                <a:spcPts val="0"/>
              </a:spcBef>
              <a:spcAft>
                <a:spcPts val="0"/>
              </a:spcAft>
            </a:pPr>
            <a:r>
              <a:rPr sz="1400" b="0" i="0">
                <a:solidFill>
                  <a:srgbClr val="52626F"/>
                </a:solidFill>
                <a:latin typeface="Segoe UI"/>
              </a:rPr>
              <a:t>One lease, in seconds on each machine’s monotonic clock (conceptual diagram)</a:t>
            </a:r>
          </a:p>
        </p:txBody>
      </p:sp>
      <p:sp>
        <p:nvSpPr>
          <p:cNvPr id="8" name="TextBox 7"/>
          <p:cNvSpPr txBox="1"/>
          <p:nvPr/>
        </p:nvSpPr>
        <p:spPr>
          <a:xfrm>
            <a:off x="640080" y="2057400"/>
            <a:ext cx="1371600" cy="548640"/>
          </a:xfrm>
          <a:prstGeom prst="rect">
            <a:avLst/>
          </a:prstGeom>
          <a:noFill/>
        </p:spPr>
        <p:txBody>
          <a:bodyPr wrap="square" lIns="0" tIns="0" rIns="0" bIns="0" anchor="ctr">
            <a:spAutoFit/>
          </a:bodyPr>
          <a:lstStyle/>
          <a:p>
            <a:pPr algn="l">
              <a:spcBef>
                <a:spcPts val="0"/>
              </a:spcBef>
              <a:spcAft>
                <a:spcPts val="0"/>
              </a:spcAft>
            </a:pPr>
            <a:r>
              <a:rPr sz="1600" b="1" i="0">
                <a:solidFill>
                  <a:srgbClr val="0F1D26"/>
                </a:solidFill>
                <a:latin typeface="Segoe UI"/>
              </a:rPr>
              <a:t>Gateway</a:t>
            </a:r>
          </a:p>
        </p:txBody>
      </p:sp>
      <p:sp>
        <p:nvSpPr>
          <p:cNvPr id="9" name="TextBox 8"/>
          <p:cNvSpPr txBox="1"/>
          <p:nvPr/>
        </p:nvSpPr>
        <p:spPr>
          <a:xfrm>
            <a:off x="640080" y="3108960"/>
            <a:ext cx="1417320" cy="548640"/>
          </a:xfrm>
          <a:prstGeom prst="rect">
            <a:avLst/>
          </a:prstGeom>
          <a:noFill/>
        </p:spPr>
        <p:txBody>
          <a:bodyPr wrap="square" lIns="0" tIns="0" rIns="0" bIns="0" anchor="ctr">
            <a:spAutoFit/>
          </a:bodyPr>
          <a:lstStyle/>
          <a:p>
            <a:pPr algn="l">
              <a:spcBef>
                <a:spcPts val="0"/>
              </a:spcBef>
              <a:spcAft>
                <a:spcPts val="0"/>
              </a:spcAft>
            </a:pPr>
            <a:r>
              <a:rPr sz="1600" b="1" i="0">
                <a:solidFill>
                  <a:srgbClr val="0F1D26"/>
                </a:solidFill>
                <a:latin typeface="Segoe UI"/>
              </a:rPr>
              <a:t>Coordinator</a:t>
            </a:r>
          </a:p>
        </p:txBody>
      </p:sp>
      <p:sp>
        <p:nvSpPr>
          <p:cNvPr id="10" name="Rounded Rectangle 9"/>
          <p:cNvSpPr/>
          <p:nvPr/>
        </p:nvSpPr>
        <p:spPr>
          <a:xfrm>
            <a:off x="2103120" y="2057400"/>
            <a:ext cx="6583679" cy="548640"/>
          </a:xfrm>
          <a:prstGeom prst="roundRect">
            <a:avLst>
              <a:gd name="adj" fmla="val 16666"/>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500" b="1" i="0">
                <a:solidFill>
                  <a:srgbClr val="FFFFFF"/>
                </a:solidFill>
                <a:latin typeface="Segoe UI"/>
              </a:rPr>
              <a:t>Gateway may serve this lease</a:t>
            </a:r>
          </a:p>
        </p:txBody>
      </p:sp>
      <p:sp>
        <p:nvSpPr>
          <p:cNvPr id="11" name="Rounded Rectangle 10"/>
          <p:cNvSpPr/>
          <p:nvPr/>
        </p:nvSpPr>
        <p:spPr>
          <a:xfrm>
            <a:off x="8686800" y="2057400"/>
            <a:ext cx="1316736" cy="548640"/>
          </a:xfrm>
          <a:prstGeom prst="roundRect">
            <a:avLst>
              <a:gd name="adj" fmla="val 16666"/>
            </a:avLst>
          </a:prstGeom>
          <a:noFill/>
          <a:ln w="25400">
            <a:solidFill>
              <a:srgbClr val="D69B3C"/>
            </a:solidFill>
            <a:prstDash val="dash"/>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300" b="1" i="0">
                <a:solidFill>
                  <a:srgbClr val="8F5F0B"/>
                </a:solidFill>
                <a:latin typeface="Segoe UI"/>
              </a:rPr>
              <a:t>2 s margin</a:t>
            </a:r>
          </a:p>
        </p:txBody>
      </p:sp>
      <p:sp>
        <p:nvSpPr>
          <p:cNvPr id="12" name="Rounded Rectangle 11"/>
          <p:cNvSpPr/>
          <p:nvPr/>
        </p:nvSpPr>
        <p:spPr>
          <a:xfrm>
            <a:off x="2103120" y="3108960"/>
            <a:ext cx="7900416" cy="548640"/>
          </a:xfrm>
          <a:prstGeom prst="roundRect">
            <a:avLst>
              <a:gd name="adj" fmla="val 16666"/>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500" b="1" i="0">
                <a:solidFill>
                  <a:srgbClr val="FFFFFF"/>
                </a:solidFill>
                <a:latin typeface="Segoe UI"/>
              </a:rPr>
              <a:t>Coordinator keeps the capacity reserved (12 s hold)</a:t>
            </a:r>
          </a:p>
        </p:txBody>
      </p:sp>
      <p:cxnSp>
        <p:nvCxnSpPr>
          <p:cNvPr id="13" name="Connector 12"/>
          <p:cNvCxnSpPr/>
          <p:nvPr/>
        </p:nvCxnSpPr>
        <p:spPr>
          <a:xfrm>
            <a:off x="2011679" y="3977639"/>
            <a:ext cx="8449057" cy="0"/>
          </a:xfrm>
          <a:prstGeom prst="line">
            <a:avLst/>
          </a:prstGeom>
          <a:ln w="22225">
            <a:solidFill>
              <a:srgbClr val="52626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03120" y="1920240"/>
            <a:ext cx="0" cy="2167128"/>
          </a:xfrm>
          <a:prstGeom prst="line">
            <a:avLst/>
          </a:prstGeom>
          <a:ln w="19050">
            <a:solidFill>
              <a:srgbClr val="0B7A65"/>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011679" y="4114800"/>
            <a:ext cx="1554480" cy="594360"/>
          </a:xfrm>
          <a:prstGeom prst="rect">
            <a:avLst/>
          </a:prstGeom>
          <a:noFill/>
        </p:spPr>
        <p:txBody>
          <a:bodyPr wrap="square" lIns="0" tIns="0" rIns="0" bIns="0" anchor="t">
            <a:spAutoFit/>
          </a:bodyPr>
          <a:lstStyle/>
          <a:p>
            <a:pPr algn="l">
              <a:spcBef>
                <a:spcPts val="0"/>
              </a:spcBef>
              <a:spcAft>
                <a:spcPts val="0"/>
              </a:spcAft>
            </a:pPr>
            <a:r>
              <a:rPr sz="1600" b="1" i="0">
                <a:solidFill>
                  <a:srgbClr val="0B7A65"/>
                </a:solidFill>
                <a:latin typeface="Segoe UI"/>
              </a:rPr>
              <a:t>0 s</a:t>
            </a:r>
          </a:p>
          <a:p>
            <a:pPr algn="l">
              <a:spcBef>
                <a:spcPts val="0"/>
              </a:spcBef>
              <a:spcAft>
                <a:spcPts val="0"/>
              </a:spcAft>
            </a:pPr>
            <a:r>
              <a:rPr sz="1300" b="0" i="0">
                <a:solidFill>
                  <a:srgbClr val="52626F"/>
                </a:solidFill>
                <a:latin typeface="Segoe UI"/>
              </a:rPr>
              <a:t>original send</a:t>
            </a:r>
          </a:p>
        </p:txBody>
      </p:sp>
      <p:cxnSp>
        <p:nvCxnSpPr>
          <p:cNvPr id="16" name="Connector 15"/>
          <p:cNvCxnSpPr/>
          <p:nvPr/>
        </p:nvCxnSpPr>
        <p:spPr>
          <a:xfrm>
            <a:off x="8686800" y="1920240"/>
            <a:ext cx="0" cy="2167128"/>
          </a:xfrm>
          <a:prstGeom prst="line">
            <a:avLst/>
          </a:prstGeom>
          <a:ln w="19050">
            <a:solidFill>
              <a:srgbClr val="8F5F0B"/>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406640" y="4114800"/>
            <a:ext cx="1280160" cy="594360"/>
          </a:xfrm>
          <a:prstGeom prst="rect">
            <a:avLst/>
          </a:prstGeom>
          <a:noFill/>
        </p:spPr>
        <p:txBody>
          <a:bodyPr wrap="square" lIns="0" tIns="0" rIns="0" bIns="0" anchor="t">
            <a:spAutoFit/>
          </a:bodyPr>
          <a:lstStyle/>
          <a:p>
            <a:pPr algn="r">
              <a:spcBef>
                <a:spcPts val="0"/>
              </a:spcBef>
              <a:spcAft>
                <a:spcPts val="0"/>
              </a:spcAft>
            </a:pPr>
            <a:r>
              <a:rPr sz="1600" b="1" i="0">
                <a:solidFill>
                  <a:srgbClr val="8F5F0B"/>
                </a:solidFill>
                <a:latin typeface="Segoe UI"/>
              </a:rPr>
              <a:t>10 s</a:t>
            </a:r>
          </a:p>
          <a:p>
            <a:pPr algn="r">
              <a:spcBef>
                <a:spcPts val="0"/>
              </a:spcBef>
              <a:spcAft>
                <a:spcPts val="0"/>
              </a:spcAft>
            </a:pPr>
            <a:r>
              <a:rPr sz="1300" b="0" i="0">
                <a:solidFill>
                  <a:srgbClr val="52626F"/>
                </a:solidFill>
                <a:latin typeface="Segoe UI"/>
              </a:rPr>
              <a:t>gateway stops</a:t>
            </a:r>
          </a:p>
        </p:txBody>
      </p:sp>
      <p:cxnSp>
        <p:nvCxnSpPr>
          <p:cNvPr id="18" name="Connector 17"/>
          <p:cNvCxnSpPr/>
          <p:nvPr/>
        </p:nvCxnSpPr>
        <p:spPr>
          <a:xfrm>
            <a:off x="10003536" y="1920240"/>
            <a:ext cx="0" cy="2167128"/>
          </a:xfrm>
          <a:prstGeom prst="line">
            <a:avLst/>
          </a:prstGeom>
          <a:ln w="19050">
            <a:solidFill>
              <a:srgbClr val="3F5FB8"/>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912096" y="4114800"/>
            <a:ext cx="1554480" cy="594360"/>
          </a:xfrm>
          <a:prstGeom prst="rect">
            <a:avLst/>
          </a:prstGeom>
          <a:noFill/>
        </p:spPr>
        <p:txBody>
          <a:bodyPr wrap="square" lIns="0" tIns="0" rIns="0" bIns="0" anchor="t">
            <a:spAutoFit/>
          </a:bodyPr>
          <a:lstStyle/>
          <a:p>
            <a:pPr algn="l">
              <a:spcBef>
                <a:spcPts val="0"/>
              </a:spcBef>
              <a:spcAft>
                <a:spcPts val="0"/>
              </a:spcAft>
            </a:pPr>
            <a:r>
              <a:rPr sz="1600" b="1" i="0">
                <a:solidFill>
                  <a:srgbClr val="3F5FB8"/>
                </a:solidFill>
                <a:latin typeface="Segoe UI"/>
              </a:rPr>
              <a:t>12 s</a:t>
            </a:r>
          </a:p>
          <a:p>
            <a:pPr algn="l">
              <a:spcBef>
                <a:spcPts val="0"/>
              </a:spcBef>
              <a:spcAft>
                <a:spcPts val="0"/>
              </a:spcAft>
            </a:pPr>
            <a:r>
              <a:rPr sz="1300" b="0" i="0">
                <a:solidFill>
                  <a:srgbClr val="52626F"/>
                </a:solidFill>
                <a:latin typeface="Segoe UI"/>
              </a:rPr>
              <a:t>earliest reclaim</a:t>
            </a:r>
          </a:p>
        </p:txBody>
      </p:sp>
      <p:sp>
        <p:nvSpPr>
          <p:cNvPr id="20" name="TextBox 19"/>
          <p:cNvSpPr txBox="1"/>
          <p:nvPr/>
        </p:nvSpPr>
        <p:spPr>
          <a:xfrm>
            <a:off x="10113264" y="3108960"/>
            <a:ext cx="1371600" cy="548640"/>
          </a:xfrm>
          <a:prstGeom prst="rect">
            <a:avLst/>
          </a:prstGeom>
          <a:noFill/>
        </p:spPr>
        <p:txBody>
          <a:bodyPr wrap="square" lIns="0" tIns="0" rIns="0" bIns="0" anchor="ctr">
            <a:spAutoFit/>
          </a:bodyPr>
          <a:lstStyle/>
          <a:p>
            <a:pPr algn="l">
              <a:spcBef>
                <a:spcPts val="0"/>
              </a:spcBef>
              <a:spcAft>
                <a:spcPts val="0"/>
              </a:spcAft>
            </a:pPr>
            <a:r>
              <a:rPr sz="1200" b="0" i="0">
                <a:solidFill>
                  <a:srgbClr val="52626F"/>
                </a:solidFill>
                <a:latin typeface="Segoe UI"/>
              </a:rPr>
              <a:t>then expiry is committed</a:t>
            </a:r>
          </a:p>
        </p:txBody>
      </p:sp>
      <p:sp>
        <p:nvSpPr>
          <p:cNvPr id="21" name="Rounded Rectangle 20"/>
          <p:cNvSpPr/>
          <p:nvPr/>
        </p:nvSpPr>
        <p:spPr>
          <a:xfrm>
            <a:off x="640080" y="4754880"/>
            <a:ext cx="3520440" cy="1554480"/>
          </a:xfrm>
          <a:prstGeom prst="roundRect">
            <a:avLst>
              <a:gd name="adj" fmla="val 8235"/>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640080" y="4937760"/>
            <a:ext cx="64008" cy="1188719"/>
          </a:xfrm>
          <a:prstGeom prst="roundRect">
            <a:avLst>
              <a:gd name="adj" fmla="val 42857"/>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96112" y="4828032"/>
            <a:ext cx="3108960" cy="365760"/>
          </a:xfrm>
          <a:prstGeom prst="rect">
            <a:avLst/>
          </a:prstGeom>
          <a:noFill/>
        </p:spPr>
        <p:txBody>
          <a:bodyPr wrap="square" lIns="0" tIns="0" rIns="0" bIns="0" anchor="t">
            <a:spAutoFit/>
          </a:bodyPr>
          <a:lstStyle/>
          <a:p>
            <a:pPr algn="l">
              <a:spcBef>
                <a:spcPts val="0"/>
              </a:spcBef>
              <a:spcAft>
                <a:spcPts val="0"/>
              </a:spcAft>
            </a:pPr>
            <a:r>
              <a:rPr sz="1600" b="1" i="0">
                <a:solidFill>
                  <a:srgbClr val="0F1D26"/>
                </a:solidFill>
                <a:latin typeface="Segoe UI"/>
              </a:rPr>
              <a:t>Retries never restart the clock</a:t>
            </a:r>
          </a:p>
        </p:txBody>
      </p:sp>
      <p:sp>
        <p:nvSpPr>
          <p:cNvPr id="24" name="TextBox 23"/>
          <p:cNvSpPr txBox="1"/>
          <p:nvPr/>
        </p:nvSpPr>
        <p:spPr>
          <a:xfrm>
            <a:off x="896112" y="5184648"/>
            <a:ext cx="3108960" cy="1097280"/>
          </a:xfrm>
          <a:prstGeom prst="rect">
            <a:avLst/>
          </a:prstGeom>
          <a:noFill/>
        </p:spPr>
        <p:txBody>
          <a:bodyPr wrap="square" lIns="0" tIns="0" rIns="0" bIns="0" anchor="t">
            <a:spAutoFit/>
          </a:bodyPr>
          <a:lstStyle/>
          <a:p>
            <a:pPr algn="l">
              <a:spcBef>
                <a:spcPts val="0"/>
              </a:spcBef>
              <a:spcAft>
                <a:spcPts val="0"/>
              </a:spcAft>
            </a:pPr>
            <a:r>
              <a:rPr sz="1400" b="0" i="0">
                <a:solidFill>
                  <a:srgbClr val="52626F"/>
                </a:solidFill>
                <a:latin typeface="Segoe UI"/>
              </a:rPr>
              <a:t>A retry or a duplicate reply keeps the original first-send time. Late or mismatched replies are rejected.</a:t>
            </a:r>
          </a:p>
        </p:txBody>
      </p:sp>
      <p:sp>
        <p:nvSpPr>
          <p:cNvPr id="25" name="Rounded Rectangle 24"/>
          <p:cNvSpPr/>
          <p:nvPr/>
        </p:nvSpPr>
        <p:spPr>
          <a:xfrm>
            <a:off x="4334256" y="4754880"/>
            <a:ext cx="3520440" cy="1554480"/>
          </a:xfrm>
          <a:prstGeom prst="roundRect">
            <a:avLst>
              <a:gd name="adj" fmla="val 8235"/>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4334256" y="4937760"/>
            <a:ext cx="64008" cy="1188719"/>
          </a:xfrm>
          <a:prstGeom prst="roundRect">
            <a:avLst>
              <a:gd name="adj" fmla="val 42857"/>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4590288" y="4828032"/>
            <a:ext cx="3108960" cy="365760"/>
          </a:xfrm>
          <a:prstGeom prst="rect">
            <a:avLst/>
          </a:prstGeom>
          <a:noFill/>
        </p:spPr>
        <p:txBody>
          <a:bodyPr wrap="square" lIns="0" tIns="0" rIns="0" bIns="0" anchor="t">
            <a:spAutoFit/>
          </a:bodyPr>
          <a:lstStyle/>
          <a:p>
            <a:pPr algn="l">
              <a:spcBef>
                <a:spcPts val="0"/>
              </a:spcBef>
              <a:spcAft>
                <a:spcPts val="0"/>
              </a:spcAft>
            </a:pPr>
            <a:r>
              <a:rPr sz="1600" b="1" i="0">
                <a:solidFill>
                  <a:srgbClr val="0F1D26"/>
                </a:solidFill>
                <a:latin typeface="Segoe UI"/>
              </a:rPr>
              <a:t>A new leader restarts holds</a:t>
            </a:r>
          </a:p>
        </p:txBody>
      </p:sp>
      <p:sp>
        <p:nvSpPr>
          <p:cNvPr id="28" name="TextBox 27"/>
          <p:cNvSpPr txBox="1"/>
          <p:nvPr/>
        </p:nvSpPr>
        <p:spPr>
          <a:xfrm>
            <a:off x="4590288" y="5184648"/>
            <a:ext cx="3108960" cy="1097280"/>
          </a:xfrm>
          <a:prstGeom prst="rect">
            <a:avLst/>
          </a:prstGeom>
          <a:noFill/>
        </p:spPr>
        <p:txBody>
          <a:bodyPr wrap="square" lIns="0" tIns="0" rIns="0" bIns="0" anchor="t">
            <a:spAutoFit/>
          </a:bodyPr>
          <a:lstStyle/>
          <a:p>
            <a:pPr algn="l">
              <a:spcBef>
                <a:spcPts val="0"/>
              </a:spcBef>
              <a:spcAft>
                <a:spcPts val="0"/>
              </a:spcAft>
            </a:pPr>
            <a:r>
              <a:rPr sz="1400" b="0" i="0">
                <a:solidFill>
                  <a:srgbClr val="52626F"/>
                </a:solidFill>
                <a:latin typeface="Segoe UI"/>
              </a:rPr>
              <a:t>Expiry is a committed command fenced by building, lease version and Raft term: a stale leader cannot erase a newer lease.</a:t>
            </a:r>
          </a:p>
        </p:txBody>
      </p:sp>
      <p:sp>
        <p:nvSpPr>
          <p:cNvPr id="29" name="Rounded Rectangle 28"/>
          <p:cNvSpPr/>
          <p:nvPr/>
        </p:nvSpPr>
        <p:spPr>
          <a:xfrm>
            <a:off x="8028431" y="4754880"/>
            <a:ext cx="3520440" cy="1554480"/>
          </a:xfrm>
          <a:prstGeom prst="roundRect">
            <a:avLst>
              <a:gd name="adj" fmla="val 8235"/>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8028431" y="4937760"/>
            <a:ext cx="64008" cy="1188719"/>
          </a:xfrm>
          <a:prstGeom prst="roundRect">
            <a:avLst>
              <a:gd name="adj" fmla="val 42857"/>
            </a:avLst>
          </a:prstGeom>
          <a:solidFill>
            <a:srgbClr val="D69B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8284463" y="4828032"/>
            <a:ext cx="3108960" cy="365760"/>
          </a:xfrm>
          <a:prstGeom prst="rect">
            <a:avLst/>
          </a:prstGeom>
          <a:noFill/>
        </p:spPr>
        <p:txBody>
          <a:bodyPr wrap="square" lIns="0" tIns="0" rIns="0" bIns="0" anchor="t">
            <a:spAutoFit/>
          </a:bodyPr>
          <a:lstStyle/>
          <a:p>
            <a:pPr algn="l">
              <a:spcBef>
                <a:spcPts val="0"/>
              </a:spcBef>
              <a:spcAft>
                <a:spcPts val="0"/>
              </a:spcAft>
            </a:pPr>
            <a:r>
              <a:rPr sz="1600" b="1" i="0">
                <a:solidFill>
                  <a:srgbClr val="0F1D26"/>
                </a:solidFill>
                <a:latin typeface="Segoe UI"/>
              </a:rPr>
              <a:t>Only clock rates matter</a:t>
            </a:r>
          </a:p>
        </p:txBody>
      </p:sp>
      <p:sp>
        <p:nvSpPr>
          <p:cNvPr id="32" name="TextBox 31"/>
          <p:cNvSpPr txBox="1"/>
          <p:nvPr/>
        </p:nvSpPr>
        <p:spPr>
          <a:xfrm>
            <a:off x="8284463" y="5184648"/>
            <a:ext cx="3108960" cy="1097280"/>
          </a:xfrm>
          <a:prstGeom prst="rect">
            <a:avLst/>
          </a:prstGeom>
          <a:noFill/>
        </p:spPr>
        <p:txBody>
          <a:bodyPr wrap="square" lIns="0" tIns="0" rIns="0" bIns="0" anchor="t">
            <a:spAutoFit/>
          </a:bodyPr>
          <a:lstStyle/>
          <a:p>
            <a:pPr algn="l">
              <a:spcBef>
                <a:spcPts val="0"/>
              </a:spcBef>
              <a:spcAft>
                <a:spcPts val="0"/>
              </a:spcAft>
            </a:pPr>
            <a:r>
              <a:rPr sz="1400" b="0" i="0">
                <a:solidFill>
                  <a:srgbClr val="52626F"/>
                </a:solidFill>
                <a:latin typeface="Segoe UI"/>
              </a:rPr>
              <a:t>At most 1% rate error: gateway stops within about 10.10 s, coordinator waits at least about 11.88 s (real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ounded Rectangle 1"/>
          <p:cNvSpPr/>
          <p:nvPr/>
        </p:nvSpPr>
        <p:spPr>
          <a:xfrm>
            <a:off x="640080" y="475488"/>
            <a:ext cx="292608" cy="54864"/>
          </a:xfrm>
          <a:prstGeom prst="roundRect">
            <a:avLst>
              <a:gd name="adj" fmla="val 50000"/>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51560" y="365760"/>
            <a:ext cx="7315200" cy="274320"/>
          </a:xfrm>
          <a:prstGeom prst="rect">
            <a:avLst/>
          </a:prstGeom>
          <a:noFill/>
        </p:spPr>
        <p:txBody>
          <a:bodyPr wrap="square" lIns="0" tIns="0" rIns="0" bIns="0" anchor="ctr">
            <a:spAutoFit/>
          </a:bodyPr>
          <a:lstStyle/>
          <a:p>
            <a:pPr algn="l">
              <a:spcBef>
                <a:spcPts val="0"/>
              </a:spcBef>
              <a:spcAft>
                <a:spcPts val="0"/>
              </a:spcAft>
            </a:pPr>
            <a:r>
              <a:rPr sz="1200" b="1" i="0">
                <a:solidFill>
                  <a:srgbClr val="0B7A65"/>
                </a:solidFill>
                <a:latin typeface="Segoe UI"/>
              </a:rPr>
              <a:t>THE LIVE DASHBOARD</a:t>
            </a:r>
          </a:p>
        </p:txBody>
      </p:sp>
      <p:sp>
        <p:nvSpPr>
          <p:cNvPr id="4" name="TextBox 3"/>
          <p:cNvSpPr txBox="1"/>
          <p:nvPr/>
        </p:nvSpPr>
        <p:spPr>
          <a:xfrm>
            <a:off x="640080" y="713232"/>
            <a:ext cx="10911535" cy="685800"/>
          </a:xfrm>
          <a:prstGeom prst="rect">
            <a:avLst/>
          </a:prstGeom>
          <a:noFill/>
        </p:spPr>
        <p:txBody>
          <a:bodyPr wrap="square" lIns="0" tIns="0" rIns="0" bIns="0" anchor="t">
            <a:spAutoFit/>
          </a:bodyPr>
          <a:lstStyle/>
          <a:p>
            <a:pPr algn="l">
              <a:spcBef>
                <a:spcPts val="0"/>
              </a:spcBef>
              <a:spcAft>
                <a:spcPts val="0"/>
              </a:spcAft>
            </a:pPr>
            <a:r>
              <a:rPr sz="3400" b="1" i="0">
                <a:solidFill>
                  <a:srgbClr val="0F1D26"/>
                </a:solidFill>
                <a:latin typeface="Segoe UI"/>
              </a:rPr>
              <a:t>Everything you see is a real observation</a:t>
            </a:r>
          </a:p>
        </p:txBody>
      </p:sp>
      <p:sp>
        <p:nvSpPr>
          <p:cNvPr id="5" name="TextBox 4"/>
          <p:cNvSpPr txBox="1"/>
          <p:nvPr/>
        </p:nvSpPr>
        <p:spPr>
          <a:xfrm>
            <a:off x="640080" y="6428232"/>
            <a:ext cx="4572000" cy="256032"/>
          </a:xfrm>
          <a:prstGeom prst="rect">
            <a:avLst/>
          </a:prstGeom>
          <a:noFill/>
        </p:spPr>
        <p:txBody>
          <a:bodyPr wrap="square" lIns="0" tIns="0" rIns="0" bIns="0" anchor="ctr">
            <a:spAutoFit/>
          </a:bodyPr>
          <a:lstStyle/>
          <a:p>
            <a:pPr algn="l">
              <a:spcBef>
                <a:spcPts val="0"/>
              </a:spcBef>
              <a:spcAft>
                <a:spcPts val="0"/>
              </a:spcAft>
            </a:pPr>
            <a:r>
              <a:rPr sz="1200" b="0" i="0">
                <a:solidFill>
                  <a:srgbClr val="52626F"/>
                </a:solidFill>
                <a:latin typeface="Segoe UI"/>
              </a:rPr>
              <a:t>Ishtirak · Distributed Systems</a:t>
            </a:r>
          </a:p>
        </p:txBody>
      </p:sp>
      <p:sp>
        <p:nvSpPr>
          <p:cNvPr id="6" name="TextBox 5"/>
          <p:cNvSpPr txBox="1"/>
          <p:nvPr/>
        </p:nvSpPr>
        <p:spPr>
          <a:xfrm>
            <a:off x="10180015" y="6428232"/>
            <a:ext cx="1371600" cy="256032"/>
          </a:xfrm>
          <a:prstGeom prst="rect">
            <a:avLst/>
          </a:prstGeom>
          <a:noFill/>
        </p:spPr>
        <p:txBody>
          <a:bodyPr wrap="square" lIns="0" tIns="0" rIns="0" bIns="0" anchor="ctr">
            <a:spAutoFit/>
          </a:bodyPr>
          <a:lstStyle/>
          <a:p>
            <a:pPr algn="r">
              <a:spcBef>
                <a:spcPts val="0"/>
              </a:spcBef>
              <a:spcAft>
                <a:spcPts val="0"/>
              </a:spcAft>
            </a:pPr>
            <a:r>
              <a:rPr sz="1200" b="0" i="0">
                <a:solidFill>
                  <a:srgbClr val="52626F"/>
                </a:solidFill>
                <a:latin typeface="Segoe UI"/>
              </a:rPr>
              <a:t>8 / 16</a:t>
            </a:r>
          </a:p>
        </p:txBody>
      </p:sp>
      <p:pic>
        <p:nvPicPr>
          <p:cNvPr id="7" name="Picture 6" descr="overview-hero-cards.png"/>
          <p:cNvPicPr>
            <a:picLocks noChangeAspect="1"/>
          </p:cNvPicPr>
          <p:nvPr/>
        </p:nvPicPr>
        <p:blipFill>
          <a:blip r:embed="rId2"/>
          <a:stretch>
            <a:fillRect/>
          </a:stretch>
        </p:blipFill>
        <p:spPr>
          <a:xfrm>
            <a:off x="1097280" y="1554480"/>
            <a:ext cx="5486400" cy="2488130"/>
          </a:xfrm>
          <a:prstGeom prst="rect">
            <a:avLst/>
          </a:prstGeom>
          <a:ln w="12700">
            <a:solidFill>
              <a:srgbClr val="DDE5EB"/>
            </a:solidFill>
          </a:ln>
        </p:spPr>
      </p:pic>
      <p:pic>
        <p:nvPicPr>
          <p:cNvPr id="8" name="Picture 7" descr="overview-raft.png"/>
          <p:cNvPicPr>
            <a:picLocks noChangeAspect="1"/>
          </p:cNvPicPr>
          <p:nvPr/>
        </p:nvPicPr>
        <p:blipFill>
          <a:blip r:embed="rId3"/>
          <a:stretch>
            <a:fillRect/>
          </a:stretch>
        </p:blipFill>
        <p:spPr>
          <a:xfrm>
            <a:off x="1097280" y="4179770"/>
            <a:ext cx="5486400" cy="1973178"/>
          </a:xfrm>
          <a:prstGeom prst="rect">
            <a:avLst/>
          </a:prstGeom>
          <a:ln w="12700">
            <a:solidFill>
              <a:srgbClr val="DDE5EB"/>
            </a:solidFill>
          </a:ln>
        </p:spPr>
      </p:pic>
      <p:sp>
        <p:nvSpPr>
          <p:cNvPr id="9" name="Oval 8"/>
          <p:cNvSpPr/>
          <p:nvPr/>
        </p:nvSpPr>
        <p:spPr>
          <a:xfrm>
            <a:off x="649224" y="2127183"/>
            <a:ext cx="347472" cy="347472"/>
          </a:xfrm>
          <a:prstGeom prst="ellipse">
            <a:avLst/>
          </a:prstGeom>
          <a:solidFill>
            <a:srgbClr val="14A58A"/>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400" b="1" i="0">
                <a:solidFill>
                  <a:srgbClr val="FFFFFF"/>
                </a:solidFill>
                <a:latin typeface="Segoe UI"/>
              </a:rPr>
              <a:t>1</a:t>
            </a:r>
          </a:p>
        </p:txBody>
      </p:sp>
      <p:sp>
        <p:nvSpPr>
          <p:cNvPr id="10" name="Oval 9"/>
          <p:cNvSpPr/>
          <p:nvPr/>
        </p:nvSpPr>
        <p:spPr>
          <a:xfrm>
            <a:off x="649224" y="3371248"/>
            <a:ext cx="347472" cy="347472"/>
          </a:xfrm>
          <a:prstGeom prst="ellipse">
            <a:avLst/>
          </a:prstGeom>
          <a:solidFill>
            <a:srgbClr val="14A58A"/>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400" b="1" i="0">
                <a:solidFill>
                  <a:srgbClr val="FFFFFF"/>
                </a:solidFill>
                <a:latin typeface="Segoe UI"/>
              </a:rPr>
              <a:t>2</a:t>
            </a:r>
          </a:p>
        </p:txBody>
      </p:sp>
      <p:sp>
        <p:nvSpPr>
          <p:cNvPr id="11" name="Oval 10"/>
          <p:cNvSpPr/>
          <p:nvPr/>
        </p:nvSpPr>
        <p:spPr>
          <a:xfrm>
            <a:off x="649224" y="4992624"/>
            <a:ext cx="347472" cy="347472"/>
          </a:xfrm>
          <a:prstGeom prst="ellipse">
            <a:avLst/>
          </a:prstGeom>
          <a:solidFill>
            <a:srgbClr val="14A58A"/>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400" b="1" i="0">
                <a:solidFill>
                  <a:srgbClr val="FFFFFF"/>
                </a:solidFill>
                <a:latin typeface="Segoe UI"/>
              </a:rPr>
              <a:t>3</a:t>
            </a:r>
          </a:p>
        </p:txBody>
      </p:sp>
      <p:sp>
        <p:nvSpPr>
          <p:cNvPr id="12" name="Oval 11"/>
          <p:cNvSpPr/>
          <p:nvPr/>
        </p:nvSpPr>
        <p:spPr>
          <a:xfrm>
            <a:off x="7498079" y="1645920"/>
            <a:ext cx="384048" cy="384048"/>
          </a:xfrm>
          <a:prstGeom prst="ellipse">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500" b="1" i="0">
                <a:solidFill>
                  <a:srgbClr val="FFFFFF"/>
                </a:solidFill>
                <a:latin typeface="Segoe UI"/>
              </a:rPr>
              <a:t>1</a:t>
            </a:r>
          </a:p>
        </p:txBody>
      </p:sp>
      <p:sp>
        <p:nvSpPr>
          <p:cNvPr id="13" name="TextBox 12"/>
          <p:cNvSpPr txBox="1"/>
          <p:nvPr/>
        </p:nvSpPr>
        <p:spPr>
          <a:xfrm>
            <a:off x="8046720" y="1600200"/>
            <a:ext cx="3520440" cy="347472"/>
          </a:xfrm>
          <a:prstGeom prst="rect">
            <a:avLst/>
          </a:prstGeom>
          <a:noFill/>
        </p:spPr>
        <p:txBody>
          <a:bodyPr wrap="square" lIns="0" tIns="0" rIns="0" bIns="0" anchor="ctr">
            <a:spAutoFit/>
          </a:bodyPr>
          <a:lstStyle/>
          <a:p>
            <a:pPr algn="l">
              <a:spcBef>
                <a:spcPts val="0"/>
              </a:spcBef>
              <a:spcAft>
                <a:spcPts val="0"/>
              </a:spcAft>
            </a:pPr>
            <a:r>
              <a:rPr sz="1700" b="1" i="0">
                <a:solidFill>
                  <a:srgbClr val="0F1D26"/>
                </a:solidFill>
                <a:latin typeface="Segoe UI"/>
              </a:rPr>
              <a:t>Grid at a glance</a:t>
            </a:r>
          </a:p>
        </p:txBody>
      </p:sp>
      <p:sp>
        <p:nvSpPr>
          <p:cNvPr id="14" name="TextBox 13"/>
          <p:cNvSpPr txBox="1"/>
          <p:nvPr/>
        </p:nvSpPr>
        <p:spPr>
          <a:xfrm>
            <a:off x="8046720" y="1965960"/>
            <a:ext cx="3520440" cy="685800"/>
          </a:xfrm>
          <a:prstGeom prst="rect">
            <a:avLst/>
          </a:prstGeom>
          <a:noFill/>
        </p:spPr>
        <p:txBody>
          <a:bodyPr wrap="square" lIns="0" tIns="0" rIns="0" bIns="0" anchor="t">
            <a:spAutoFit/>
          </a:bodyPr>
          <a:lstStyle/>
          <a:p>
            <a:pPr algn="l">
              <a:spcBef>
                <a:spcPts val="0"/>
              </a:spcBef>
              <a:spcAft>
                <a:spcPts val="0"/>
              </a:spcAft>
            </a:pPr>
            <a:r>
              <a:rPr sz="1400" b="0" i="0">
                <a:solidFill>
                  <a:srgbClr val="52626F"/>
                </a:solidFill>
                <a:latin typeface="Segoe UI"/>
              </a:rPr>
              <a:t>The generator and the three buildings it feeds, with live status.</a:t>
            </a:r>
          </a:p>
        </p:txBody>
      </p:sp>
      <p:sp>
        <p:nvSpPr>
          <p:cNvPr id="15" name="Oval 14"/>
          <p:cNvSpPr/>
          <p:nvPr/>
        </p:nvSpPr>
        <p:spPr>
          <a:xfrm>
            <a:off x="7498079" y="2651760"/>
            <a:ext cx="384048" cy="384048"/>
          </a:xfrm>
          <a:prstGeom prst="ellipse">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500" b="1" i="0">
                <a:solidFill>
                  <a:srgbClr val="FFFFFF"/>
                </a:solidFill>
                <a:latin typeface="Segoe UI"/>
              </a:rPr>
              <a:t>2</a:t>
            </a:r>
          </a:p>
        </p:txBody>
      </p:sp>
      <p:sp>
        <p:nvSpPr>
          <p:cNvPr id="16" name="TextBox 15"/>
          <p:cNvSpPr txBox="1"/>
          <p:nvPr/>
        </p:nvSpPr>
        <p:spPr>
          <a:xfrm>
            <a:off x="8046720" y="2606040"/>
            <a:ext cx="3520440" cy="347472"/>
          </a:xfrm>
          <a:prstGeom prst="rect">
            <a:avLst/>
          </a:prstGeom>
          <a:noFill/>
        </p:spPr>
        <p:txBody>
          <a:bodyPr wrap="square" lIns="0" tIns="0" rIns="0" bIns="0" anchor="ctr">
            <a:spAutoFit/>
          </a:bodyPr>
          <a:lstStyle/>
          <a:p>
            <a:pPr algn="l">
              <a:spcBef>
                <a:spcPts val="0"/>
              </a:spcBef>
              <a:spcAft>
                <a:spcPts val="0"/>
              </a:spcAft>
            </a:pPr>
            <a:r>
              <a:rPr sz="1700" b="1" i="0">
                <a:solidFill>
                  <a:srgbClr val="0F1D26"/>
                </a:solidFill>
                <a:latin typeface="Segoe UI"/>
              </a:rPr>
              <a:t>Capacity cards</a:t>
            </a:r>
          </a:p>
        </p:txBody>
      </p:sp>
      <p:sp>
        <p:nvSpPr>
          <p:cNvPr id="17" name="TextBox 16"/>
          <p:cNvSpPr txBox="1"/>
          <p:nvPr/>
        </p:nvSpPr>
        <p:spPr>
          <a:xfrm>
            <a:off x="8046720" y="2971800"/>
            <a:ext cx="3520440" cy="685800"/>
          </a:xfrm>
          <a:prstGeom prst="rect">
            <a:avLst/>
          </a:prstGeom>
          <a:noFill/>
        </p:spPr>
        <p:txBody>
          <a:bodyPr wrap="square" lIns="0" tIns="0" rIns="0" bIns="0" anchor="t">
            <a:spAutoFit/>
          </a:bodyPr>
          <a:lstStyle/>
          <a:p>
            <a:pPr algn="l">
              <a:spcBef>
                <a:spcPts val="0"/>
              </a:spcBef>
              <a:spcAft>
                <a:spcPts val="0"/>
              </a:spcAft>
            </a:pPr>
            <a:r>
              <a:rPr sz="1400" b="0" i="0">
                <a:solidFill>
                  <a:srgbClr val="52626F"/>
                </a:solidFill>
                <a:latin typeface="Segoe UI"/>
              </a:rPr>
              <a:t>Fixed 120 A limit, amps granted, served demand, amps still available.</a:t>
            </a:r>
          </a:p>
        </p:txBody>
      </p:sp>
      <p:sp>
        <p:nvSpPr>
          <p:cNvPr id="18" name="Oval 17"/>
          <p:cNvSpPr/>
          <p:nvPr/>
        </p:nvSpPr>
        <p:spPr>
          <a:xfrm>
            <a:off x="7498079" y="3657600"/>
            <a:ext cx="384048" cy="384048"/>
          </a:xfrm>
          <a:prstGeom prst="ellipse">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500" b="1" i="0">
                <a:solidFill>
                  <a:srgbClr val="FFFFFF"/>
                </a:solidFill>
                <a:latin typeface="Segoe UI"/>
              </a:rPr>
              <a:t>3</a:t>
            </a:r>
          </a:p>
        </p:txBody>
      </p:sp>
      <p:sp>
        <p:nvSpPr>
          <p:cNvPr id="19" name="TextBox 18"/>
          <p:cNvSpPr txBox="1"/>
          <p:nvPr/>
        </p:nvSpPr>
        <p:spPr>
          <a:xfrm>
            <a:off x="8046720" y="3611880"/>
            <a:ext cx="3520440" cy="347472"/>
          </a:xfrm>
          <a:prstGeom prst="rect">
            <a:avLst/>
          </a:prstGeom>
          <a:noFill/>
        </p:spPr>
        <p:txBody>
          <a:bodyPr wrap="square" lIns="0" tIns="0" rIns="0" bIns="0" anchor="ctr">
            <a:spAutoFit/>
          </a:bodyPr>
          <a:lstStyle/>
          <a:p>
            <a:pPr algn="l">
              <a:spcBef>
                <a:spcPts val="0"/>
              </a:spcBef>
              <a:spcAft>
                <a:spcPts val="0"/>
              </a:spcAft>
            </a:pPr>
            <a:r>
              <a:rPr sz="1700" b="1" i="0">
                <a:solidFill>
                  <a:srgbClr val="0F1D26"/>
                </a:solidFill>
                <a:latin typeface="Segoe UI"/>
              </a:rPr>
              <a:t>Raft cluster</a:t>
            </a:r>
          </a:p>
        </p:txBody>
      </p:sp>
      <p:sp>
        <p:nvSpPr>
          <p:cNvPr id="20" name="TextBox 19"/>
          <p:cNvSpPr txBox="1"/>
          <p:nvPr/>
        </p:nvSpPr>
        <p:spPr>
          <a:xfrm>
            <a:off x="8046720" y="3977640"/>
            <a:ext cx="3520440" cy="685800"/>
          </a:xfrm>
          <a:prstGeom prst="rect">
            <a:avLst/>
          </a:prstGeom>
          <a:noFill/>
        </p:spPr>
        <p:txBody>
          <a:bodyPr wrap="square" lIns="0" tIns="0" rIns="0" bIns="0" anchor="t">
            <a:spAutoFit/>
          </a:bodyPr>
          <a:lstStyle/>
          <a:p>
            <a:pPr algn="l">
              <a:spcBef>
                <a:spcPts val="0"/>
              </a:spcBef>
              <a:spcAft>
                <a:spcPts val="0"/>
              </a:spcAft>
            </a:pPr>
            <a:r>
              <a:rPr sz="1400" b="0" i="0">
                <a:solidFill>
                  <a:srgbClr val="52626F"/>
                </a:solidFill>
                <a:latin typeface="Segoe UI"/>
              </a:rPr>
              <a:t>Leader and followers with their term and applied index; majority status.</a:t>
            </a:r>
          </a:p>
        </p:txBody>
      </p:sp>
      <p:sp>
        <p:nvSpPr>
          <p:cNvPr id="21" name="Oval 20"/>
          <p:cNvSpPr/>
          <p:nvPr/>
        </p:nvSpPr>
        <p:spPr>
          <a:xfrm>
            <a:off x="7498079" y="4663440"/>
            <a:ext cx="384048" cy="384048"/>
          </a:xfrm>
          <a:prstGeom prst="ellipse">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500" b="1" i="0">
                <a:solidFill>
                  <a:srgbClr val="FFFFFF"/>
                </a:solidFill>
                <a:latin typeface="Segoe UI"/>
              </a:rPr>
              <a:t>+</a:t>
            </a:r>
          </a:p>
        </p:txBody>
      </p:sp>
      <p:sp>
        <p:nvSpPr>
          <p:cNvPr id="22" name="TextBox 21"/>
          <p:cNvSpPr txBox="1"/>
          <p:nvPr/>
        </p:nvSpPr>
        <p:spPr>
          <a:xfrm>
            <a:off x="8046720" y="4617720"/>
            <a:ext cx="3520440" cy="347472"/>
          </a:xfrm>
          <a:prstGeom prst="rect">
            <a:avLst/>
          </a:prstGeom>
          <a:noFill/>
        </p:spPr>
        <p:txBody>
          <a:bodyPr wrap="square" lIns="0" tIns="0" rIns="0" bIns="0" anchor="ctr">
            <a:spAutoFit/>
          </a:bodyPr>
          <a:lstStyle/>
          <a:p>
            <a:pPr algn="l">
              <a:spcBef>
                <a:spcPts val="0"/>
              </a:spcBef>
              <a:spcAft>
                <a:spcPts val="0"/>
              </a:spcAft>
            </a:pPr>
            <a:r>
              <a:rPr sz="1700" b="1" i="0">
                <a:solidFill>
                  <a:srgbClr val="0F1D26"/>
                </a:solidFill>
                <a:latin typeface="Segoe UI"/>
              </a:rPr>
              <a:t>Further down the page</a:t>
            </a:r>
          </a:p>
        </p:txBody>
      </p:sp>
      <p:sp>
        <p:nvSpPr>
          <p:cNvPr id="23" name="TextBox 22"/>
          <p:cNvSpPr txBox="1"/>
          <p:nvPr/>
        </p:nvSpPr>
        <p:spPr>
          <a:xfrm>
            <a:off x="8046720" y="4983480"/>
            <a:ext cx="3520440" cy="685800"/>
          </a:xfrm>
          <a:prstGeom prst="rect">
            <a:avLst/>
          </a:prstGeom>
          <a:noFill/>
        </p:spPr>
        <p:txBody>
          <a:bodyPr wrap="square" lIns="0" tIns="0" rIns="0" bIns="0" anchor="t">
            <a:spAutoFit/>
          </a:bodyPr>
          <a:lstStyle/>
          <a:p>
            <a:pPr algn="l">
              <a:spcBef>
                <a:spcPts val="0"/>
              </a:spcBef>
              <a:spcAft>
                <a:spcPts val="0"/>
              </a:spcAft>
            </a:pPr>
            <a:r>
              <a:rPr sz="1400" b="0" i="0">
                <a:solidFill>
                  <a:srgbClr val="52626F"/>
                </a:solidFill>
                <a:latin typeface="Segoe UI"/>
              </a:rPr>
              <a:t>Building lease timers and a searchable audit log with JSON export.</a:t>
            </a:r>
          </a:p>
        </p:txBody>
      </p:sp>
      <p:sp>
        <p:nvSpPr>
          <p:cNvPr id="24" name="Rounded Rectangle 23"/>
          <p:cNvSpPr/>
          <p:nvPr/>
        </p:nvSpPr>
        <p:spPr>
          <a:xfrm>
            <a:off x="7498079" y="5669280"/>
            <a:ext cx="4050791" cy="594360"/>
          </a:xfrm>
          <a:prstGeom prst="roundRect">
            <a:avLst>
              <a:gd name="adj" fmla="val 21538"/>
            </a:avLst>
          </a:prstGeom>
          <a:solidFill>
            <a:srgbClr val="E3F5EF"/>
          </a:solidFill>
          <a:ln w="9525">
            <a:solidFill>
              <a:srgbClr val="14A58A"/>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500" b="1" i="0">
                <a:solidFill>
                  <a:srgbClr val="0B7A65"/>
                </a:solidFill>
                <a:latin typeface="Segoe UI"/>
              </a:rPr>
              <a:t>No synthetic history.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D26"/>
        </a:solidFill>
        <a:effectLst/>
      </p:bgPr>
    </p:bg>
    <p:spTree>
      <p:nvGrpSpPr>
        <p:cNvPr id="1" name=""/>
        <p:cNvGrpSpPr/>
        <p:nvPr/>
      </p:nvGrpSpPr>
      <p:grpSpPr/>
      <p:sp>
        <p:nvSpPr>
          <p:cNvPr id="2" name="Rounded Rectangle 1"/>
          <p:cNvSpPr/>
          <p:nvPr/>
        </p:nvSpPr>
        <p:spPr>
          <a:xfrm>
            <a:off x="640080" y="475488"/>
            <a:ext cx="292608" cy="54864"/>
          </a:xfrm>
          <a:prstGeom prst="roundRect">
            <a:avLst>
              <a:gd name="adj" fmla="val 50000"/>
            </a:avLst>
          </a:prstGeom>
          <a:solidFill>
            <a:srgbClr val="7FE3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51560" y="365760"/>
            <a:ext cx="7315200" cy="274320"/>
          </a:xfrm>
          <a:prstGeom prst="rect">
            <a:avLst/>
          </a:prstGeom>
          <a:noFill/>
        </p:spPr>
        <p:txBody>
          <a:bodyPr wrap="square" lIns="0" tIns="0" rIns="0" bIns="0" anchor="ctr">
            <a:spAutoFit/>
          </a:bodyPr>
          <a:lstStyle/>
          <a:p>
            <a:pPr algn="l">
              <a:spcBef>
                <a:spcPts val="0"/>
              </a:spcBef>
              <a:spcAft>
                <a:spcPts val="0"/>
              </a:spcAft>
            </a:pPr>
            <a:r>
              <a:rPr sz="1200" b="1" i="0">
                <a:solidFill>
                  <a:srgbClr val="7FE3C0"/>
                </a:solidFill>
                <a:latin typeface="Segoe UI"/>
              </a:rPr>
              <a:t>LIVE DEMO · RESILIENCE LAB</a:t>
            </a:r>
          </a:p>
        </p:txBody>
      </p:sp>
      <p:sp>
        <p:nvSpPr>
          <p:cNvPr id="4" name="TextBox 3"/>
          <p:cNvSpPr txBox="1"/>
          <p:nvPr/>
        </p:nvSpPr>
        <p:spPr>
          <a:xfrm>
            <a:off x="640080" y="713232"/>
            <a:ext cx="10911535" cy="685800"/>
          </a:xfrm>
          <a:prstGeom prst="rect">
            <a:avLst/>
          </a:prstGeom>
          <a:noFill/>
        </p:spPr>
        <p:txBody>
          <a:bodyPr wrap="square" lIns="0" tIns="0" rIns="0" bIns="0" anchor="t">
            <a:spAutoFit/>
          </a:bodyPr>
          <a:lstStyle/>
          <a:p>
            <a:pPr algn="l">
              <a:spcBef>
                <a:spcPts val="0"/>
              </a:spcBef>
              <a:spcAft>
                <a:spcPts val="0"/>
              </a:spcAft>
            </a:pPr>
            <a:r>
              <a:rPr sz="3400" b="1" i="0">
                <a:solidFill>
                  <a:srgbClr val="FFFFFF"/>
                </a:solidFill>
                <a:latin typeface="Segoe UI"/>
              </a:rPr>
              <a:t>Break it on purpose. </a:t>
            </a:r>
            <a:r>
              <a:rPr sz="3400" b="1" i="0">
                <a:solidFill>
                  <a:srgbClr val="7FE3C0"/>
                </a:solidFill>
                <a:latin typeface="Segoe UI"/>
              </a:rPr>
              <a:t>Watch the invariant hold.</a:t>
            </a:r>
          </a:p>
        </p:txBody>
      </p:sp>
      <p:sp>
        <p:nvSpPr>
          <p:cNvPr id="5" name="TextBox 4"/>
          <p:cNvSpPr txBox="1"/>
          <p:nvPr/>
        </p:nvSpPr>
        <p:spPr>
          <a:xfrm>
            <a:off x="640080" y="6428232"/>
            <a:ext cx="4572000" cy="256032"/>
          </a:xfrm>
          <a:prstGeom prst="rect">
            <a:avLst/>
          </a:prstGeom>
          <a:noFill/>
        </p:spPr>
        <p:txBody>
          <a:bodyPr wrap="square" lIns="0" tIns="0" rIns="0" bIns="0" anchor="ctr">
            <a:spAutoFit/>
          </a:bodyPr>
          <a:lstStyle/>
          <a:p>
            <a:pPr algn="l">
              <a:spcBef>
                <a:spcPts val="0"/>
              </a:spcBef>
              <a:spcAft>
                <a:spcPts val="0"/>
              </a:spcAft>
            </a:pPr>
            <a:r>
              <a:rPr sz="1200" b="0" i="0">
                <a:solidFill>
                  <a:srgbClr val="A9BAC6"/>
                </a:solidFill>
                <a:latin typeface="Segoe UI"/>
              </a:rPr>
              <a:t>Ishtirak · Distributed Systems</a:t>
            </a:r>
          </a:p>
        </p:txBody>
      </p:sp>
      <p:sp>
        <p:nvSpPr>
          <p:cNvPr id="6" name="TextBox 5"/>
          <p:cNvSpPr txBox="1"/>
          <p:nvPr/>
        </p:nvSpPr>
        <p:spPr>
          <a:xfrm>
            <a:off x="10180015" y="6428232"/>
            <a:ext cx="1371600" cy="256032"/>
          </a:xfrm>
          <a:prstGeom prst="rect">
            <a:avLst/>
          </a:prstGeom>
          <a:noFill/>
        </p:spPr>
        <p:txBody>
          <a:bodyPr wrap="square" lIns="0" tIns="0" rIns="0" bIns="0" anchor="ctr">
            <a:spAutoFit/>
          </a:bodyPr>
          <a:lstStyle/>
          <a:p>
            <a:pPr algn="r">
              <a:spcBef>
                <a:spcPts val="0"/>
              </a:spcBef>
              <a:spcAft>
                <a:spcPts val="0"/>
              </a:spcAft>
            </a:pPr>
            <a:r>
              <a:rPr sz="1200" b="0" i="0">
                <a:solidFill>
                  <a:srgbClr val="A9BAC6"/>
                </a:solidFill>
                <a:latin typeface="Segoe UI"/>
              </a:rPr>
              <a:t>9 / 16</a:t>
            </a:r>
          </a:p>
        </p:txBody>
      </p:sp>
      <p:pic>
        <p:nvPicPr>
          <p:cNvPr id="7" name="Picture 6" descr="lab-proof-scenarios.png"/>
          <p:cNvPicPr>
            <a:picLocks noChangeAspect="1"/>
          </p:cNvPicPr>
          <p:nvPr/>
        </p:nvPicPr>
        <p:blipFill>
          <a:blip r:embed="rId2"/>
          <a:stretch>
            <a:fillRect/>
          </a:stretch>
        </p:blipFill>
        <p:spPr>
          <a:xfrm>
            <a:off x="640080" y="1600200"/>
            <a:ext cx="5852160" cy="3773103"/>
          </a:xfrm>
          <a:prstGeom prst="rect">
            <a:avLst/>
          </a:prstGeom>
          <a:ln w="12700">
            <a:solidFill>
              <a:srgbClr val="2B4352"/>
            </a:solidFill>
          </a:ln>
        </p:spPr>
      </p:pic>
      <p:sp>
        <p:nvSpPr>
          <p:cNvPr id="8" name="TextBox 7"/>
          <p:cNvSpPr txBox="1"/>
          <p:nvPr/>
        </p:nvSpPr>
        <p:spPr>
          <a:xfrm>
            <a:off x="640080" y="5464743"/>
            <a:ext cx="5852160" cy="274320"/>
          </a:xfrm>
          <a:prstGeom prst="rect">
            <a:avLst/>
          </a:prstGeom>
          <a:noFill/>
        </p:spPr>
        <p:txBody>
          <a:bodyPr wrap="square" lIns="0" tIns="0" rIns="0" bIns="0" anchor="t">
            <a:spAutoFit/>
          </a:bodyPr>
          <a:lstStyle/>
          <a:p>
            <a:pPr algn="l">
              <a:spcBef>
                <a:spcPts val="0"/>
              </a:spcBef>
              <a:spcAft>
                <a:spcPts val="0"/>
              </a:spcAft>
            </a:pPr>
            <a:r>
              <a:rPr sz="1200" b="0" i="1">
                <a:solidFill>
                  <a:srgbClr val="A9BAC6"/>
                </a:solidFill>
                <a:latin typeface="Segoe UI"/>
              </a:rPr>
              <a:t>Real capture: the lab after a completed leader failover</a:t>
            </a:r>
          </a:p>
        </p:txBody>
      </p:sp>
      <p:sp>
        <p:nvSpPr>
          <p:cNvPr id="9" name="TextBox 8"/>
          <p:cNvSpPr txBox="1"/>
          <p:nvPr/>
        </p:nvSpPr>
        <p:spPr>
          <a:xfrm>
            <a:off x="6812280" y="1554480"/>
            <a:ext cx="4754880" cy="320040"/>
          </a:xfrm>
          <a:prstGeom prst="rect">
            <a:avLst/>
          </a:prstGeom>
          <a:noFill/>
        </p:spPr>
        <p:txBody>
          <a:bodyPr wrap="square" lIns="0" tIns="0" rIns="0" bIns="0" anchor="ctr">
            <a:spAutoFit/>
          </a:bodyPr>
          <a:lstStyle/>
          <a:p>
            <a:pPr algn="l">
              <a:spcBef>
                <a:spcPts val="0"/>
              </a:spcBef>
              <a:spcAft>
                <a:spcPts val="0"/>
              </a:spcAft>
            </a:pPr>
            <a:r>
              <a:rPr sz="1200" b="1" i="0">
                <a:solidFill>
                  <a:srgbClr val="7FE3C0"/>
                </a:solidFill>
                <a:latin typeface="Segoe UI"/>
              </a:rPr>
              <a:t>FOUR GUIDED SCENARIOS</a:t>
            </a:r>
          </a:p>
        </p:txBody>
      </p:sp>
      <p:sp>
        <p:nvSpPr>
          <p:cNvPr id="10" name="Rounded Rectangle 9"/>
          <p:cNvSpPr/>
          <p:nvPr/>
        </p:nvSpPr>
        <p:spPr>
          <a:xfrm>
            <a:off x="6812280" y="1920240"/>
            <a:ext cx="2267712" cy="914400"/>
          </a:xfrm>
          <a:prstGeom prst="roundRect">
            <a:avLst>
              <a:gd name="adj" fmla="val 12000"/>
            </a:avLst>
          </a:prstGeom>
          <a:solidFill>
            <a:srgbClr val="172B38"/>
          </a:solidFill>
          <a:ln w="9525">
            <a:solidFill>
              <a:srgbClr val="2B43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49440" y="1984248"/>
            <a:ext cx="2057400" cy="274320"/>
          </a:xfrm>
          <a:prstGeom prst="rect">
            <a:avLst/>
          </a:prstGeom>
          <a:noFill/>
        </p:spPr>
        <p:txBody>
          <a:bodyPr wrap="square" lIns="0" tIns="0" rIns="0" bIns="0" anchor="ctr">
            <a:spAutoFit/>
          </a:bodyPr>
          <a:lstStyle/>
          <a:p>
            <a:pPr algn="l">
              <a:spcBef>
                <a:spcPts val="0"/>
              </a:spcBef>
              <a:spcAft>
                <a:spcPts val="0"/>
              </a:spcAft>
            </a:pPr>
            <a:r>
              <a:rPr sz="1500" b="1" i="0">
                <a:solidFill>
                  <a:srgbClr val="FFFFFF"/>
                </a:solidFill>
                <a:latin typeface="Segoe UI"/>
              </a:rPr>
              <a:t>Leader failover</a:t>
            </a:r>
          </a:p>
        </p:txBody>
      </p:sp>
      <p:sp>
        <p:nvSpPr>
          <p:cNvPr id="12" name="TextBox 11"/>
          <p:cNvSpPr txBox="1"/>
          <p:nvPr/>
        </p:nvSpPr>
        <p:spPr>
          <a:xfrm>
            <a:off x="6949440" y="2286000"/>
            <a:ext cx="2057400" cy="548640"/>
          </a:xfrm>
          <a:prstGeom prst="rect">
            <a:avLst/>
          </a:prstGeom>
          <a:noFill/>
        </p:spPr>
        <p:txBody>
          <a:bodyPr wrap="square" lIns="0" tIns="0" rIns="0" bIns="0" anchor="t">
            <a:spAutoFit/>
          </a:bodyPr>
          <a:lstStyle/>
          <a:p>
            <a:pPr algn="l">
              <a:spcBef>
                <a:spcPts val="0"/>
              </a:spcBef>
              <a:spcAft>
                <a:spcPts val="0"/>
              </a:spcAft>
            </a:pPr>
            <a:r>
              <a:rPr sz="1200" b="0" i="0">
                <a:solidFill>
                  <a:srgbClr val="A9BAC6"/>
                </a:solidFill>
                <a:latin typeface="Segoe UI"/>
              </a:rPr>
              <a:t>Stop the elected leader; a replacement takes over.</a:t>
            </a:r>
          </a:p>
        </p:txBody>
      </p:sp>
      <p:sp>
        <p:nvSpPr>
          <p:cNvPr id="13" name="Rounded Rectangle 12"/>
          <p:cNvSpPr/>
          <p:nvPr/>
        </p:nvSpPr>
        <p:spPr>
          <a:xfrm>
            <a:off x="9281160" y="1920240"/>
            <a:ext cx="2267712" cy="914400"/>
          </a:xfrm>
          <a:prstGeom prst="roundRect">
            <a:avLst>
              <a:gd name="adj" fmla="val 12000"/>
            </a:avLst>
          </a:prstGeom>
          <a:solidFill>
            <a:srgbClr val="172B38"/>
          </a:solidFill>
          <a:ln w="9525">
            <a:solidFill>
              <a:srgbClr val="2B43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418320" y="1984248"/>
            <a:ext cx="2057400" cy="274320"/>
          </a:xfrm>
          <a:prstGeom prst="rect">
            <a:avLst/>
          </a:prstGeom>
          <a:noFill/>
        </p:spPr>
        <p:txBody>
          <a:bodyPr wrap="square" lIns="0" tIns="0" rIns="0" bIns="0" anchor="ctr">
            <a:spAutoFit/>
          </a:bodyPr>
          <a:lstStyle/>
          <a:p>
            <a:pPr algn="l">
              <a:spcBef>
                <a:spcPts val="0"/>
              </a:spcBef>
              <a:spcAft>
                <a:spcPts val="0"/>
              </a:spcAft>
            </a:pPr>
            <a:r>
              <a:rPr sz="1500" b="1" i="0">
                <a:solidFill>
                  <a:srgbClr val="FFFFFF"/>
                </a:solidFill>
                <a:latin typeface="Segoe UI"/>
              </a:rPr>
              <a:t>Majority loss</a:t>
            </a:r>
          </a:p>
        </p:txBody>
      </p:sp>
      <p:sp>
        <p:nvSpPr>
          <p:cNvPr id="15" name="TextBox 14"/>
          <p:cNvSpPr txBox="1"/>
          <p:nvPr/>
        </p:nvSpPr>
        <p:spPr>
          <a:xfrm>
            <a:off x="9418320" y="2286000"/>
            <a:ext cx="2057400" cy="548640"/>
          </a:xfrm>
          <a:prstGeom prst="rect">
            <a:avLst/>
          </a:prstGeom>
          <a:noFill/>
        </p:spPr>
        <p:txBody>
          <a:bodyPr wrap="square" lIns="0" tIns="0" rIns="0" bIns="0" anchor="t">
            <a:spAutoFit/>
          </a:bodyPr>
          <a:lstStyle/>
          <a:p>
            <a:pPr algn="l">
              <a:spcBef>
                <a:spcPts val="0"/>
              </a:spcBef>
              <a:spcAft>
                <a:spcPts val="0"/>
              </a:spcAft>
            </a:pPr>
            <a:r>
              <a:rPr sz="1200" b="0" i="0">
                <a:solidFill>
                  <a:srgbClr val="A9BAC6"/>
                </a:solidFill>
                <a:latin typeface="Segoe UI"/>
              </a:rPr>
              <a:t>Stop two of three; new grants must stop.</a:t>
            </a:r>
          </a:p>
        </p:txBody>
      </p:sp>
      <p:sp>
        <p:nvSpPr>
          <p:cNvPr id="16" name="Rounded Rectangle 15"/>
          <p:cNvSpPr/>
          <p:nvPr/>
        </p:nvSpPr>
        <p:spPr>
          <a:xfrm>
            <a:off x="6812280" y="2971800"/>
            <a:ext cx="2267712" cy="914400"/>
          </a:xfrm>
          <a:prstGeom prst="roundRect">
            <a:avLst>
              <a:gd name="adj" fmla="val 12000"/>
            </a:avLst>
          </a:prstGeom>
          <a:solidFill>
            <a:srgbClr val="172B38"/>
          </a:solidFill>
          <a:ln w="9525">
            <a:solidFill>
              <a:srgbClr val="2B43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949440" y="3035808"/>
            <a:ext cx="2057400" cy="274320"/>
          </a:xfrm>
          <a:prstGeom prst="rect">
            <a:avLst/>
          </a:prstGeom>
          <a:noFill/>
        </p:spPr>
        <p:txBody>
          <a:bodyPr wrap="square" lIns="0" tIns="0" rIns="0" bIns="0" anchor="ctr">
            <a:spAutoFit/>
          </a:bodyPr>
          <a:lstStyle/>
          <a:p>
            <a:pPr algn="l">
              <a:spcBef>
                <a:spcPts val="0"/>
              </a:spcBef>
              <a:spcAft>
                <a:spcPts val="0"/>
              </a:spcAft>
            </a:pPr>
            <a:r>
              <a:rPr sz="1500" b="1" i="0">
                <a:solidFill>
                  <a:srgbClr val="FFFFFF"/>
                </a:solidFill>
                <a:latin typeface="Segoe UI"/>
              </a:rPr>
              <a:t>Gateway crash</a:t>
            </a:r>
          </a:p>
        </p:txBody>
      </p:sp>
      <p:sp>
        <p:nvSpPr>
          <p:cNvPr id="18" name="TextBox 17"/>
          <p:cNvSpPr txBox="1"/>
          <p:nvPr/>
        </p:nvSpPr>
        <p:spPr>
          <a:xfrm>
            <a:off x="6949440" y="3337560"/>
            <a:ext cx="2057400" cy="548640"/>
          </a:xfrm>
          <a:prstGeom prst="rect">
            <a:avLst/>
          </a:prstGeom>
          <a:noFill/>
        </p:spPr>
        <p:txBody>
          <a:bodyPr wrap="square" lIns="0" tIns="0" rIns="0" bIns="0" anchor="t">
            <a:spAutoFit/>
          </a:bodyPr>
          <a:lstStyle/>
          <a:p>
            <a:pPr algn="l">
              <a:spcBef>
                <a:spcPts val="0"/>
              </a:spcBef>
              <a:spcAft>
                <a:spcPts val="0"/>
              </a:spcAft>
            </a:pPr>
            <a:r>
              <a:rPr sz="1200" b="0" i="0">
                <a:solidFill>
                  <a:srgbClr val="A9BAC6"/>
                </a:solidFill>
                <a:latin typeface="Segoe UI"/>
              </a:rPr>
              <a:t>Its lease expires and capacity is reclaimed.</a:t>
            </a:r>
          </a:p>
        </p:txBody>
      </p:sp>
      <p:sp>
        <p:nvSpPr>
          <p:cNvPr id="19" name="Rounded Rectangle 18"/>
          <p:cNvSpPr/>
          <p:nvPr/>
        </p:nvSpPr>
        <p:spPr>
          <a:xfrm>
            <a:off x="9281160" y="2971800"/>
            <a:ext cx="2267712" cy="914400"/>
          </a:xfrm>
          <a:prstGeom prst="roundRect">
            <a:avLst>
              <a:gd name="adj" fmla="val 12000"/>
            </a:avLst>
          </a:prstGeom>
          <a:solidFill>
            <a:srgbClr val="172B38"/>
          </a:solidFill>
          <a:ln w="9525">
            <a:solidFill>
              <a:srgbClr val="2B43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9418320" y="3035808"/>
            <a:ext cx="2057400" cy="274320"/>
          </a:xfrm>
          <a:prstGeom prst="rect">
            <a:avLst/>
          </a:prstGeom>
          <a:noFill/>
        </p:spPr>
        <p:txBody>
          <a:bodyPr wrap="square" lIns="0" tIns="0" rIns="0" bIns="0" anchor="ctr">
            <a:spAutoFit/>
          </a:bodyPr>
          <a:lstStyle/>
          <a:p>
            <a:pPr algn="l">
              <a:spcBef>
                <a:spcPts val="0"/>
              </a:spcBef>
              <a:spcAft>
                <a:spcPts val="0"/>
              </a:spcAft>
            </a:pPr>
            <a:r>
              <a:rPr sz="1500" b="1" i="0">
                <a:solidFill>
                  <a:srgbClr val="FFFFFF"/>
                </a:solidFill>
                <a:latin typeface="Segoe UI"/>
              </a:rPr>
              <a:t>Database outage</a:t>
            </a:r>
          </a:p>
        </p:txBody>
      </p:sp>
      <p:sp>
        <p:nvSpPr>
          <p:cNvPr id="21" name="TextBox 20"/>
          <p:cNvSpPr txBox="1"/>
          <p:nvPr/>
        </p:nvSpPr>
        <p:spPr>
          <a:xfrm>
            <a:off x="9418320" y="3337560"/>
            <a:ext cx="2057400" cy="548640"/>
          </a:xfrm>
          <a:prstGeom prst="rect">
            <a:avLst/>
          </a:prstGeom>
          <a:noFill/>
        </p:spPr>
        <p:txBody>
          <a:bodyPr wrap="square" lIns="0" tIns="0" rIns="0" bIns="0" anchor="t">
            <a:spAutoFit/>
          </a:bodyPr>
          <a:lstStyle/>
          <a:p>
            <a:pPr algn="l">
              <a:spcBef>
                <a:spcPts val="0"/>
              </a:spcBef>
              <a:spcAft>
                <a:spcPts val="0"/>
              </a:spcAft>
            </a:pPr>
            <a:r>
              <a:rPr sz="1200" b="0" i="0">
                <a:solidFill>
                  <a:srgbClr val="A9BAC6"/>
                </a:solidFill>
                <a:latin typeface="Segoe UI"/>
              </a:rPr>
              <a:t>Grants continue; audit catches up later.</a:t>
            </a:r>
          </a:p>
        </p:txBody>
      </p:sp>
      <p:pic>
        <p:nvPicPr>
          <p:cNvPr id="22" name="Picture 21" descr="lab-raft-timeline.png"/>
          <p:cNvPicPr>
            <a:picLocks noChangeAspect="1"/>
          </p:cNvPicPr>
          <p:nvPr/>
        </p:nvPicPr>
        <p:blipFill>
          <a:blip r:embed="rId3"/>
          <a:stretch>
            <a:fillRect/>
          </a:stretch>
        </p:blipFill>
        <p:spPr>
          <a:xfrm>
            <a:off x="6812280" y="4069080"/>
            <a:ext cx="2514600" cy="2185541"/>
          </a:xfrm>
          <a:prstGeom prst="rect">
            <a:avLst/>
          </a:prstGeom>
          <a:ln w="12700">
            <a:solidFill>
              <a:srgbClr val="2B4352"/>
            </a:solidFill>
          </a:ln>
        </p:spPr>
      </p:pic>
      <p:sp>
        <p:nvSpPr>
          <p:cNvPr id="23" name="TextBox 22"/>
          <p:cNvSpPr txBox="1"/>
          <p:nvPr/>
        </p:nvSpPr>
        <p:spPr>
          <a:xfrm>
            <a:off x="9509760" y="4069080"/>
            <a:ext cx="2039112" cy="274320"/>
          </a:xfrm>
          <a:prstGeom prst="rect">
            <a:avLst/>
          </a:prstGeom>
          <a:noFill/>
        </p:spPr>
        <p:txBody>
          <a:bodyPr wrap="square" lIns="0" tIns="0" rIns="0" bIns="0" anchor="ctr">
            <a:spAutoFit/>
          </a:bodyPr>
          <a:lstStyle/>
          <a:p>
            <a:pPr algn="l">
              <a:spcBef>
                <a:spcPts val="0"/>
              </a:spcBef>
              <a:spcAft>
                <a:spcPts val="0"/>
              </a:spcAft>
            </a:pPr>
            <a:r>
              <a:rPr sz="1200" b="1" i="0">
                <a:solidFill>
                  <a:srgbClr val="7FE3C0"/>
                </a:solidFill>
                <a:latin typeface="Segoe UI"/>
              </a:rPr>
              <a:t>WHAT TO WATCH</a:t>
            </a:r>
          </a:p>
        </p:txBody>
      </p:sp>
      <p:sp>
        <p:nvSpPr>
          <p:cNvPr id="24" name="TextBox 23"/>
          <p:cNvSpPr txBox="1"/>
          <p:nvPr/>
        </p:nvSpPr>
        <p:spPr>
          <a:xfrm>
            <a:off x="9509760" y="4389120"/>
            <a:ext cx="2039112" cy="1828800"/>
          </a:xfrm>
          <a:prstGeom prst="rect">
            <a:avLst/>
          </a:prstGeom>
          <a:noFill/>
        </p:spPr>
        <p:txBody>
          <a:bodyPr wrap="square" lIns="0" tIns="0" rIns="0" bIns="0" anchor="t">
            <a:spAutoFit/>
          </a:bodyPr>
          <a:lstStyle/>
          <a:p>
            <a:pPr algn="l">
              <a:spcBef>
                <a:spcPts val="0"/>
              </a:spcBef>
              <a:spcAft>
                <a:spcPts val="800"/>
              </a:spcAft>
            </a:pPr>
            <a:r>
              <a:rPr sz="1400" b="0" i="0">
                <a:solidFill>
                  <a:srgbClr val="FFFFFF"/>
                </a:solidFill>
                <a:latin typeface="Segoe UI"/>
              </a:rPr>
              <a:t>Peak granted stays at or below 120 A, violations stay at 0.</a:t>
            </a:r>
          </a:p>
          <a:p>
            <a:pPr algn="l">
              <a:spcBef>
                <a:spcPts val="0"/>
              </a:spcBef>
              <a:spcAft>
                <a:spcPts val="0"/>
              </a:spcAft>
            </a:pPr>
            <a:r>
              <a:rPr sz="1400" b="0" i="0">
                <a:solidFill>
                  <a:srgbClr val="FFFFFF"/>
                </a:solidFill>
                <a:latin typeface="Segoe UI"/>
              </a:rPr>
              <a:t>The timeline shows the leader lost and a new one observed.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ounded Rectangle 1"/>
          <p:cNvSpPr/>
          <p:nvPr/>
        </p:nvSpPr>
        <p:spPr>
          <a:xfrm>
            <a:off x="640080" y="475488"/>
            <a:ext cx="292608" cy="54864"/>
          </a:xfrm>
          <a:prstGeom prst="roundRect">
            <a:avLst>
              <a:gd name="adj" fmla="val 50000"/>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51560" y="365760"/>
            <a:ext cx="7315200" cy="274320"/>
          </a:xfrm>
          <a:prstGeom prst="rect">
            <a:avLst/>
          </a:prstGeom>
          <a:noFill/>
        </p:spPr>
        <p:txBody>
          <a:bodyPr wrap="square" lIns="0" tIns="0" rIns="0" bIns="0" anchor="ctr">
            <a:spAutoFit/>
          </a:bodyPr>
          <a:lstStyle/>
          <a:p>
            <a:pPr algn="l">
              <a:spcBef>
                <a:spcPts val="0"/>
              </a:spcBef>
              <a:spcAft>
                <a:spcPts val="0"/>
              </a:spcAft>
            </a:pPr>
            <a:r>
              <a:rPr sz="1200" b="1" i="0">
                <a:solidFill>
                  <a:srgbClr val="0B7A65"/>
                </a:solidFill>
                <a:latin typeface="Segoe UI"/>
              </a:rPr>
              <a:t>FAULT TOLERANCE RESULTS</a:t>
            </a:r>
          </a:p>
        </p:txBody>
      </p:sp>
      <p:sp>
        <p:nvSpPr>
          <p:cNvPr id="4" name="TextBox 3"/>
          <p:cNvSpPr txBox="1"/>
          <p:nvPr/>
        </p:nvSpPr>
        <p:spPr>
          <a:xfrm>
            <a:off x="640080" y="713232"/>
            <a:ext cx="10911535" cy="685800"/>
          </a:xfrm>
          <a:prstGeom prst="rect">
            <a:avLst/>
          </a:prstGeom>
          <a:noFill/>
        </p:spPr>
        <p:txBody>
          <a:bodyPr wrap="square" lIns="0" tIns="0" rIns="0" bIns="0" anchor="t">
            <a:spAutoFit/>
          </a:bodyPr>
          <a:lstStyle/>
          <a:p>
            <a:pPr algn="l">
              <a:spcBef>
                <a:spcPts val="0"/>
              </a:spcBef>
              <a:spcAft>
                <a:spcPts val="0"/>
              </a:spcAft>
            </a:pPr>
            <a:r>
              <a:rPr sz="3400" b="1" i="0">
                <a:solidFill>
                  <a:srgbClr val="0F1D26"/>
                </a:solidFill>
                <a:latin typeface="Segoe UI"/>
              </a:rPr>
              <a:t>Failures handled, capacity limit intact</a:t>
            </a:r>
          </a:p>
        </p:txBody>
      </p:sp>
      <p:sp>
        <p:nvSpPr>
          <p:cNvPr id="5" name="TextBox 4"/>
          <p:cNvSpPr txBox="1"/>
          <p:nvPr/>
        </p:nvSpPr>
        <p:spPr>
          <a:xfrm>
            <a:off x="640080" y="6428232"/>
            <a:ext cx="4572000" cy="256032"/>
          </a:xfrm>
          <a:prstGeom prst="rect">
            <a:avLst/>
          </a:prstGeom>
          <a:noFill/>
        </p:spPr>
        <p:txBody>
          <a:bodyPr wrap="square" lIns="0" tIns="0" rIns="0" bIns="0" anchor="ctr">
            <a:spAutoFit/>
          </a:bodyPr>
          <a:lstStyle/>
          <a:p>
            <a:pPr algn="l">
              <a:spcBef>
                <a:spcPts val="0"/>
              </a:spcBef>
              <a:spcAft>
                <a:spcPts val="0"/>
              </a:spcAft>
            </a:pPr>
            <a:r>
              <a:rPr sz="1200" b="0" i="0">
                <a:solidFill>
                  <a:srgbClr val="52626F"/>
                </a:solidFill>
                <a:latin typeface="Segoe UI"/>
              </a:rPr>
              <a:t>Ishtirak · Distributed Systems</a:t>
            </a:r>
          </a:p>
        </p:txBody>
      </p:sp>
      <p:sp>
        <p:nvSpPr>
          <p:cNvPr id="6" name="TextBox 5"/>
          <p:cNvSpPr txBox="1"/>
          <p:nvPr/>
        </p:nvSpPr>
        <p:spPr>
          <a:xfrm>
            <a:off x="10180015" y="6428232"/>
            <a:ext cx="1371600" cy="256032"/>
          </a:xfrm>
          <a:prstGeom prst="rect">
            <a:avLst/>
          </a:prstGeom>
          <a:noFill/>
        </p:spPr>
        <p:txBody>
          <a:bodyPr wrap="square" lIns="0" tIns="0" rIns="0" bIns="0" anchor="ctr">
            <a:spAutoFit/>
          </a:bodyPr>
          <a:lstStyle/>
          <a:p>
            <a:pPr algn="r">
              <a:spcBef>
                <a:spcPts val="0"/>
              </a:spcBef>
              <a:spcAft>
                <a:spcPts val="0"/>
              </a:spcAft>
            </a:pPr>
            <a:r>
              <a:rPr sz="1200" b="0" i="0">
                <a:solidFill>
                  <a:srgbClr val="52626F"/>
                </a:solidFill>
                <a:latin typeface="Segoe UI"/>
              </a:rPr>
              <a:t>10 / 16</a:t>
            </a:r>
          </a:p>
        </p:txBody>
      </p:sp>
      <p:graphicFrame>
        <p:nvGraphicFramePr>
          <p:cNvPr id="7" name="Table 6"/>
          <p:cNvGraphicFramePr>
            <a:graphicFrameLocks noGrp="1"/>
          </p:cNvGraphicFramePr>
          <p:nvPr/>
        </p:nvGraphicFramePr>
        <p:xfrm>
          <a:off x="640080" y="1554480"/>
          <a:ext cx="10911535" cy="3979468"/>
        </p:xfrm>
        <a:graphic>
          <a:graphicData uri="http://schemas.openxmlformats.org/drawingml/2006/table">
            <a:tbl>
              <a:tblPr firstRow="0" bandRow="0">
                <a:tableStyleId>{5C22544A-7EE6-4342-B048-85BDC9FD1C3A}</a:tableStyleId>
              </a:tblPr>
              <a:tblGrid>
                <a:gridCol w="2743200"/>
                <a:gridCol w="8168335"/>
              </a:tblGrid>
              <a:tr h="468172">
                <a:tc>
                  <a:txBody>
                    <a:bodyPr wrap="square" lIns="128016" anchor="ctr"/>
                    <a:lstStyle/>
                    <a:p>
                      <a:pPr algn="l">
                        <a:spcBef>
                          <a:spcPts val="0"/>
                        </a:spcBef>
                        <a:spcAft>
                          <a:spcPts val="0"/>
                        </a:spcAft>
                      </a:pPr>
                      <a:r>
                        <a:rPr sz="1400" b="1" i="0">
                          <a:solidFill>
                            <a:srgbClr val="FFFFFF"/>
                          </a:solidFill>
                          <a:latin typeface="Segoe UI"/>
                        </a:rPr>
                        <a:t>Scenario</a:t>
                      </a:r>
                    </a:p>
                  </a:txBody>
                  <a:tcPr marL="128016" marR="91440" marT="45720" marB="45720" anchor="ctr">
                    <a:solidFill>
                      <a:srgbClr val="0F1D26"/>
                    </a:solidFill>
                  </a:tcPr>
                </a:tc>
                <a:tc>
                  <a:txBody>
                    <a:bodyPr wrap="square" lIns="128016" anchor="ctr"/>
                    <a:lstStyle/>
                    <a:p>
                      <a:pPr algn="l">
                        <a:spcBef>
                          <a:spcPts val="0"/>
                        </a:spcBef>
                        <a:spcAft>
                          <a:spcPts val="0"/>
                        </a:spcAft>
                      </a:pPr>
                      <a:r>
                        <a:rPr sz="1400" b="1" i="0">
                          <a:solidFill>
                            <a:srgbClr val="FFFFFF"/>
                          </a:solidFill>
                          <a:latin typeface="Segoe UI"/>
                        </a:rPr>
                        <a:t>Measured result</a:t>
                      </a:r>
                    </a:p>
                  </a:txBody>
                  <a:tcPr marL="128016" marR="91440" marT="45720" marB="45720" anchor="ctr">
                    <a:solidFill>
                      <a:srgbClr val="0F1D26"/>
                    </a:solidFill>
                  </a:tcPr>
                </a:tc>
              </a:tr>
              <a:tr h="585216">
                <a:tc>
                  <a:txBody>
                    <a:bodyPr wrap="square" lIns="128016" anchor="ctr"/>
                    <a:lstStyle/>
                    <a:p>
                      <a:pPr algn="l">
                        <a:spcBef>
                          <a:spcPts val="0"/>
                        </a:spcBef>
                        <a:spcAft>
                          <a:spcPts val="0"/>
                        </a:spcAft>
                      </a:pPr>
                      <a:r>
                        <a:rPr sz="1500" b="1" i="0">
                          <a:solidFill>
                            <a:srgbClr val="0F1D26"/>
                          </a:solidFill>
                          <a:latin typeface="Segoe UI"/>
                        </a:rPr>
                        <a:t>Gateway crash (3 trials)</a:t>
                      </a:r>
                    </a:p>
                  </a:txBody>
                  <a:tcPr marL="128016" marR="91440" marT="45720" marB="45720" anchor="ctr">
                    <a:solidFill>
                      <a:srgbClr val="FFFFFF"/>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500" b="0" i="0">
                          <a:solidFill>
                            <a:srgbClr val="0F1D26"/>
                          </a:solidFill>
                          <a:latin typeface="Segoe UI"/>
                        </a:rPr>
                        <a:t>Lease reclaimed in 12.34 s on average (range 10.80–14.25 s); each restart got a fresh session</a:t>
                      </a:r>
                    </a:p>
                  </a:txBody>
                  <a:tcPr marL="128016" marR="91440" marT="45720" marB="45720" anchor="ctr">
                    <a:solidFill>
                      <a:srgbClr val="FFFFFF"/>
                    </a:solidFill>
                    <a:lnL w="0">
                      <a:noFill/>
                    </a:lnL>
                    <a:lnR w="0">
                      <a:noFill/>
                    </a:lnR>
                    <a:lnT w="0">
                      <a:noFill/>
                    </a:lnT>
                    <a:lnB w="9525">
                      <a:solidFill>
                        <a:srgbClr val="DDE5EB"/>
                      </a:solidFill>
                    </a:lnB>
                  </a:tcPr>
                </a:tc>
              </a:tr>
              <a:tr h="585216">
                <a:tc>
                  <a:txBody>
                    <a:bodyPr wrap="square" lIns="128016" anchor="ctr"/>
                    <a:lstStyle/>
                    <a:p>
                      <a:pPr algn="l">
                        <a:spcBef>
                          <a:spcPts val="0"/>
                        </a:spcBef>
                        <a:spcAft>
                          <a:spcPts val="0"/>
                        </a:spcAft>
                      </a:pPr>
                      <a:r>
                        <a:rPr sz="1500" b="1" i="0">
                          <a:solidFill>
                            <a:srgbClr val="0F1D26"/>
                          </a:solidFill>
                          <a:latin typeface="Segoe UI"/>
                        </a:rPr>
                        <a:t>Leader failure (3 trials)</a:t>
                      </a:r>
                    </a:p>
                  </a:txBody>
                  <a:tcPr marL="128016" marR="91440" marT="45720" marB="45720" anchor="ctr">
                    <a:solidFill>
                      <a:srgbClr val="EEF2F5"/>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500" b="0" i="0">
                          <a:solidFill>
                            <a:srgbClr val="0F1D26"/>
                          </a:solidFill>
                          <a:latin typeface="Segoe UI"/>
                        </a:rPr>
                        <a:t>A replacement accepted a grant after 4.82 s on average (range 4.05–6.34 s)</a:t>
                      </a:r>
                    </a:p>
                  </a:txBody>
                  <a:tcPr marL="128016" marR="91440" marT="45720" marB="45720" anchor="ctr">
                    <a:solidFill>
                      <a:srgbClr val="EEF2F5"/>
                    </a:solidFill>
                    <a:lnL w="0">
                      <a:noFill/>
                    </a:lnL>
                    <a:lnR w="0">
                      <a:noFill/>
                    </a:lnR>
                    <a:lnT w="0">
                      <a:noFill/>
                    </a:lnT>
                    <a:lnB w="9525">
                      <a:solidFill>
                        <a:srgbClr val="DDE5EB"/>
                      </a:solidFill>
                    </a:lnB>
                  </a:tcPr>
                </a:tc>
              </a:tr>
              <a:tr h="585216">
                <a:tc>
                  <a:txBody>
                    <a:bodyPr wrap="square" lIns="128016" anchor="ctr"/>
                    <a:lstStyle/>
                    <a:p>
                      <a:pPr algn="l">
                        <a:spcBef>
                          <a:spcPts val="0"/>
                        </a:spcBef>
                        <a:spcAft>
                          <a:spcPts val="0"/>
                        </a:spcAft>
                      </a:pPr>
                      <a:r>
                        <a:rPr sz="1500" b="1" i="0">
                          <a:solidFill>
                            <a:srgbClr val="0F1D26"/>
                          </a:solidFill>
                          <a:latin typeface="Segoe UI"/>
                        </a:rPr>
                        <a:t>Majority loss</a:t>
                      </a:r>
                    </a:p>
                  </a:txBody>
                  <a:tcPr marL="128016" marR="91440" marT="45720" marB="45720" anchor="ctr">
                    <a:solidFill>
                      <a:srgbClr val="FFFFFF"/>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500" b="0" i="0">
                          <a:solidFill>
                            <a:srgbClr val="0F1D26"/>
                          </a:solidFill>
                          <a:latin typeface="Segoe UI"/>
                        </a:rPr>
                        <a:t>3 new requests returned HTTP 503; simulated service fell to 0 A after 13 s</a:t>
                      </a:r>
                    </a:p>
                  </a:txBody>
                  <a:tcPr marL="128016" marR="91440" marT="45720" marB="45720" anchor="ctr">
                    <a:solidFill>
                      <a:srgbClr val="FFFFFF"/>
                    </a:solidFill>
                    <a:lnL w="0">
                      <a:noFill/>
                    </a:lnL>
                    <a:lnR w="0">
                      <a:noFill/>
                    </a:lnR>
                    <a:lnT w="0">
                      <a:noFill/>
                    </a:lnT>
                    <a:lnB w="9525">
                      <a:solidFill>
                        <a:srgbClr val="DDE5EB"/>
                      </a:solidFill>
                    </a:lnB>
                  </a:tcPr>
                </a:tc>
              </a:tr>
              <a:tr h="585216">
                <a:tc>
                  <a:txBody>
                    <a:bodyPr wrap="square" lIns="128016" anchor="ctr"/>
                    <a:lstStyle/>
                    <a:p>
                      <a:pPr algn="l">
                        <a:spcBef>
                          <a:spcPts val="0"/>
                        </a:spcBef>
                        <a:spcAft>
                          <a:spcPts val="0"/>
                        </a:spcAft>
                      </a:pPr>
                      <a:r>
                        <a:rPr sz="1500" b="1" i="0">
                          <a:solidFill>
                            <a:srgbClr val="0F1D26"/>
                          </a:solidFill>
                          <a:latin typeface="Segoe UI"/>
                        </a:rPr>
                        <a:t>PostgreSQL outage</a:t>
                      </a:r>
                    </a:p>
                  </a:txBody>
                  <a:tcPr marL="128016" marR="91440" marT="45720" marB="45720" anchor="ctr">
                    <a:solidFill>
                      <a:srgbClr val="EEF2F5"/>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500" b="0" i="0">
                          <a:solidFill>
                            <a:srgbClr val="0F1D26"/>
                          </a:solidFill>
                          <a:latin typeface="Segoe UI"/>
                        </a:rPr>
                        <a:t>Grant accepted while SQL was down; its audit event appeared once after recovery</a:t>
                      </a:r>
                    </a:p>
                  </a:txBody>
                  <a:tcPr marL="128016" marR="91440" marT="45720" marB="45720" anchor="ctr">
                    <a:solidFill>
                      <a:srgbClr val="EEF2F5"/>
                    </a:solidFill>
                    <a:lnL w="0">
                      <a:noFill/>
                    </a:lnL>
                    <a:lnR w="0">
                      <a:noFill/>
                    </a:lnR>
                    <a:lnT w="0">
                      <a:noFill/>
                    </a:lnT>
                    <a:lnB w="9525">
                      <a:solidFill>
                        <a:srgbClr val="DDE5EB"/>
                      </a:solidFill>
                    </a:lnB>
                  </a:tcPr>
                </a:tc>
              </a:tr>
              <a:tr h="585216">
                <a:tc>
                  <a:txBody>
                    <a:bodyPr wrap="square" lIns="128016" anchor="ctr"/>
                    <a:lstStyle/>
                    <a:p>
                      <a:pPr algn="l">
                        <a:spcBef>
                          <a:spcPts val="0"/>
                        </a:spcBef>
                        <a:spcAft>
                          <a:spcPts val="0"/>
                        </a:spcAft>
                      </a:pPr>
                      <a:r>
                        <a:rPr sz="1500" b="1" i="0">
                          <a:solidFill>
                            <a:srgbClr val="0F1D26"/>
                          </a:solidFill>
                          <a:latin typeface="Segoe UI"/>
                        </a:rPr>
                        <a:t>Capacity stress</a:t>
                      </a:r>
                    </a:p>
                  </a:txBody>
                  <a:tcPr marL="128016" marR="91440" marT="45720" marB="45720" anchor="ctr">
                    <a:solidFill>
                      <a:srgbClr val="FFFFFF"/>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500" b="0" i="0">
                          <a:solidFill>
                            <a:srgbClr val="0F1D26"/>
                          </a:solidFill>
                          <a:latin typeface="Segoe UI"/>
                        </a:rPr>
                        <a:t>40 requests of 7 A: 17 accepted, 23 rejected, 119 A committed (limit 120 A)</a:t>
                      </a:r>
                    </a:p>
                  </a:txBody>
                  <a:tcPr marL="128016" marR="91440" marT="45720" marB="45720" anchor="ctr">
                    <a:solidFill>
                      <a:srgbClr val="FFFFFF"/>
                    </a:solidFill>
                    <a:lnL w="0">
                      <a:noFill/>
                    </a:lnL>
                    <a:lnR w="0">
                      <a:noFill/>
                    </a:lnR>
                    <a:lnT w="0">
                      <a:noFill/>
                    </a:lnT>
                    <a:lnB w="9525">
                      <a:solidFill>
                        <a:srgbClr val="DDE5EB"/>
                      </a:solidFill>
                    </a:lnB>
                  </a:tcPr>
                </a:tc>
              </a:tr>
              <a:tr h="585216">
                <a:tc>
                  <a:txBody>
                    <a:bodyPr wrap="square" lIns="128016" anchor="ctr"/>
                    <a:lstStyle/>
                    <a:p>
                      <a:pPr algn="l">
                        <a:spcBef>
                          <a:spcPts val="0"/>
                        </a:spcBef>
                        <a:spcAft>
                          <a:spcPts val="0"/>
                        </a:spcAft>
                      </a:pPr>
                      <a:r>
                        <a:rPr sz="1500" b="1" i="0">
                          <a:solidFill>
                            <a:srgbClr val="0F1D26"/>
                          </a:solidFill>
                          <a:latin typeface="Segoe UI"/>
                        </a:rPr>
                        <a:t>Duplicate / conflict</a:t>
                      </a:r>
                    </a:p>
                  </a:txBody>
                  <a:tcPr marL="128016" marR="91440" marT="45720" marB="45720" anchor="ctr">
                    <a:solidFill>
                      <a:srgbClr val="EEF2F5"/>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500" b="0" i="0">
                          <a:solidFill>
                            <a:srgbClr val="0F1D26"/>
                          </a:solidFill>
                          <a:latin typeface="Segoe UI"/>
                        </a:rPr>
                        <a:t>A duplicate preserved the lease; a changed payload under the same ID was rejected</a:t>
                      </a:r>
                    </a:p>
                  </a:txBody>
                  <a:tcPr marL="128016" marR="91440" marT="45720" marB="45720" anchor="ctr">
                    <a:solidFill>
                      <a:srgbClr val="EEF2F5"/>
                    </a:solidFill>
                    <a:lnL w="0">
                      <a:noFill/>
                    </a:lnL>
                    <a:lnR w="0">
                      <a:noFill/>
                    </a:lnR>
                    <a:lnT w="0">
                      <a:noFill/>
                    </a:lnT>
                    <a:lnB w="9525">
                      <a:solidFill>
                        <a:srgbClr val="DDE5EB"/>
                      </a:solidFill>
                    </a:lnB>
                  </a:tcPr>
                </a:tc>
              </a:tr>
            </a:tbl>
          </a:graphicData>
        </a:graphic>
      </p:graphicFrame>
      <p:sp>
        <p:nvSpPr>
          <p:cNvPr id="8" name="Rounded Rectangle 7"/>
          <p:cNvSpPr/>
          <p:nvPr/>
        </p:nvSpPr>
        <p:spPr>
          <a:xfrm>
            <a:off x="640080" y="5779008"/>
            <a:ext cx="10911535" cy="502920"/>
          </a:xfrm>
          <a:prstGeom prst="roundRect">
            <a:avLst>
              <a:gd name="adj" fmla="val 25454"/>
            </a:avLst>
          </a:prstGeom>
          <a:solidFill>
            <a:srgbClr val="E3F5EF"/>
          </a:solidFill>
          <a:ln w="9525">
            <a:solidFill>
              <a:srgbClr val="14A58A"/>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400" b="1" i="0">
                <a:solidFill>
                  <a:srgbClr val="0B7A65"/>
                </a:solidFill>
                <a:latin typeface="Segoe UI"/>
              </a:rPr>
              <a:t>Sampled during the run: 243 overviews and 708 coordinator snapshots, no violation, maximum observed grant 119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ounded Rectangle 1"/>
          <p:cNvSpPr/>
          <p:nvPr/>
        </p:nvSpPr>
        <p:spPr>
          <a:xfrm>
            <a:off x="640080" y="475488"/>
            <a:ext cx="292608" cy="54864"/>
          </a:xfrm>
          <a:prstGeom prst="roundRect">
            <a:avLst>
              <a:gd name="adj" fmla="val 50000"/>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51560" y="365760"/>
            <a:ext cx="7315200" cy="274320"/>
          </a:xfrm>
          <a:prstGeom prst="rect">
            <a:avLst/>
          </a:prstGeom>
          <a:noFill/>
        </p:spPr>
        <p:txBody>
          <a:bodyPr wrap="square" lIns="0" tIns="0" rIns="0" bIns="0" anchor="ctr">
            <a:spAutoFit/>
          </a:bodyPr>
          <a:lstStyle/>
          <a:p>
            <a:pPr algn="l">
              <a:spcBef>
                <a:spcPts val="0"/>
              </a:spcBef>
              <a:spcAft>
                <a:spcPts val="0"/>
              </a:spcAft>
            </a:pPr>
            <a:r>
              <a:rPr sz="1200" b="1" i="0">
                <a:solidFill>
                  <a:srgbClr val="0B7A65"/>
                </a:solidFill>
                <a:latin typeface="Segoe UI"/>
              </a:rPr>
              <a:t>RANDOMIZED FAULT CHECK</a:t>
            </a:r>
          </a:p>
        </p:txBody>
      </p:sp>
      <p:sp>
        <p:nvSpPr>
          <p:cNvPr id="4" name="TextBox 3"/>
          <p:cNvSpPr txBox="1"/>
          <p:nvPr/>
        </p:nvSpPr>
        <p:spPr>
          <a:xfrm>
            <a:off x="640080" y="713232"/>
            <a:ext cx="10911535" cy="685800"/>
          </a:xfrm>
          <a:prstGeom prst="rect">
            <a:avLst/>
          </a:prstGeom>
          <a:noFill/>
        </p:spPr>
        <p:txBody>
          <a:bodyPr wrap="square" lIns="0" tIns="0" rIns="0" bIns="0" anchor="t">
            <a:spAutoFit/>
          </a:bodyPr>
          <a:lstStyle/>
          <a:p>
            <a:pPr algn="l">
              <a:spcBef>
                <a:spcPts val="0"/>
              </a:spcBef>
              <a:spcAft>
                <a:spcPts val="0"/>
              </a:spcAft>
            </a:pPr>
            <a:r>
              <a:rPr sz="3400" b="1" i="0">
                <a:solidFill>
                  <a:srgbClr val="0F1D26"/>
                </a:solidFill>
                <a:latin typeface="Segoe UI"/>
              </a:rPr>
              <a:t>A randomized fault run: zero violations</a:t>
            </a:r>
          </a:p>
        </p:txBody>
      </p:sp>
      <p:sp>
        <p:nvSpPr>
          <p:cNvPr id="5" name="TextBox 4"/>
          <p:cNvSpPr txBox="1"/>
          <p:nvPr/>
        </p:nvSpPr>
        <p:spPr>
          <a:xfrm>
            <a:off x="640080" y="6428232"/>
            <a:ext cx="4572000" cy="256032"/>
          </a:xfrm>
          <a:prstGeom prst="rect">
            <a:avLst/>
          </a:prstGeom>
          <a:noFill/>
        </p:spPr>
        <p:txBody>
          <a:bodyPr wrap="square" lIns="0" tIns="0" rIns="0" bIns="0" anchor="ctr">
            <a:spAutoFit/>
          </a:bodyPr>
          <a:lstStyle/>
          <a:p>
            <a:pPr algn="l">
              <a:spcBef>
                <a:spcPts val="0"/>
              </a:spcBef>
              <a:spcAft>
                <a:spcPts val="0"/>
              </a:spcAft>
            </a:pPr>
            <a:r>
              <a:rPr sz="1200" b="0" i="0">
                <a:solidFill>
                  <a:srgbClr val="52626F"/>
                </a:solidFill>
                <a:latin typeface="Segoe UI"/>
              </a:rPr>
              <a:t>Ishtirak · Distributed Systems</a:t>
            </a:r>
          </a:p>
        </p:txBody>
      </p:sp>
      <p:sp>
        <p:nvSpPr>
          <p:cNvPr id="6" name="TextBox 5"/>
          <p:cNvSpPr txBox="1"/>
          <p:nvPr/>
        </p:nvSpPr>
        <p:spPr>
          <a:xfrm>
            <a:off x="10180015" y="6428232"/>
            <a:ext cx="1371600" cy="256032"/>
          </a:xfrm>
          <a:prstGeom prst="rect">
            <a:avLst/>
          </a:prstGeom>
          <a:noFill/>
        </p:spPr>
        <p:txBody>
          <a:bodyPr wrap="square" lIns="0" tIns="0" rIns="0" bIns="0" anchor="ctr">
            <a:spAutoFit/>
          </a:bodyPr>
          <a:lstStyle/>
          <a:p>
            <a:pPr algn="r">
              <a:spcBef>
                <a:spcPts val="0"/>
              </a:spcBef>
              <a:spcAft>
                <a:spcPts val="0"/>
              </a:spcAft>
            </a:pPr>
            <a:r>
              <a:rPr sz="1200" b="0" i="0">
                <a:solidFill>
                  <a:srgbClr val="52626F"/>
                </a:solidFill>
                <a:latin typeface="Segoe UI"/>
              </a:rPr>
              <a:t>11 / 16</a:t>
            </a:r>
          </a:p>
        </p:txBody>
      </p:sp>
      <p:sp>
        <p:nvSpPr>
          <p:cNvPr id="7" name="Rounded Rectangle 6"/>
          <p:cNvSpPr/>
          <p:nvPr/>
        </p:nvSpPr>
        <p:spPr>
          <a:xfrm>
            <a:off x="640080" y="1554480"/>
            <a:ext cx="2560320" cy="1188720"/>
          </a:xfrm>
          <a:prstGeom prst="roundRect">
            <a:avLst>
              <a:gd name="adj" fmla="val 10769"/>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640080" y="1737360"/>
            <a:ext cx="64008" cy="822960"/>
          </a:xfrm>
          <a:prstGeom prst="roundRect">
            <a:avLst>
              <a:gd name="adj" fmla="val 42857"/>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96112" y="1664207"/>
            <a:ext cx="2194560" cy="566928"/>
          </a:xfrm>
          <a:prstGeom prst="rect">
            <a:avLst/>
          </a:prstGeom>
          <a:noFill/>
        </p:spPr>
        <p:txBody>
          <a:bodyPr wrap="square" lIns="0" tIns="0" rIns="0" bIns="0" anchor="ctr">
            <a:spAutoFit/>
          </a:bodyPr>
          <a:lstStyle/>
          <a:p>
            <a:pPr algn="l">
              <a:spcBef>
                <a:spcPts val="0"/>
              </a:spcBef>
              <a:spcAft>
                <a:spcPts val="0"/>
              </a:spcAft>
            </a:pPr>
            <a:r>
              <a:rPr sz="3200" b="1" i="0">
                <a:solidFill>
                  <a:srgbClr val="0F1D26"/>
                </a:solidFill>
                <a:latin typeface="Segoe UI"/>
              </a:rPr>
              <a:t>1,529</a:t>
            </a:r>
          </a:p>
        </p:txBody>
      </p:sp>
      <p:sp>
        <p:nvSpPr>
          <p:cNvPr id="10" name="TextBox 9"/>
          <p:cNvSpPr txBox="1"/>
          <p:nvPr/>
        </p:nvSpPr>
        <p:spPr>
          <a:xfrm>
            <a:off x="896112" y="2249424"/>
            <a:ext cx="2194560" cy="457200"/>
          </a:xfrm>
          <a:prstGeom prst="rect">
            <a:avLst/>
          </a:prstGeom>
          <a:noFill/>
        </p:spPr>
        <p:txBody>
          <a:bodyPr wrap="square" lIns="0" tIns="0" rIns="0" bIns="0" anchor="t">
            <a:spAutoFit/>
          </a:bodyPr>
          <a:lstStyle/>
          <a:p>
            <a:pPr algn="l">
              <a:spcBef>
                <a:spcPts val="0"/>
              </a:spcBef>
              <a:spcAft>
                <a:spcPts val="0"/>
              </a:spcAft>
            </a:pPr>
            <a:r>
              <a:rPr sz="1300" b="0" i="0">
                <a:solidFill>
                  <a:srgbClr val="52626F"/>
                </a:solidFill>
                <a:latin typeface="Segoe UI"/>
              </a:rPr>
              <a:t>requests sent</a:t>
            </a:r>
          </a:p>
        </p:txBody>
      </p:sp>
      <p:sp>
        <p:nvSpPr>
          <p:cNvPr id="11" name="Rounded Rectangle 10"/>
          <p:cNvSpPr/>
          <p:nvPr/>
        </p:nvSpPr>
        <p:spPr>
          <a:xfrm>
            <a:off x="3422599" y="1554480"/>
            <a:ext cx="2560320" cy="1188720"/>
          </a:xfrm>
          <a:prstGeom prst="roundRect">
            <a:avLst>
              <a:gd name="adj" fmla="val 10769"/>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3422599" y="1737360"/>
            <a:ext cx="64008" cy="822960"/>
          </a:xfrm>
          <a:prstGeom prst="roundRect">
            <a:avLst>
              <a:gd name="adj" fmla="val 42857"/>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678631" y="1664207"/>
            <a:ext cx="2194560" cy="566928"/>
          </a:xfrm>
          <a:prstGeom prst="rect">
            <a:avLst/>
          </a:prstGeom>
          <a:noFill/>
        </p:spPr>
        <p:txBody>
          <a:bodyPr wrap="square" lIns="0" tIns="0" rIns="0" bIns="0" anchor="ctr">
            <a:spAutoFit/>
          </a:bodyPr>
          <a:lstStyle/>
          <a:p>
            <a:pPr algn="l">
              <a:spcBef>
                <a:spcPts val="0"/>
              </a:spcBef>
              <a:spcAft>
                <a:spcPts val="0"/>
              </a:spcAft>
            </a:pPr>
            <a:r>
              <a:rPr sz="3200" b="1" i="0">
                <a:solidFill>
                  <a:srgbClr val="0B7A65"/>
                </a:solidFill>
                <a:latin typeface="Segoe UI"/>
              </a:rPr>
              <a:t>284</a:t>
            </a:r>
          </a:p>
        </p:txBody>
      </p:sp>
      <p:sp>
        <p:nvSpPr>
          <p:cNvPr id="14" name="TextBox 13"/>
          <p:cNvSpPr txBox="1"/>
          <p:nvPr/>
        </p:nvSpPr>
        <p:spPr>
          <a:xfrm>
            <a:off x="3678631" y="2249424"/>
            <a:ext cx="2194560" cy="457200"/>
          </a:xfrm>
          <a:prstGeom prst="rect">
            <a:avLst/>
          </a:prstGeom>
          <a:noFill/>
        </p:spPr>
        <p:txBody>
          <a:bodyPr wrap="square" lIns="0" tIns="0" rIns="0" bIns="0" anchor="t">
            <a:spAutoFit/>
          </a:bodyPr>
          <a:lstStyle/>
          <a:p>
            <a:pPr algn="l">
              <a:spcBef>
                <a:spcPts val="0"/>
              </a:spcBef>
              <a:spcAft>
                <a:spcPts val="0"/>
              </a:spcAft>
            </a:pPr>
            <a:r>
              <a:rPr sz="1300" b="0" i="0">
                <a:solidFill>
                  <a:srgbClr val="52626F"/>
                </a:solidFill>
                <a:latin typeface="Segoe UI"/>
              </a:rPr>
              <a:t>accepted</a:t>
            </a:r>
          </a:p>
        </p:txBody>
      </p:sp>
      <p:sp>
        <p:nvSpPr>
          <p:cNvPr id="15" name="Rounded Rectangle 14"/>
          <p:cNvSpPr/>
          <p:nvPr/>
        </p:nvSpPr>
        <p:spPr>
          <a:xfrm>
            <a:off x="6205118" y="1554480"/>
            <a:ext cx="2560320" cy="1188720"/>
          </a:xfrm>
          <a:prstGeom prst="roundRect">
            <a:avLst>
              <a:gd name="adj" fmla="val 10769"/>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6205118" y="1737360"/>
            <a:ext cx="64008" cy="822960"/>
          </a:xfrm>
          <a:prstGeom prst="roundRect">
            <a:avLst>
              <a:gd name="adj" fmla="val 42857"/>
            </a:avLst>
          </a:prstGeom>
          <a:solidFill>
            <a:srgbClr val="D69B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461150" y="1664207"/>
            <a:ext cx="2194560" cy="566928"/>
          </a:xfrm>
          <a:prstGeom prst="rect">
            <a:avLst/>
          </a:prstGeom>
          <a:noFill/>
        </p:spPr>
        <p:txBody>
          <a:bodyPr wrap="square" lIns="0" tIns="0" rIns="0" bIns="0" anchor="ctr">
            <a:spAutoFit/>
          </a:bodyPr>
          <a:lstStyle/>
          <a:p>
            <a:pPr algn="l">
              <a:spcBef>
                <a:spcPts val="0"/>
              </a:spcBef>
              <a:spcAft>
                <a:spcPts val="0"/>
              </a:spcAft>
            </a:pPr>
            <a:r>
              <a:rPr sz="3200" b="1" i="0">
                <a:solidFill>
                  <a:srgbClr val="0F1D26"/>
                </a:solidFill>
                <a:latin typeface="Segoe UI"/>
              </a:rPr>
              <a:t>1,183</a:t>
            </a:r>
          </a:p>
        </p:txBody>
      </p:sp>
      <p:sp>
        <p:nvSpPr>
          <p:cNvPr id="18" name="TextBox 17"/>
          <p:cNvSpPr txBox="1"/>
          <p:nvPr/>
        </p:nvSpPr>
        <p:spPr>
          <a:xfrm>
            <a:off x="6461150" y="2249424"/>
            <a:ext cx="2194560" cy="457200"/>
          </a:xfrm>
          <a:prstGeom prst="rect">
            <a:avLst/>
          </a:prstGeom>
          <a:noFill/>
        </p:spPr>
        <p:txBody>
          <a:bodyPr wrap="square" lIns="0" tIns="0" rIns="0" bIns="0" anchor="t">
            <a:spAutoFit/>
          </a:bodyPr>
          <a:lstStyle/>
          <a:p>
            <a:pPr algn="l">
              <a:spcBef>
                <a:spcPts val="0"/>
              </a:spcBef>
              <a:spcAft>
                <a:spcPts val="0"/>
              </a:spcAft>
            </a:pPr>
            <a:r>
              <a:rPr sz="1300" b="0" i="0">
                <a:solidFill>
                  <a:srgbClr val="52626F"/>
                </a:solidFill>
                <a:latin typeface="Segoe UI"/>
              </a:rPr>
              <a:t>rejected</a:t>
            </a:r>
          </a:p>
        </p:txBody>
      </p:sp>
      <p:sp>
        <p:nvSpPr>
          <p:cNvPr id="19" name="Rounded Rectangle 18"/>
          <p:cNvSpPr/>
          <p:nvPr/>
        </p:nvSpPr>
        <p:spPr>
          <a:xfrm>
            <a:off x="8987637" y="1554480"/>
            <a:ext cx="2560320" cy="1188720"/>
          </a:xfrm>
          <a:prstGeom prst="roundRect">
            <a:avLst>
              <a:gd name="adj" fmla="val 10769"/>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8987637" y="1737360"/>
            <a:ext cx="64008" cy="822960"/>
          </a:xfrm>
          <a:prstGeom prst="roundRect">
            <a:avLst>
              <a:gd name="adj" fmla="val 42857"/>
            </a:avLst>
          </a:prstGeom>
          <a:solidFill>
            <a:srgbClr val="8A99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243669" y="1664207"/>
            <a:ext cx="2194560" cy="566928"/>
          </a:xfrm>
          <a:prstGeom prst="rect">
            <a:avLst/>
          </a:prstGeom>
          <a:noFill/>
        </p:spPr>
        <p:txBody>
          <a:bodyPr wrap="square" lIns="0" tIns="0" rIns="0" bIns="0" anchor="ctr">
            <a:spAutoFit/>
          </a:bodyPr>
          <a:lstStyle/>
          <a:p>
            <a:pPr algn="l">
              <a:spcBef>
                <a:spcPts val="0"/>
              </a:spcBef>
              <a:spcAft>
                <a:spcPts val="0"/>
              </a:spcAft>
            </a:pPr>
            <a:r>
              <a:rPr sz="3200" b="1" i="0">
                <a:solidFill>
                  <a:srgbClr val="0F1D26"/>
                </a:solidFill>
                <a:latin typeface="Segoe UI"/>
              </a:rPr>
              <a:t>62</a:t>
            </a:r>
          </a:p>
        </p:txBody>
      </p:sp>
      <p:sp>
        <p:nvSpPr>
          <p:cNvPr id="22" name="TextBox 21"/>
          <p:cNvSpPr txBox="1"/>
          <p:nvPr/>
        </p:nvSpPr>
        <p:spPr>
          <a:xfrm>
            <a:off x="9243669" y="2249424"/>
            <a:ext cx="2194560" cy="457200"/>
          </a:xfrm>
          <a:prstGeom prst="rect">
            <a:avLst/>
          </a:prstGeom>
          <a:noFill/>
        </p:spPr>
        <p:txBody>
          <a:bodyPr wrap="square" lIns="0" tIns="0" rIns="0" bIns="0" anchor="t">
            <a:spAutoFit/>
          </a:bodyPr>
          <a:lstStyle/>
          <a:p>
            <a:pPr algn="l">
              <a:spcBef>
                <a:spcPts val="0"/>
              </a:spcBef>
              <a:spcAft>
                <a:spcPts val="0"/>
              </a:spcAft>
            </a:pPr>
            <a:r>
              <a:rPr sz="1300" b="0" i="0">
                <a:solidFill>
                  <a:srgbClr val="52626F"/>
                </a:solidFill>
                <a:latin typeface="Segoe UI"/>
              </a:rPr>
              <a:t>unknown outcomes</a:t>
            </a:r>
          </a:p>
        </p:txBody>
      </p:sp>
      <p:sp>
        <p:nvSpPr>
          <p:cNvPr id="23" name="Rounded Rectangle 22"/>
          <p:cNvSpPr/>
          <p:nvPr/>
        </p:nvSpPr>
        <p:spPr>
          <a:xfrm>
            <a:off x="640080" y="2926080"/>
            <a:ext cx="2560320" cy="1188720"/>
          </a:xfrm>
          <a:prstGeom prst="roundRect">
            <a:avLst>
              <a:gd name="adj" fmla="val 10769"/>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640080" y="3108960"/>
            <a:ext cx="64008" cy="822960"/>
          </a:xfrm>
          <a:prstGeom prst="roundRect">
            <a:avLst>
              <a:gd name="adj" fmla="val 42857"/>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96112" y="3035808"/>
            <a:ext cx="2194560" cy="566928"/>
          </a:xfrm>
          <a:prstGeom prst="rect">
            <a:avLst/>
          </a:prstGeom>
          <a:noFill/>
        </p:spPr>
        <p:txBody>
          <a:bodyPr wrap="square" lIns="0" tIns="0" rIns="0" bIns="0" anchor="ctr">
            <a:spAutoFit/>
          </a:bodyPr>
          <a:lstStyle/>
          <a:p>
            <a:pPr algn="l">
              <a:spcBef>
                <a:spcPts val="0"/>
              </a:spcBef>
              <a:spcAft>
                <a:spcPts val="0"/>
              </a:spcAft>
            </a:pPr>
            <a:r>
              <a:rPr sz="3200" b="1" i="0">
                <a:solidFill>
                  <a:srgbClr val="0F1D26"/>
                </a:solidFill>
                <a:latin typeface="Segoe UI"/>
              </a:rPr>
              <a:t>134</a:t>
            </a:r>
          </a:p>
        </p:txBody>
      </p:sp>
      <p:sp>
        <p:nvSpPr>
          <p:cNvPr id="26" name="TextBox 25"/>
          <p:cNvSpPr txBox="1"/>
          <p:nvPr/>
        </p:nvSpPr>
        <p:spPr>
          <a:xfrm>
            <a:off x="896112" y="3621024"/>
            <a:ext cx="2194560" cy="457200"/>
          </a:xfrm>
          <a:prstGeom prst="rect">
            <a:avLst/>
          </a:prstGeom>
          <a:noFill/>
        </p:spPr>
        <p:txBody>
          <a:bodyPr wrap="square" lIns="0" tIns="0" rIns="0" bIns="0" anchor="t">
            <a:spAutoFit/>
          </a:bodyPr>
          <a:lstStyle/>
          <a:p>
            <a:pPr algn="l">
              <a:spcBef>
                <a:spcPts val="0"/>
              </a:spcBef>
              <a:spcAft>
                <a:spcPts val="0"/>
              </a:spcAft>
            </a:pPr>
            <a:r>
              <a:rPr sz="1300" b="0" i="0">
                <a:solidFill>
                  <a:srgbClr val="52626F"/>
                </a:solidFill>
                <a:latin typeface="Segoe UI"/>
              </a:rPr>
              <a:t>capacity samples</a:t>
            </a:r>
          </a:p>
        </p:txBody>
      </p:sp>
      <p:sp>
        <p:nvSpPr>
          <p:cNvPr id="27" name="Rounded Rectangle 26"/>
          <p:cNvSpPr/>
          <p:nvPr/>
        </p:nvSpPr>
        <p:spPr>
          <a:xfrm>
            <a:off x="3422599" y="2926080"/>
            <a:ext cx="2560320" cy="1188720"/>
          </a:xfrm>
          <a:prstGeom prst="roundRect">
            <a:avLst>
              <a:gd name="adj" fmla="val 10769"/>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3422599" y="3108960"/>
            <a:ext cx="64008" cy="822960"/>
          </a:xfrm>
          <a:prstGeom prst="roundRect">
            <a:avLst>
              <a:gd name="adj" fmla="val 42857"/>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3678631" y="3035808"/>
            <a:ext cx="2194560" cy="566928"/>
          </a:xfrm>
          <a:prstGeom prst="rect">
            <a:avLst/>
          </a:prstGeom>
          <a:noFill/>
        </p:spPr>
        <p:txBody>
          <a:bodyPr wrap="square" lIns="0" tIns="0" rIns="0" bIns="0" anchor="ctr">
            <a:spAutoFit/>
          </a:bodyPr>
          <a:lstStyle/>
          <a:p>
            <a:pPr algn="l">
              <a:spcBef>
                <a:spcPts val="0"/>
              </a:spcBef>
              <a:spcAft>
                <a:spcPts val="0"/>
              </a:spcAft>
            </a:pPr>
            <a:r>
              <a:rPr sz="3200" b="1" i="0">
                <a:solidFill>
                  <a:srgbClr val="0B7A65"/>
                </a:solidFill>
                <a:latin typeface="Segoe UI"/>
              </a:rPr>
              <a:t>120 A</a:t>
            </a:r>
          </a:p>
        </p:txBody>
      </p:sp>
      <p:sp>
        <p:nvSpPr>
          <p:cNvPr id="30" name="TextBox 29"/>
          <p:cNvSpPr txBox="1"/>
          <p:nvPr/>
        </p:nvSpPr>
        <p:spPr>
          <a:xfrm>
            <a:off x="3678631" y="3621024"/>
            <a:ext cx="2194560" cy="457200"/>
          </a:xfrm>
          <a:prstGeom prst="rect">
            <a:avLst/>
          </a:prstGeom>
          <a:noFill/>
        </p:spPr>
        <p:txBody>
          <a:bodyPr wrap="square" lIns="0" tIns="0" rIns="0" bIns="0" anchor="t">
            <a:spAutoFit/>
          </a:bodyPr>
          <a:lstStyle/>
          <a:p>
            <a:pPr algn="l">
              <a:spcBef>
                <a:spcPts val="0"/>
              </a:spcBef>
              <a:spcAft>
                <a:spcPts val="0"/>
              </a:spcAft>
            </a:pPr>
            <a:r>
              <a:rPr sz="1300" b="0" i="0">
                <a:solidFill>
                  <a:srgbClr val="52626F"/>
                </a:solidFill>
                <a:latin typeface="Segoe UI"/>
              </a:rPr>
              <a:t>max observed (the limit, not above)</a:t>
            </a:r>
          </a:p>
        </p:txBody>
      </p:sp>
      <p:sp>
        <p:nvSpPr>
          <p:cNvPr id="31" name="Rounded Rectangle 30"/>
          <p:cNvSpPr/>
          <p:nvPr/>
        </p:nvSpPr>
        <p:spPr>
          <a:xfrm>
            <a:off x="6205118" y="2926080"/>
            <a:ext cx="2560320" cy="1188720"/>
          </a:xfrm>
          <a:prstGeom prst="roundRect">
            <a:avLst>
              <a:gd name="adj" fmla="val 10769"/>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205118" y="3108960"/>
            <a:ext cx="64008" cy="822960"/>
          </a:xfrm>
          <a:prstGeom prst="roundRect">
            <a:avLst>
              <a:gd name="adj" fmla="val 42857"/>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6461150" y="3035808"/>
            <a:ext cx="2194560" cy="566928"/>
          </a:xfrm>
          <a:prstGeom prst="rect">
            <a:avLst/>
          </a:prstGeom>
          <a:noFill/>
        </p:spPr>
        <p:txBody>
          <a:bodyPr wrap="square" lIns="0" tIns="0" rIns="0" bIns="0" anchor="ctr">
            <a:spAutoFit/>
          </a:bodyPr>
          <a:lstStyle/>
          <a:p>
            <a:pPr algn="l">
              <a:spcBef>
                <a:spcPts val="0"/>
              </a:spcBef>
              <a:spcAft>
                <a:spcPts val="0"/>
              </a:spcAft>
            </a:pPr>
            <a:r>
              <a:rPr sz="3200" b="1" i="0">
                <a:solidFill>
                  <a:srgbClr val="0B7A65"/>
                </a:solidFill>
                <a:latin typeface="Segoe UI"/>
              </a:rPr>
              <a:t>0</a:t>
            </a:r>
          </a:p>
        </p:txBody>
      </p:sp>
      <p:sp>
        <p:nvSpPr>
          <p:cNvPr id="34" name="TextBox 33"/>
          <p:cNvSpPr txBox="1"/>
          <p:nvPr/>
        </p:nvSpPr>
        <p:spPr>
          <a:xfrm>
            <a:off x="6461150" y="3621024"/>
            <a:ext cx="2194560" cy="457200"/>
          </a:xfrm>
          <a:prstGeom prst="rect">
            <a:avLst/>
          </a:prstGeom>
          <a:noFill/>
        </p:spPr>
        <p:txBody>
          <a:bodyPr wrap="square" lIns="0" tIns="0" rIns="0" bIns="0" anchor="t">
            <a:spAutoFit/>
          </a:bodyPr>
          <a:lstStyle/>
          <a:p>
            <a:pPr algn="l">
              <a:spcBef>
                <a:spcPts val="0"/>
              </a:spcBef>
              <a:spcAft>
                <a:spcPts val="0"/>
              </a:spcAft>
            </a:pPr>
            <a:r>
              <a:rPr sz="1300" b="0" i="0">
                <a:solidFill>
                  <a:srgbClr val="52626F"/>
                </a:solidFill>
                <a:latin typeface="Segoe UI"/>
              </a:rPr>
              <a:t>violations</a:t>
            </a:r>
          </a:p>
        </p:txBody>
      </p:sp>
      <p:sp>
        <p:nvSpPr>
          <p:cNvPr id="35" name="Rounded Rectangle 34"/>
          <p:cNvSpPr/>
          <p:nvPr/>
        </p:nvSpPr>
        <p:spPr>
          <a:xfrm>
            <a:off x="8987637" y="2926080"/>
            <a:ext cx="2560320" cy="1188720"/>
          </a:xfrm>
          <a:prstGeom prst="roundRect">
            <a:avLst>
              <a:gd name="adj" fmla="val 10769"/>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p:cNvSpPr/>
          <p:nvPr/>
        </p:nvSpPr>
        <p:spPr>
          <a:xfrm>
            <a:off x="8987637" y="3108960"/>
            <a:ext cx="64008" cy="822960"/>
          </a:xfrm>
          <a:prstGeom prst="roundRect">
            <a:avLst>
              <a:gd name="adj" fmla="val 42857"/>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243669" y="3035808"/>
            <a:ext cx="2194560" cy="566928"/>
          </a:xfrm>
          <a:prstGeom prst="rect">
            <a:avLst/>
          </a:prstGeom>
          <a:noFill/>
        </p:spPr>
        <p:txBody>
          <a:bodyPr wrap="square" lIns="0" tIns="0" rIns="0" bIns="0" anchor="ctr">
            <a:spAutoFit/>
          </a:bodyPr>
          <a:lstStyle/>
          <a:p>
            <a:pPr algn="l">
              <a:spcBef>
                <a:spcPts val="0"/>
              </a:spcBef>
              <a:spcAft>
                <a:spcPts val="0"/>
              </a:spcAft>
            </a:pPr>
            <a:r>
              <a:rPr sz="3200" b="1" i="0">
                <a:solidFill>
                  <a:srgbClr val="0F1D26"/>
                </a:solidFill>
                <a:latin typeface="Segoe UI"/>
              </a:rPr>
              <a:t>22,808</a:t>
            </a:r>
          </a:p>
        </p:txBody>
      </p:sp>
      <p:sp>
        <p:nvSpPr>
          <p:cNvPr id="38" name="TextBox 37"/>
          <p:cNvSpPr txBox="1"/>
          <p:nvPr/>
        </p:nvSpPr>
        <p:spPr>
          <a:xfrm>
            <a:off x="9243669" y="3621024"/>
            <a:ext cx="2194560" cy="457200"/>
          </a:xfrm>
          <a:prstGeom prst="rect">
            <a:avLst/>
          </a:prstGeom>
          <a:noFill/>
        </p:spPr>
        <p:txBody>
          <a:bodyPr wrap="square" lIns="0" tIns="0" rIns="0" bIns="0" anchor="t">
            <a:spAutoFit/>
          </a:bodyPr>
          <a:lstStyle/>
          <a:p>
            <a:pPr algn="l">
              <a:spcBef>
                <a:spcPts val="0"/>
              </a:spcBef>
              <a:spcAft>
                <a:spcPts val="0"/>
              </a:spcAft>
            </a:pPr>
            <a:r>
              <a:rPr sz="1300" b="0" i="0">
                <a:solidFill>
                  <a:srgbClr val="52626F"/>
                </a:solidFill>
                <a:latin typeface="Segoe UI"/>
              </a:rPr>
              <a:t>same applied index on all 3 coordinators</a:t>
            </a:r>
          </a:p>
        </p:txBody>
      </p:sp>
      <p:sp>
        <p:nvSpPr>
          <p:cNvPr id="39" name="Rounded Rectangle 38"/>
          <p:cNvSpPr/>
          <p:nvPr/>
        </p:nvSpPr>
        <p:spPr>
          <a:xfrm>
            <a:off x="640080" y="4343400"/>
            <a:ext cx="5341467" cy="1920240"/>
          </a:xfrm>
          <a:prstGeom prst="roundRect">
            <a:avLst>
              <a:gd name="adj" fmla="val 6666"/>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ounded Rectangle 39"/>
          <p:cNvSpPr/>
          <p:nvPr/>
        </p:nvSpPr>
        <p:spPr>
          <a:xfrm>
            <a:off x="640080" y="4526280"/>
            <a:ext cx="64008" cy="1554480"/>
          </a:xfrm>
          <a:prstGeom prst="roundRect">
            <a:avLst>
              <a:gd name="adj" fmla="val 42857"/>
            </a:avLst>
          </a:prstGeom>
          <a:solidFill>
            <a:srgbClr val="D69B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914400" y="4453128"/>
            <a:ext cx="4884267" cy="365760"/>
          </a:xfrm>
          <a:prstGeom prst="rect">
            <a:avLst/>
          </a:prstGeom>
          <a:noFill/>
        </p:spPr>
        <p:txBody>
          <a:bodyPr wrap="square" lIns="0" tIns="0" rIns="0" bIns="0" anchor="t">
            <a:spAutoFit/>
          </a:bodyPr>
          <a:lstStyle/>
          <a:p>
            <a:pPr algn="l">
              <a:spcBef>
                <a:spcPts val="0"/>
              </a:spcBef>
              <a:spcAft>
                <a:spcPts val="0"/>
              </a:spcAft>
            </a:pPr>
            <a:r>
              <a:rPr sz="1800" b="1" i="0">
                <a:solidFill>
                  <a:srgbClr val="0F1D26"/>
                </a:solidFill>
                <a:latin typeface="Segoe UI"/>
              </a:rPr>
              <a:t>Unknown outcome is not a rejection</a:t>
            </a:r>
          </a:p>
        </p:txBody>
      </p:sp>
      <p:sp>
        <p:nvSpPr>
          <p:cNvPr id="42" name="TextBox 41"/>
          <p:cNvSpPr txBox="1"/>
          <p:nvPr/>
        </p:nvSpPr>
        <p:spPr>
          <a:xfrm>
            <a:off x="914400" y="4892040"/>
            <a:ext cx="4884267" cy="1325880"/>
          </a:xfrm>
          <a:prstGeom prst="rect">
            <a:avLst/>
          </a:prstGeom>
          <a:noFill/>
        </p:spPr>
        <p:txBody>
          <a:bodyPr wrap="square" lIns="0" tIns="0" rIns="0" bIns="0" anchor="t">
            <a:spAutoFit/>
          </a:bodyPr>
          <a:lstStyle/>
          <a:p>
            <a:pPr algn="l">
              <a:spcBef>
                <a:spcPts val="0"/>
              </a:spcBef>
              <a:spcAft>
                <a:spcPts val="0"/>
              </a:spcAft>
            </a:pPr>
            <a:r>
              <a:rPr sz="1400" b="0" i="0">
                <a:solidFill>
                  <a:srgbClr val="52626F"/>
                </a:solidFill>
                <a:latin typeface="Segoe UI"/>
              </a:rPr>
              <a:t>A 503 or timeout may still have committed, so it is counted separately. The client retries with the same request ID. The 1,183 rejections were 1,182 capacity refusals and 1 deliberate changed-payload replay.</a:t>
            </a:r>
          </a:p>
        </p:txBody>
      </p:sp>
      <p:sp>
        <p:nvSpPr>
          <p:cNvPr id="43" name="Rounded Rectangle 42"/>
          <p:cNvSpPr/>
          <p:nvPr/>
        </p:nvSpPr>
        <p:spPr>
          <a:xfrm>
            <a:off x="6210147" y="4343400"/>
            <a:ext cx="5341467" cy="1920240"/>
          </a:xfrm>
          <a:prstGeom prst="roundRect">
            <a:avLst>
              <a:gd name="adj" fmla="val 6666"/>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ounded Rectangle 43"/>
          <p:cNvSpPr/>
          <p:nvPr/>
        </p:nvSpPr>
        <p:spPr>
          <a:xfrm>
            <a:off x="6210147" y="4526280"/>
            <a:ext cx="64008" cy="1554480"/>
          </a:xfrm>
          <a:prstGeom prst="roundRect">
            <a:avLst>
              <a:gd name="adj" fmla="val 42857"/>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6484467" y="4453128"/>
            <a:ext cx="4884267" cy="365760"/>
          </a:xfrm>
          <a:prstGeom prst="rect">
            <a:avLst/>
          </a:prstGeom>
          <a:noFill/>
        </p:spPr>
        <p:txBody>
          <a:bodyPr wrap="square" lIns="0" tIns="0" rIns="0" bIns="0" anchor="t">
            <a:spAutoFit/>
          </a:bodyPr>
          <a:lstStyle/>
          <a:p>
            <a:pPr algn="l">
              <a:spcBef>
                <a:spcPts val="0"/>
              </a:spcBef>
              <a:spcAft>
                <a:spcPts val="0"/>
              </a:spcAft>
            </a:pPr>
            <a:r>
              <a:rPr sz="1800" b="1" i="0">
                <a:solidFill>
                  <a:srgbClr val="0F1D26"/>
                </a:solidFill>
                <a:latin typeface="Segoe UI"/>
              </a:rPr>
              <a:t>Evidence, not proof</a:t>
            </a:r>
          </a:p>
        </p:txBody>
      </p:sp>
      <p:sp>
        <p:nvSpPr>
          <p:cNvPr id="46" name="TextBox 45"/>
          <p:cNvSpPr txBox="1"/>
          <p:nvPr/>
        </p:nvSpPr>
        <p:spPr>
          <a:xfrm>
            <a:off x="6484467" y="4892040"/>
            <a:ext cx="4884267" cy="1325880"/>
          </a:xfrm>
          <a:prstGeom prst="rect">
            <a:avLst/>
          </a:prstGeom>
          <a:noFill/>
        </p:spPr>
        <p:txBody>
          <a:bodyPr wrap="square" lIns="0" tIns="0" rIns="0" bIns="0" anchor="t">
            <a:spAutoFit/>
          </a:bodyPr>
          <a:lstStyle/>
          <a:p>
            <a:pPr algn="l">
              <a:spcBef>
                <a:spcPts val="0"/>
              </a:spcBef>
              <a:spcAft>
                <a:spcPts val="0"/>
              </a:spcAft>
            </a:pPr>
            <a:r>
              <a:rPr sz="1400" b="0" i="0">
                <a:solidFill>
                  <a:srgbClr val="52626F"/>
                </a:solidFill>
                <a:latin typeface="Segoe UI"/>
              </a:rPr>
              <a:t>One seed, 90 s, eight workers. A fixed fault schedule stopped coordinators and gateways, including a ~15 s majority-loss window. Sampling cannot rule out a transient between samples.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ounded Rectangle 1"/>
          <p:cNvSpPr/>
          <p:nvPr/>
        </p:nvSpPr>
        <p:spPr>
          <a:xfrm>
            <a:off x="640080" y="475488"/>
            <a:ext cx="292608" cy="54864"/>
          </a:xfrm>
          <a:prstGeom prst="roundRect">
            <a:avLst>
              <a:gd name="adj" fmla="val 50000"/>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51560" y="365760"/>
            <a:ext cx="7315200" cy="274320"/>
          </a:xfrm>
          <a:prstGeom prst="rect">
            <a:avLst/>
          </a:prstGeom>
          <a:noFill/>
        </p:spPr>
        <p:txBody>
          <a:bodyPr wrap="square" lIns="0" tIns="0" rIns="0" bIns="0" anchor="ctr">
            <a:spAutoFit/>
          </a:bodyPr>
          <a:lstStyle/>
          <a:p>
            <a:pPr algn="l">
              <a:spcBef>
                <a:spcPts val="0"/>
              </a:spcBef>
              <a:spcAft>
                <a:spcPts val="0"/>
              </a:spcAft>
            </a:pPr>
            <a:r>
              <a:rPr sz="1200" b="1" i="0">
                <a:solidFill>
                  <a:srgbClr val="0B7A65"/>
                </a:solidFill>
                <a:latin typeface="Segoe UI"/>
              </a:rPr>
              <a:t>PERFORMANCE</a:t>
            </a:r>
          </a:p>
        </p:txBody>
      </p:sp>
      <p:sp>
        <p:nvSpPr>
          <p:cNvPr id="4" name="TextBox 3"/>
          <p:cNvSpPr txBox="1"/>
          <p:nvPr/>
        </p:nvSpPr>
        <p:spPr>
          <a:xfrm>
            <a:off x="640080" y="713232"/>
            <a:ext cx="10911535" cy="685800"/>
          </a:xfrm>
          <a:prstGeom prst="rect">
            <a:avLst/>
          </a:prstGeom>
          <a:noFill/>
        </p:spPr>
        <p:txBody>
          <a:bodyPr wrap="square" lIns="0" tIns="0" rIns="0" bIns="0" anchor="t">
            <a:spAutoFit/>
          </a:bodyPr>
          <a:lstStyle/>
          <a:p>
            <a:pPr algn="l">
              <a:spcBef>
                <a:spcPts val="0"/>
              </a:spcBef>
              <a:spcAft>
                <a:spcPts val="0"/>
              </a:spcAft>
            </a:pPr>
            <a:r>
              <a:rPr sz="3400" b="1" i="0">
                <a:solidFill>
                  <a:srgbClr val="0F1D26"/>
                </a:solidFill>
                <a:latin typeface="Segoe UI"/>
              </a:rPr>
              <a:t>Decision latency is the same at 10, 50 and 200 meters</a:t>
            </a:r>
          </a:p>
        </p:txBody>
      </p:sp>
      <p:sp>
        <p:nvSpPr>
          <p:cNvPr id="5" name="TextBox 4"/>
          <p:cNvSpPr txBox="1"/>
          <p:nvPr/>
        </p:nvSpPr>
        <p:spPr>
          <a:xfrm>
            <a:off x="640080" y="6428232"/>
            <a:ext cx="4572000" cy="256032"/>
          </a:xfrm>
          <a:prstGeom prst="rect">
            <a:avLst/>
          </a:prstGeom>
          <a:noFill/>
        </p:spPr>
        <p:txBody>
          <a:bodyPr wrap="square" lIns="0" tIns="0" rIns="0" bIns="0" anchor="ctr">
            <a:spAutoFit/>
          </a:bodyPr>
          <a:lstStyle/>
          <a:p>
            <a:pPr algn="l">
              <a:spcBef>
                <a:spcPts val="0"/>
              </a:spcBef>
              <a:spcAft>
                <a:spcPts val="0"/>
              </a:spcAft>
            </a:pPr>
            <a:r>
              <a:rPr sz="1200" b="0" i="0">
                <a:solidFill>
                  <a:srgbClr val="52626F"/>
                </a:solidFill>
                <a:latin typeface="Segoe UI"/>
              </a:rPr>
              <a:t>Ishtirak · Distributed Systems</a:t>
            </a:r>
          </a:p>
        </p:txBody>
      </p:sp>
      <p:sp>
        <p:nvSpPr>
          <p:cNvPr id="6" name="TextBox 5"/>
          <p:cNvSpPr txBox="1"/>
          <p:nvPr/>
        </p:nvSpPr>
        <p:spPr>
          <a:xfrm>
            <a:off x="10180015" y="6428232"/>
            <a:ext cx="1371600" cy="256032"/>
          </a:xfrm>
          <a:prstGeom prst="rect">
            <a:avLst/>
          </a:prstGeom>
          <a:noFill/>
        </p:spPr>
        <p:txBody>
          <a:bodyPr wrap="square" lIns="0" tIns="0" rIns="0" bIns="0" anchor="ctr">
            <a:spAutoFit/>
          </a:bodyPr>
          <a:lstStyle/>
          <a:p>
            <a:pPr algn="r">
              <a:spcBef>
                <a:spcPts val="0"/>
              </a:spcBef>
              <a:spcAft>
                <a:spcPts val="0"/>
              </a:spcAft>
            </a:pPr>
            <a:r>
              <a:rPr sz="1200" b="0" i="0">
                <a:solidFill>
                  <a:srgbClr val="52626F"/>
                </a:solidFill>
                <a:latin typeface="Segoe UI"/>
              </a:rPr>
              <a:t>12 / 16</a:t>
            </a:r>
          </a:p>
        </p:txBody>
      </p:sp>
      <p:sp>
        <p:nvSpPr>
          <p:cNvPr id="7" name="TextBox 6"/>
          <p:cNvSpPr txBox="1"/>
          <p:nvPr/>
        </p:nvSpPr>
        <p:spPr>
          <a:xfrm>
            <a:off x="640080" y="1481328"/>
            <a:ext cx="6217920" cy="320040"/>
          </a:xfrm>
          <a:prstGeom prst="rect">
            <a:avLst/>
          </a:prstGeom>
          <a:noFill/>
        </p:spPr>
        <p:txBody>
          <a:bodyPr wrap="square" lIns="0" tIns="0" rIns="0" bIns="0" anchor="ctr">
            <a:spAutoFit/>
          </a:bodyPr>
          <a:lstStyle/>
          <a:p>
            <a:pPr algn="l">
              <a:spcBef>
                <a:spcPts val="0"/>
              </a:spcBef>
              <a:spcAft>
                <a:spcPts val="0"/>
              </a:spcAft>
            </a:pPr>
            <a:r>
              <a:rPr sz="1500" b="1" i="0">
                <a:solidFill>
                  <a:srgbClr val="0F1D26"/>
                </a:solidFill>
                <a:latin typeface="Segoe UI"/>
              </a:rPr>
              <a:t>Allocation-decision latency (ms), mean of 5 trials</a:t>
            </a:r>
          </a:p>
        </p:txBody>
      </p:sp>
      <p:graphicFrame>
        <p:nvGraphicFramePr>
          <p:cNvPr id="8" name="Chart 7"/>
          <p:cNvGraphicFramePr>
            <a:graphicFrameLocks noGrp="1"/>
          </p:cNvGraphicFramePr>
          <p:nvPr/>
        </p:nvGraphicFramePr>
        <p:xfrm>
          <a:off x="640080" y="1828800"/>
          <a:ext cx="6217920" cy="4023360"/>
        </p:xfrm>
        <a:graphic>
          <a:graphicData uri="http://schemas.openxmlformats.org/drawingml/2006/chart">
            <c:chart xmlns:c="http://schemas.openxmlformats.org/drawingml/2006/chart" r:id="rId2"/>
          </a:graphicData>
        </a:graphic>
      </p:graphicFrame>
      <p:sp>
        <p:nvSpPr>
          <p:cNvPr id="9" name="TextBox 8"/>
          <p:cNvSpPr txBox="1"/>
          <p:nvPr/>
        </p:nvSpPr>
        <p:spPr>
          <a:xfrm>
            <a:off x="7178040" y="1481328"/>
            <a:ext cx="4389120" cy="320040"/>
          </a:xfrm>
          <a:prstGeom prst="rect">
            <a:avLst/>
          </a:prstGeom>
          <a:noFill/>
        </p:spPr>
        <p:txBody>
          <a:bodyPr wrap="square" lIns="0" tIns="0" rIns="0" bIns="0" anchor="ctr">
            <a:spAutoFit/>
          </a:bodyPr>
          <a:lstStyle/>
          <a:p>
            <a:pPr algn="l">
              <a:spcBef>
                <a:spcPts val="0"/>
              </a:spcBef>
              <a:spcAft>
                <a:spcPts val="0"/>
              </a:spcAft>
            </a:pPr>
            <a:r>
              <a:rPr sz="1500" b="1" i="0">
                <a:solidFill>
                  <a:srgbClr val="0F1D26"/>
                </a:solidFill>
                <a:latin typeface="Segoe UI"/>
              </a:rPr>
              <a:t>Mean ± sd over 5 trials</a:t>
            </a:r>
          </a:p>
        </p:txBody>
      </p:sp>
      <p:graphicFrame>
        <p:nvGraphicFramePr>
          <p:cNvPr id="10" name="Table 9"/>
          <p:cNvGraphicFramePr>
            <a:graphicFrameLocks noGrp="1"/>
          </p:cNvGraphicFramePr>
          <p:nvPr/>
        </p:nvGraphicFramePr>
        <p:xfrm>
          <a:off x="7178040" y="1874519"/>
          <a:ext cx="4370832" cy="1911096"/>
        </p:xfrm>
        <a:graphic>
          <a:graphicData uri="http://schemas.openxmlformats.org/drawingml/2006/table">
            <a:tbl>
              <a:tblPr firstRow="0" bandRow="0">
                <a:tableStyleId>{5C22544A-7EE6-4342-B048-85BDC9FD1C3A}</a:tableStyleId>
              </a:tblPr>
              <a:tblGrid>
                <a:gridCol w="777240"/>
                <a:gridCol w="1143000"/>
                <a:gridCol w="1280160"/>
                <a:gridCol w="1170432"/>
              </a:tblGrid>
              <a:tr h="402336">
                <a:tc>
                  <a:txBody>
                    <a:bodyPr wrap="square" lIns="128016" anchor="ctr"/>
                    <a:lstStyle/>
                    <a:p>
                      <a:pPr algn="l">
                        <a:spcBef>
                          <a:spcPts val="0"/>
                        </a:spcBef>
                        <a:spcAft>
                          <a:spcPts val="0"/>
                        </a:spcAft>
                      </a:pPr>
                      <a:r>
                        <a:rPr sz="1300" b="1" i="0">
                          <a:solidFill>
                            <a:srgbClr val="FFFFFF"/>
                          </a:solidFill>
                          <a:latin typeface="Segoe UI"/>
                        </a:rPr>
                        <a:t>Meters</a:t>
                      </a:r>
                    </a:p>
                  </a:txBody>
                  <a:tcPr marL="128016" marR="91440" marT="45720" marB="45720" anchor="ctr">
                    <a:solidFill>
                      <a:srgbClr val="0F1D26"/>
                    </a:solidFill>
                  </a:tcPr>
                </a:tc>
                <a:tc>
                  <a:txBody>
                    <a:bodyPr wrap="square" lIns="128016" anchor="ctr"/>
                    <a:lstStyle/>
                    <a:p>
                      <a:pPr algn="l">
                        <a:spcBef>
                          <a:spcPts val="0"/>
                        </a:spcBef>
                        <a:spcAft>
                          <a:spcPts val="0"/>
                        </a:spcAft>
                      </a:pPr>
                      <a:r>
                        <a:rPr sz="1300" b="1" i="0">
                          <a:solidFill>
                            <a:srgbClr val="FFFFFF"/>
                          </a:solidFill>
                          <a:latin typeface="Segoe UI"/>
                        </a:rPr>
                        <a:t>p50 ms</a:t>
                      </a:r>
                    </a:p>
                  </a:txBody>
                  <a:tcPr marL="128016" marR="91440" marT="45720" marB="45720" anchor="ctr">
                    <a:solidFill>
                      <a:srgbClr val="0F1D26"/>
                    </a:solidFill>
                  </a:tcPr>
                </a:tc>
                <a:tc>
                  <a:txBody>
                    <a:bodyPr wrap="square" lIns="128016" anchor="ctr"/>
                    <a:lstStyle/>
                    <a:p>
                      <a:pPr algn="l">
                        <a:spcBef>
                          <a:spcPts val="0"/>
                        </a:spcBef>
                        <a:spcAft>
                          <a:spcPts val="0"/>
                        </a:spcAft>
                      </a:pPr>
                      <a:r>
                        <a:rPr sz="1300" b="1" i="0">
                          <a:solidFill>
                            <a:srgbClr val="FFFFFF"/>
                          </a:solidFill>
                          <a:latin typeface="Segoe UI"/>
                        </a:rPr>
                        <a:t>p95 ms</a:t>
                      </a:r>
                    </a:p>
                  </a:txBody>
                  <a:tcPr marL="128016" marR="91440" marT="45720" marB="45720" anchor="ctr">
                    <a:solidFill>
                      <a:srgbClr val="0F1D26"/>
                    </a:solidFill>
                  </a:tcPr>
                </a:tc>
                <a:tc>
                  <a:txBody>
                    <a:bodyPr wrap="square" lIns="128016" anchor="ctr"/>
                    <a:lstStyle/>
                    <a:p>
                      <a:pPr algn="l">
                        <a:spcBef>
                          <a:spcPts val="0"/>
                        </a:spcBef>
                        <a:spcAft>
                          <a:spcPts val="0"/>
                        </a:spcAft>
                      </a:pPr>
                      <a:r>
                        <a:rPr sz="1300" b="1" i="0">
                          <a:solidFill>
                            <a:srgbClr val="FFFFFF"/>
                          </a:solidFill>
                          <a:latin typeface="Segoe UI"/>
                        </a:rPr>
                        <a:t>Readings/s</a:t>
                      </a:r>
                    </a:p>
                  </a:txBody>
                  <a:tcPr marL="128016" marR="91440" marT="45720" marB="45720" anchor="ctr">
                    <a:solidFill>
                      <a:srgbClr val="0F1D26"/>
                    </a:solidFill>
                  </a:tcPr>
                </a:tc>
              </a:tr>
              <a:tr h="502920">
                <a:tc>
                  <a:txBody>
                    <a:bodyPr wrap="square" lIns="128016" anchor="ctr"/>
                    <a:lstStyle/>
                    <a:p>
                      <a:pPr algn="l">
                        <a:spcBef>
                          <a:spcPts val="0"/>
                        </a:spcBef>
                        <a:spcAft>
                          <a:spcPts val="0"/>
                        </a:spcAft>
                      </a:pPr>
                      <a:r>
                        <a:rPr sz="1400" b="1" i="0">
                          <a:solidFill>
                            <a:srgbClr val="0F1D26"/>
                          </a:solidFill>
                          <a:latin typeface="Segoe UI"/>
                        </a:rPr>
                        <a:t>10</a:t>
                      </a:r>
                    </a:p>
                  </a:txBody>
                  <a:tcPr marL="128016" marR="91440" marT="45720" marB="45720" anchor="ctr">
                    <a:solidFill>
                      <a:srgbClr val="FFFFFF"/>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79.5 ± 1.0</a:t>
                      </a:r>
                    </a:p>
                  </a:txBody>
                  <a:tcPr marL="128016" marR="91440" marT="45720" marB="45720" anchor="ctr">
                    <a:solidFill>
                      <a:srgbClr val="FFFFFF"/>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113.3 ± 4.4</a:t>
                      </a:r>
                    </a:p>
                  </a:txBody>
                  <a:tcPr marL="128016" marR="91440" marT="45720" marB="45720" anchor="ctr">
                    <a:solidFill>
                      <a:srgbClr val="FFFFFF"/>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9.7</a:t>
                      </a:r>
                    </a:p>
                  </a:txBody>
                  <a:tcPr marL="128016" marR="91440" marT="45720" marB="45720" anchor="ctr">
                    <a:solidFill>
                      <a:srgbClr val="FFFFFF"/>
                    </a:solidFill>
                    <a:lnL w="0">
                      <a:noFill/>
                    </a:lnL>
                    <a:lnR w="0">
                      <a:noFill/>
                    </a:lnR>
                    <a:lnT w="0">
                      <a:noFill/>
                    </a:lnT>
                    <a:lnB w="9525">
                      <a:solidFill>
                        <a:srgbClr val="DDE5EB"/>
                      </a:solidFill>
                    </a:lnB>
                  </a:tcPr>
                </a:tc>
              </a:tr>
              <a:tr h="502920">
                <a:tc>
                  <a:txBody>
                    <a:bodyPr wrap="square" lIns="128016" anchor="ctr"/>
                    <a:lstStyle/>
                    <a:p>
                      <a:pPr algn="l">
                        <a:spcBef>
                          <a:spcPts val="0"/>
                        </a:spcBef>
                        <a:spcAft>
                          <a:spcPts val="0"/>
                        </a:spcAft>
                      </a:pPr>
                      <a:r>
                        <a:rPr sz="1400" b="1" i="0">
                          <a:solidFill>
                            <a:srgbClr val="0F1D26"/>
                          </a:solidFill>
                          <a:latin typeface="Segoe UI"/>
                        </a:rPr>
                        <a:t>50</a:t>
                      </a:r>
                    </a:p>
                  </a:txBody>
                  <a:tcPr marL="128016" marR="91440" marT="45720" marB="45720" anchor="ctr">
                    <a:solidFill>
                      <a:srgbClr val="EEF2F5"/>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78.3 ± 0.6</a:t>
                      </a:r>
                    </a:p>
                  </a:txBody>
                  <a:tcPr marL="128016" marR="91440" marT="45720" marB="45720" anchor="ctr">
                    <a:solidFill>
                      <a:srgbClr val="EEF2F5"/>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112.9 ± 2.3</a:t>
                      </a:r>
                    </a:p>
                  </a:txBody>
                  <a:tcPr marL="128016" marR="91440" marT="45720" marB="45720" anchor="ctr">
                    <a:solidFill>
                      <a:srgbClr val="EEF2F5"/>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57.8</a:t>
                      </a:r>
                    </a:p>
                  </a:txBody>
                  <a:tcPr marL="128016" marR="91440" marT="45720" marB="45720" anchor="ctr">
                    <a:solidFill>
                      <a:srgbClr val="EEF2F5"/>
                    </a:solidFill>
                    <a:lnL w="0">
                      <a:noFill/>
                    </a:lnL>
                    <a:lnR w="0">
                      <a:noFill/>
                    </a:lnR>
                    <a:lnT w="0">
                      <a:noFill/>
                    </a:lnT>
                    <a:lnB w="9525">
                      <a:solidFill>
                        <a:srgbClr val="DDE5EB"/>
                      </a:solidFill>
                    </a:lnB>
                  </a:tcPr>
                </a:tc>
              </a:tr>
              <a:tr h="502920">
                <a:tc>
                  <a:txBody>
                    <a:bodyPr wrap="square" lIns="128016" anchor="ctr"/>
                    <a:lstStyle/>
                    <a:p>
                      <a:pPr algn="l">
                        <a:spcBef>
                          <a:spcPts val="0"/>
                        </a:spcBef>
                        <a:spcAft>
                          <a:spcPts val="0"/>
                        </a:spcAft>
                      </a:pPr>
                      <a:r>
                        <a:rPr sz="1400" b="1" i="0">
                          <a:solidFill>
                            <a:srgbClr val="0F1D26"/>
                          </a:solidFill>
                          <a:latin typeface="Segoe UI"/>
                        </a:rPr>
                        <a:t>200</a:t>
                      </a:r>
                    </a:p>
                  </a:txBody>
                  <a:tcPr marL="128016" marR="91440" marT="45720" marB="45720" anchor="ctr">
                    <a:solidFill>
                      <a:srgbClr val="FFFFFF"/>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79.4 ± 1.4</a:t>
                      </a:r>
                    </a:p>
                  </a:txBody>
                  <a:tcPr marL="128016" marR="91440" marT="45720" marB="45720" anchor="ctr">
                    <a:solidFill>
                      <a:srgbClr val="FFFFFF"/>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114.1 ± 3.9</a:t>
                      </a:r>
                    </a:p>
                  </a:txBody>
                  <a:tcPr marL="128016" marR="91440" marT="45720" marB="45720" anchor="ctr">
                    <a:solidFill>
                      <a:srgbClr val="FFFFFF"/>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193.9</a:t>
                      </a:r>
                    </a:p>
                  </a:txBody>
                  <a:tcPr marL="128016" marR="91440" marT="45720" marB="45720" anchor="ctr">
                    <a:solidFill>
                      <a:srgbClr val="FFFFFF"/>
                    </a:solidFill>
                    <a:lnL w="0">
                      <a:noFill/>
                    </a:lnL>
                    <a:lnR w="0">
                      <a:noFill/>
                    </a:lnR>
                    <a:lnT w="0">
                      <a:noFill/>
                    </a:lnT>
                    <a:lnB w="9525">
                      <a:solidFill>
                        <a:srgbClr val="DDE5EB"/>
                      </a:solidFill>
                    </a:lnB>
                  </a:tcPr>
                </a:tc>
              </a:tr>
            </a:tbl>
          </a:graphicData>
        </a:graphic>
      </p:graphicFrame>
      <p:sp>
        <p:nvSpPr>
          <p:cNvPr id="11" name="Rounded Rectangle 10"/>
          <p:cNvSpPr/>
          <p:nvPr/>
        </p:nvSpPr>
        <p:spPr>
          <a:xfrm>
            <a:off x="7178040" y="3977639"/>
            <a:ext cx="4370832" cy="1874519"/>
          </a:xfrm>
          <a:prstGeom prst="roundRect">
            <a:avLst>
              <a:gd name="adj" fmla="val 6829"/>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7178040" y="4160520"/>
            <a:ext cx="64008" cy="1508760"/>
          </a:xfrm>
          <a:prstGeom prst="roundRect">
            <a:avLst>
              <a:gd name="adj" fmla="val 42857"/>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52360" y="4069080"/>
            <a:ext cx="3977639" cy="365760"/>
          </a:xfrm>
          <a:prstGeom prst="rect">
            <a:avLst/>
          </a:prstGeom>
          <a:noFill/>
        </p:spPr>
        <p:txBody>
          <a:bodyPr wrap="square" lIns="0" tIns="0" rIns="0" bIns="0" anchor="t">
            <a:spAutoFit/>
          </a:bodyPr>
          <a:lstStyle/>
          <a:p>
            <a:pPr algn="l">
              <a:spcBef>
                <a:spcPts val="0"/>
              </a:spcBef>
              <a:spcAft>
                <a:spcPts val="0"/>
              </a:spcAft>
            </a:pPr>
            <a:r>
              <a:rPr sz="1700" b="1" i="0">
                <a:solidFill>
                  <a:srgbClr val="0F1D26"/>
                </a:solidFill>
                <a:latin typeface="Segoe UI"/>
              </a:rPr>
              <a:t>20× the meters, same latency</a:t>
            </a:r>
          </a:p>
        </p:txBody>
      </p:sp>
      <p:sp>
        <p:nvSpPr>
          <p:cNvPr id="14" name="TextBox 13"/>
          <p:cNvSpPr txBox="1"/>
          <p:nvPr/>
        </p:nvSpPr>
        <p:spPr>
          <a:xfrm>
            <a:off x="7452360" y="4462272"/>
            <a:ext cx="3977639" cy="1371600"/>
          </a:xfrm>
          <a:prstGeom prst="rect">
            <a:avLst/>
          </a:prstGeom>
          <a:noFill/>
        </p:spPr>
        <p:txBody>
          <a:bodyPr wrap="square" lIns="0" tIns="0" rIns="0" bIns="0" anchor="t">
            <a:spAutoFit/>
          </a:bodyPr>
          <a:lstStyle/>
          <a:p>
            <a:pPr algn="l">
              <a:spcBef>
                <a:spcPts val="0"/>
              </a:spcBef>
              <a:spcAft>
                <a:spcPts val="0"/>
              </a:spcAft>
            </a:pPr>
            <a:r>
              <a:rPr sz="1400" b="0" i="0">
                <a:solidFill>
                  <a:srgbClr val="52626F"/>
                </a:solidFill>
                <a:latin typeface="Segoe UI"/>
              </a:rPr>
              <a:t>Gateway readings rose from 9.7 to 193.9 per second while decision p50 stayed near 78–80 ms. Each trial: 200 requests, 4 concurrent clients, all accepted, no errors.</a:t>
            </a:r>
          </a:p>
        </p:txBody>
      </p:sp>
      <p:sp>
        <p:nvSpPr>
          <p:cNvPr id="15" name="TextBox 14"/>
          <p:cNvSpPr txBox="1"/>
          <p:nvPr/>
        </p:nvSpPr>
        <p:spPr>
          <a:xfrm>
            <a:off x="640080" y="5943600"/>
            <a:ext cx="10911535" cy="365760"/>
          </a:xfrm>
          <a:prstGeom prst="rect">
            <a:avLst/>
          </a:prstGeom>
          <a:noFill/>
        </p:spPr>
        <p:txBody>
          <a:bodyPr wrap="square" lIns="0" tIns="0" rIns="0" bIns="0" anchor="t">
            <a:spAutoFit/>
          </a:bodyPr>
          <a:lstStyle/>
          <a:p>
            <a:pPr algn="l">
              <a:spcBef>
                <a:spcPts val="0"/>
              </a:spcBef>
              <a:spcAft>
                <a:spcPts val="0"/>
              </a:spcAft>
            </a:pPr>
            <a:r>
              <a:rPr sz="1300" b="0" i="1">
                <a:solidFill>
                  <a:srgbClr val="52626F"/>
                </a:solidFill>
                <a:latin typeface="Segoe UI"/>
              </a:rPr>
              <a:t>Caveat: the decision benchmark itself does not exercise meter volume; the readings-per-second column shows the volume.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ounded Rectangle 1"/>
          <p:cNvSpPr/>
          <p:nvPr/>
        </p:nvSpPr>
        <p:spPr>
          <a:xfrm>
            <a:off x="640080" y="475488"/>
            <a:ext cx="292608" cy="54864"/>
          </a:xfrm>
          <a:prstGeom prst="roundRect">
            <a:avLst>
              <a:gd name="adj" fmla="val 50000"/>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51560" y="365760"/>
            <a:ext cx="7315200" cy="274320"/>
          </a:xfrm>
          <a:prstGeom prst="rect">
            <a:avLst/>
          </a:prstGeom>
          <a:noFill/>
        </p:spPr>
        <p:txBody>
          <a:bodyPr wrap="square" lIns="0" tIns="0" rIns="0" bIns="0" anchor="ctr">
            <a:spAutoFit/>
          </a:bodyPr>
          <a:lstStyle/>
          <a:p>
            <a:pPr algn="l">
              <a:spcBef>
                <a:spcPts val="0"/>
              </a:spcBef>
              <a:spcAft>
                <a:spcPts val="0"/>
              </a:spcAft>
            </a:pPr>
            <a:r>
              <a:rPr sz="1200" b="1" i="0">
                <a:solidFill>
                  <a:srgbClr val="0B7A65"/>
                </a:solidFill>
                <a:latin typeface="Segoe UI"/>
              </a:rPr>
              <a:t>SCALABILITY LIMIT</a:t>
            </a:r>
          </a:p>
        </p:txBody>
      </p:sp>
      <p:sp>
        <p:nvSpPr>
          <p:cNvPr id="4" name="TextBox 3"/>
          <p:cNvSpPr txBox="1"/>
          <p:nvPr/>
        </p:nvSpPr>
        <p:spPr>
          <a:xfrm>
            <a:off x="640080" y="713232"/>
            <a:ext cx="10911535" cy="685800"/>
          </a:xfrm>
          <a:prstGeom prst="rect">
            <a:avLst/>
          </a:prstGeom>
          <a:noFill/>
        </p:spPr>
        <p:txBody>
          <a:bodyPr wrap="square" lIns="0" tIns="0" rIns="0" bIns="0" anchor="t">
            <a:spAutoFit/>
          </a:bodyPr>
          <a:lstStyle/>
          <a:p>
            <a:pPr algn="l">
              <a:spcBef>
                <a:spcPts val="0"/>
              </a:spcBef>
              <a:spcAft>
                <a:spcPts val="0"/>
              </a:spcAft>
            </a:pPr>
            <a:r>
              <a:rPr sz="3400" b="1" i="0">
                <a:solidFill>
                  <a:srgbClr val="0F1D26"/>
                </a:solidFill>
                <a:latin typeface="Segoe UI"/>
              </a:rPr>
              <a:t>Throughput plateaus near 50 decisions/s</a:t>
            </a:r>
          </a:p>
        </p:txBody>
      </p:sp>
      <p:sp>
        <p:nvSpPr>
          <p:cNvPr id="5" name="TextBox 4"/>
          <p:cNvSpPr txBox="1"/>
          <p:nvPr/>
        </p:nvSpPr>
        <p:spPr>
          <a:xfrm>
            <a:off x="640080" y="6428232"/>
            <a:ext cx="4572000" cy="256032"/>
          </a:xfrm>
          <a:prstGeom prst="rect">
            <a:avLst/>
          </a:prstGeom>
          <a:noFill/>
        </p:spPr>
        <p:txBody>
          <a:bodyPr wrap="square" lIns="0" tIns="0" rIns="0" bIns="0" anchor="ctr">
            <a:spAutoFit/>
          </a:bodyPr>
          <a:lstStyle/>
          <a:p>
            <a:pPr algn="l">
              <a:spcBef>
                <a:spcPts val="0"/>
              </a:spcBef>
              <a:spcAft>
                <a:spcPts val="0"/>
              </a:spcAft>
            </a:pPr>
            <a:r>
              <a:rPr sz="1200" b="0" i="0">
                <a:solidFill>
                  <a:srgbClr val="52626F"/>
                </a:solidFill>
                <a:latin typeface="Segoe UI"/>
              </a:rPr>
              <a:t>Ishtirak · Distributed Systems</a:t>
            </a:r>
          </a:p>
        </p:txBody>
      </p:sp>
      <p:sp>
        <p:nvSpPr>
          <p:cNvPr id="6" name="TextBox 5"/>
          <p:cNvSpPr txBox="1"/>
          <p:nvPr/>
        </p:nvSpPr>
        <p:spPr>
          <a:xfrm>
            <a:off x="10180015" y="6428232"/>
            <a:ext cx="1371600" cy="256032"/>
          </a:xfrm>
          <a:prstGeom prst="rect">
            <a:avLst/>
          </a:prstGeom>
          <a:noFill/>
        </p:spPr>
        <p:txBody>
          <a:bodyPr wrap="square" lIns="0" tIns="0" rIns="0" bIns="0" anchor="ctr">
            <a:spAutoFit/>
          </a:bodyPr>
          <a:lstStyle/>
          <a:p>
            <a:pPr algn="r">
              <a:spcBef>
                <a:spcPts val="0"/>
              </a:spcBef>
              <a:spcAft>
                <a:spcPts val="0"/>
              </a:spcAft>
            </a:pPr>
            <a:r>
              <a:rPr sz="1200" b="0" i="0">
                <a:solidFill>
                  <a:srgbClr val="52626F"/>
                </a:solidFill>
                <a:latin typeface="Segoe UI"/>
              </a:rPr>
              <a:t>13 / 16</a:t>
            </a:r>
          </a:p>
        </p:txBody>
      </p:sp>
      <p:sp>
        <p:nvSpPr>
          <p:cNvPr id="7" name="TextBox 6"/>
          <p:cNvSpPr txBox="1"/>
          <p:nvPr/>
        </p:nvSpPr>
        <p:spPr>
          <a:xfrm>
            <a:off x="640080" y="1481328"/>
            <a:ext cx="5303520" cy="320040"/>
          </a:xfrm>
          <a:prstGeom prst="rect">
            <a:avLst/>
          </a:prstGeom>
          <a:noFill/>
        </p:spPr>
        <p:txBody>
          <a:bodyPr wrap="square" lIns="0" tIns="0" rIns="0" bIns="0" anchor="ctr">
            <a:spAutoFit/>
          </a:bodyPr>
          <a:lstStyle/>
          <a:p>
            <a:pPr algn="l">
              <a:spcBef>
                <a:spcPts val="0"/>
              </a:spcBef>
              <a:spcAft>
                <a:spcPts val="0"/>
              </a:spcAft>
            </a:pPr>
            <a:r>
              <a:rPr sz="1500" b="1" i="0">
                <a:solidFill>
                  <a:srgbClr val="0F1D26"/>
                </a:solidFill>
                <a:latin typeface="Segoe UI"/>
              </a:rPr>
              <a:t>Decisions per second vs concurrent clients</a:t>
            </a:r>
          </a:p>
        </p:txBody>
      </p:sp>
      <p:graphicFrame>
        <p:nvGraphicFramePr>
          <p:cNvPr id="8" name="Chart 7"/>
          <p:cNvGraphicFramePr>
            <a:graphicFrameLocks noGrp="1"/>
          </p:cNvGraphicFramePr>
          <p:nvPr/>
        </p:nvGraphicFramePr>
        <p:xfrm>
          <a:off x="640080" y="1828800"/>
          <a:ext cx="5330952" cy="2697480"/>
        </p:xfrm>
        <a:graphic>
          <a:graphicData uri="http://schemas.openxmlformats.org/drawingml/2006/chart">
            <c:chart xmlns:c="http://schemas.openxmlformats.org/drawingml/2006/chart" r:id="rId2"/>
          </a:graphicData>
        </a:graphic>
      </p:graphicFrame>
      <p:sp>
        <p:nvSpPr>
          <p:cNvPr id="9" name="TextBox 8"/>
          <p:cNvSpPr txBox="1"/>
          <p:nvPr/>
        </p:nvSpPr>
        <p:spPr>
          <a:xfrm>
            <a:off x="6217920" y="1481328"/>
            <a:ext cx="5303520" cy="320040"/>
          </a:xfrm>
          <a:prstGeom prst="rect">
            <a:avLst/>
          </a:prstGeom>
          <a:noFill/>
        </p:spPr>
        <p:txBody>
          <a:bodyPr wrap="square" lIns="0" tIns="0" rIns="0" bIns="0" anchor="ctr">
            <a:spAutoFit/>
          </a:bodyPr>
          <a:lstStyle/>
          <a:p>
            <a:pPr algn="l">
              <a:spcBef>
                <a:spcPts val="0"/>
              </a:spcBef>
              <a:spcAft>
                <a:spcPts val="0"/>
              </a:spcAft>
            </a:pPr>
            <a:r>
              <a:rPr sz="1500" b="1" i="0">
                <a:solidFill>
                  <a:srgbClr val="0F1D26"/>
                </a:solidFill>
                <a:latin typeface="Segoe UI"/>
              </a:rPr>
              <a:t>Median latency (p50, ms) vs concurrent clients</a:t>
            </a:r>
          </a:p>
        </p:txBody>
      </p:sp>
      <p:graphicFrame>
        <p:nvGraphicFramePr>
          <p:cNvPr id="10" name="Chart 9"/>
          <p:cNvGraphicFramePr>
            <a:graphicFrameLocks noGrp="1"/>
          </p:cNvGraphicFramePr>
          <p:nvPr/>
        </p:nvGraphicFramePr>
        <p:xfrm>
          <a:off x="6217920" y="1828800"/>
          <a:ext cx="5330952" cy="2697480"/>
        </p:xfrm>
        <a:graphic>
          <a:graphicData uri="http://schemas.openxmlformats.org/drawingml/2006/chart">
            <c:chart xmlns:c="http://schemas.openxmlformats.org/drawingml/2006/chart" r:id="rId3"/>
          </a:graphicData>
        </a:graphic>
      </p:graphicFrame>
      <p:sp>
        <p:nvSpPr>
          <p:cNvPr id="11" name="Rounded Rectangle 10"/>
          <p:cNvSpPr/>
          <p:nvPr/>
        </p:nvSpPr>
        <p:spPr>
          <a:xfrm>
            <a:off x="640080" y="4663440"/>
            <a:ext cx="5341467" cy="1600200"/>
          </a:xfrm>
          <a:prstGeom prst="roundRect">
            <a:avLst>
              <a:gd name="adj" fmla="val 8000"/>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640080" y="4846320"/>
            <a:ext cx="64008" cy="1234440"/>
          </a:xfrm>
          <a:prstGeom prst="roundRect">
            <a:avLst>
              <a:gd name="adj" fmla="val 42857"/>
            </a:avLst>
          </a:prstGeom>
          <a:solidFill>
            <a:srgbClr val="D69B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914400" y="4754880"/>
            <a:ext cx="4884267" cy="365760"/>
          </a:xfrm>
          <a:prstGeom prst="rect">
            <a:avLst/>
          </a:prstGeom>
          <a:noFill/>
        </p:spPr>
        <p:txBody>
          <a:bodyPr wrap="square" lIns="0" tIns="0" rIns="0" bIns="0" anchor="t">
            <a:spAutoFit/>
          </a:bodyPr>
          <a:lstStyle/>
          <a:p>
            <a:pPr algn="l">
              <a:spcBef>
                <a:spcPts val="0"/>
              </a:spcBef>
              <a:spcAft>
                <a:spcPts val="0"/>
              </a:spcAft>
            </a:pPr>
            <a:r>
              <a:rPr sz="1700" b="1" i="0">
                <a:solidFill>
                  <a:srgbClr val="0F1D26"/>
                </a:solidFill>
                <a:latin typeface="Segoe UI"/>
              </a:rPr>
              <a:t>The cause was not profiled</a:t>
            </a:r>
          </a:p>
        </p:txBody>
      </p:sp>
      <p:sp>
        <p:nvSpPr>
          <p:cNvPr id="14" name="TextBox 13"/>
          <p:cNvSpPr txBox="1"/>
          <p:nvPr/>
        </p:nvSpPr>
        <p:spPr>
          <a:xfrm>
            <a:off x="914400" y="5138928"/>
            <a:ext cx="4884267" cy="1097280"/>
          </a:xfrm>
          <a:prstGeom prst="rect">
            <a:avLst/>
          </a:prstGeom>
          <a:noFill/>
        </p:spPr>
        <p:txBody>
          <a:bodyPr wrap="square" lIns="0" tIns="0" rIns="0" bIns="0" anchor="t">
            <a:spAutoFit/>
          </a:bodyPr>
          <a:lstStyle/>
          <a:p>
            <a:pPr algn="l">
              <a:spcBef>
                <a:spcPts val="0"/>
              </a:spcBef>
              <a:spcAft>
                <a:spcPts val="0"/>
              </a:spcAft>
            </a:pPr>
            <a:r>
              <a:rPr sz="1500" b="0" i="0">
                <a:solidFill>
                  <a:srgbClr val="52626F"/>
                </a:solidFill>
                <a:latin typeface="Segoe UI"/>
              </a:rPr>
              <a:t>Fits one leader ordering every grant, but the dashboard proxy and the Python client are also in the path. A measured ceiling, not an identified bottleneck.</a:t>
            </a:r>
          </a:p>
        </p:txBody>
      </p:sp>
      <p:sp>
        <p:nvSpPr>
          <p:cNvPr id="15" name="Rounded Rectangle 14"/>
          <p:cNvSpPr/>
          <p:nvPr/>
        </p:nvSpPr>
        <p:spPr>
          <a:xfrm>
            <a:off x="6210147" y="4663440"/>
            <a:ext cx="5341467" cy="1600200"/>
          </a:xfrm>
          <a:prstGeom prst="roundRect">
            <a:avLst>
              <a:gd name="adj" fmla="val 8000"/>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6210147" y="4846320"/>
            <a:ext cx="64008" cy="1234440"/>
          </a:xfrm>
          <a:prstGeom prst="roundRect">
            <a:avLst>
              <a:gd name="adj" fmla="val 42857"/>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484467" y="4754880"/>
            <a:ext cx="4884267" cy="365760"/>
          </a:xfrm>
          <a:prstGeom prst="rect">
            <a:avLst/>
          </a:prstGeom>
          <a:noFill/>
        </p:spPr>
        <p:txBody>
          <a:bodyPr wrap="square" lIns="0" tIns="0" rIns="0" bIns="0" anchor="t">
            <a:spAutoFit/>
          </a:bodyPr>
          <a:lstStyle/>
          <a:p>
            <a:pPr algn="l">
              <a:spcBef>
                <a:spcPts val="0"/>
              </a:spcBef>
              <a:spcAft>
                <a:spcPts val="0"/>
              </a:spcAft>
            </a:pPr>
            <a:r>
              <a:rPr sz="1700" b="1" i="0">
                <a:solidFill>
                  <a:srgbClr val="0F1D26"/>
                </a:solidFill>
                <a:latin typeface="Segoe UI"/>
              </a:rPr>
              <a:t>Telemetry: 0.67 s end to end</a:t>
            </a:r>
          </a:p>
        </p:txBody>
      </p:sp>
      <p:sp>
        <p:nvSpPr>
          <p:cNvPr id="18" name="TextBox 17"/>
          <p:cNvSpPr txBox="1"/>
          <p:nvPr/>
        </p:nvSpPr>
        <p:spPr>
          <a:xfrm>
            <a:off x="6484467" y="5138928"/>
            <a:ext cx="4884267" cy="1097280"/>
          </a:xfrm>
          <a:prstGeom prst="rect">
            <a:avLst/>
          </a:prstGeom>
          <a:noFill/>
        </p:spPr>
        <p:txBody>
          <a:bodyPr wrap="square" lIns="0" tIns="0" rIns="0" bIns="0" anchor="t">
            <a:spAutoFit/>
          </a:bodyPr>
          <a:lstStyle/>
          <a:p>
            <a:pPr algn="l">
              <a:spcBef>
                <a:spcPts val="0"/>
              </a:spcBef>
              <a:spcAft>
                <a:spcPts val="0"/>
              </a:spcAft>
            </a:pPr>
            <a:r>
              <a:rPr sz="1500" b="0" i="0">
                <a:solidFill>
                  <a:srgbClr val="52626F"/>
                </a:solidFill>
                <a:latin typeface="Segoe UI"/>
              </a:rPr>
              <a:t>A demand change became visible in 0.38–0.83 s (mean 0.67 s, 5 samples, polled every 0.1 s). An upper bound at that resolution.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ounded Rectangle 1"/>
          <p:cNvSpPr/>
          <p:nvPr/>
        </p:nvSpPr>
        <p:spPr>
          <a:xfrm>
            <a:off x="640080" y="475488"/>
            <a:ext cx="292608" cy="54864"/>
          </a:xfrm>
          <a:prstGeom prst="roundRect">
            <a:avLst>
              <a:gd name="adj" fmla="val 50000"/>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51560" y="365760"/>
            <a:ext cx="7315200" cy="274320"/>
          </a:xfrm>
          <a:prstGeom prst="rect">
            <a:avLst/>
          </a:prstGeom>
          <a:noFill/>
        </p:spPr>
        <p:txBody>
          <a:bodyPr wrap="square" lIns="0" tIns="0" rIns="0" bIns="0" anchor="ctr">
            <a:spAutoFit/>
          </a:bodyPr>
          <a:lstStyle/>
          <a:p>
            <a:pPr algn="l">
              <a:spcBef>
                <a:spcPts val="0"/>
              </a:spcBef>
              <a:spcAft>
                <a:spcPts val="0"/>
              </a:spcAft>
            </a:pPr>
            <a:r>
              <a:rPr sz="1200" b="1" i="0">
                <a:solidFill>
                  <a:srgbClr val="0B7A65"/>
                </a:solidFill>
                <a:latin typeface="Segoe UI"/>
              </a:rPr>
              <a:t>CHALLENGES AND TRADE-OFFS</a:t>
            </a:r>
          </a:p>
        </p:txBody>
      </p:sp>
      <p:sp>
        <p:nvSpPr>
          <p:cNvPr id="4" name="TextBox 3"/>
          <p:cNvSpPr txBox="1"/>
          <p:nvPr/>
        </p:nvSpPr>
        <p:spPr>
          <a:xfrm>
            <a:off x="640080" y="713232"/>
            <a:ext cx="10911535" cy="685800"/>
          </a:xfrm>
          <a:prstGeom prst="rect">
            <a:avLst/>
          </a:prstGeom>
          <a:noFill/>
        </p:spPr>
        <p:txBody>
          <a:bodyPr wrap="square" lIns="0" tIns="0" rIns="0" bIns="0" anchor="t">
            <a:spAutoFit/>
          </a:bodyPr>
          <a:lstStyle/>
          <a:p>
            <a:pPr algn="l">
              <a:spcBef>
                <a:spcPts val="0"/>
              </a:spcBef>
              <a:spcAft>
                <a:spcPts val="0"/>
              </a:spcAft>
            </a:pPr>
            <a:r>
              <a:rPr sz="3400" b="1" i="0">
                <a:solidFill>
                  <a:srgbClr val="0F1D26"/>
                </a:solidFill>
                <a:latin typeface="Segoe UI"/>
              </a:rPr>
              <a:t>Every safety choice has a cost</a:t>
            </a:r>
          </a:p>
        </p:txBody>
      </p:sp>
      <p:sp>
        <p:nvSpPr>
          <p:cNvPr id="5" name="TextBox 4"/>
          <p:cNvSpPr txBox="1"/>
          <p:nvPr/>
        </p:nvSpPr>
        <p:spPr>
          <a:xfrm>
            <a:off x="640080" y="6428232"/>
            <a:ext cx="4572000" cy="256032"/>
          </a:xfrm>
          <a:prstGeom prst="rect">
            <a:avLst/>
          </a:prstGeom>
          <a:noFill/>
        </p:spPr>
        <p:txBody>
          <a:bodyPr wrap="square" lIns="0" tIns="0" rIns="0" bIns="0" anchor="ctr">
            <a:spAutoFit/>
          </a:bodyPr>
          <a:lstStyle/>
          <a:p>
            <a:pPr algn="l">
              <a:spcBef>
                <a:spcPts val="0"/>
              </a:spcBef>
              <a:spcAft>
                <a:spcPts val="0"/>
              </a:spcAft>
            </a:pPr>
            <a:r>
              <a:rPr sz="1200" b="0" i="0">
                <a:solidFill>
                  <a:srgbClr val="52626F"/>
                </a:solidFill>
                <a:latin typeface="Segoe UI"/>
              </a:rPr>
              <a:t>Ishtirak · Distributed Systems</a:t>
            </a:r>
          </a:p>
        </p:txBody>
      </p:sp>
      <p:sp>
        <p:nvSpPr>
          <p:cNvPr id="6" name="TextBox 5"/>
          <p:cNvSpPr txBox="1"/>
          <p:nvPr/>
        </p:nvSpPr>
        <p:spPr>
          <a:xfrm>
            <a:off x="10180015" y="6428232"/>
            <a:ext cx="1371600" cy="256032"/>
          </a:xfrm>
          <a:prstGeom prst="rect">
            <a:avLst/>
          </a:prstGeom>
          <a:noFill/>
        </p:spPr>
        <p:txBody>
          <a:bodyPr wrap="square" lIns="0" tIns="0" rIns="0" bIns="0" anchor="ctr">
            <a:spAutoFit/>
          </a:bodyPr>
          <a:lstStyle/>
          <a:p>
            <a:pPr algn="r">
              <a:spcBef>
                <a:spcPts val="0"/>
              </a:spcBef>
              <a:spcAft>
                <a:spcPts val="0"/>
              </a:spcAft>
            </a:pPr>
            <a:r>
              <a:rPr sz="1200" b="0" i="0">
                <a:solidFill>
                  <a:srgbClr val="52626F"/>
                </a:solidFill>
                <a:latin typeface="Segoe UI"/>
              </a:rPr>
              <a:t>14 / 16</a:t>
            </a:r>
          </a:p>
        </p:txBody>
      </p:sp>
      <p:graphicFrame>
        <p:nvGraphicFramePr>
          <p:cNvPr id="7" name="Table 6"/>
          <p:cNvGraphicFramePr>
            <a:graphicFrameLocks noGrp="1"/>
          </p:cNvGraphicFramePr>
          <p:nvPr/>
        </p:nvGraphicFramePr>
        <p:xfrm>
          <a:off x="640080" y="1554480"/>
          <a:ext cx="10911535" cy="4228185"/>
        </p:xfrm>
        <a:graphic>
          <a:graphicData uri="http://schemas.openxmlformats.org/drawingml/2006/table">
            <a:tbl>
              <a:tblPr firstRow="0" bandRow="0">
                <a:tableStyleId>{5C22544A-7EE6-4342-B048-85BDC9FD1C3A}</a:tableStyleId>
              </a:tblPr>
              <a:tblGrid>
                <a:gridCol w="2331720"/>
                <a:gridCol w="4480560"/>
                <a:gridCol w="4099255"/>
              </a:tblGrid>
              <a:tr h="497433">
                <a:tc>
                  <a:txBody>
                    <a:bodyPr wrap="square" lIns="128016" anchor="ctr"/>
                    <a:lstStyle/>
                    <a:p>
                      <a:pPr algn="l">
                        <a:spcBef>
                          <a:spcPts val="0"/>
                        </a:spcBef>
                        <a:spcAft>
                          <a:spcPts val="0"/>
                        </a:spcAft>
                      </a:pPr>
                      <a:r>
                        <a:rPr sz="1400" b="1" i="0">
                          <a:solidFill>
                            <a:srgbClr val="FFFFFF"/>
                          </a:solidFill>
                          <a:latin typeface="Segoe UI"/>
                        </a:rPr>
                        <a:t>Challenge</a:t>
                      </a:r>
                    </a:p>
                  </a:txBody>
                  <a:tcPr marL="128016" marR="91440" marT="45720" marB="45720" anchor="ctr">
                    <a:solidFill>
                      <a:srgbClr val="0F1D26"/>
                    </a:solidFill>
                  </a:tcPr>
                </a:tc>
                <a:tc>
                  <a:txBody>
                    <a:bodyPr wrap="square" lIns="128016" anchor="ctr"/>
                    <a:lstStyle/>
                    <a:p>
                      <a:pPr algn="l">
                        <a:spcBef>
                          <a:spcPts val="0"/>
                        </a:spcBef>
                        <a:spcAft>
                          <a:spcPts val="0"/>
                        </a:spcAft>
                      </a:pPr>
                      <a:r>
                        <a:rPr sz="1400" b="1" i="0">
                          <a:solidFill>
                            <a:srgbClr val="FFFFFF"/>
                          </a:solidFill>
                          <a:latin typeface="Segoe UI"/>
                        </a:rPr>
                        <a:t>Our answer</a:t>
                      </a:r>
                    </a:p>
                  </a:txBody>
                  <a:tcPr marL="128016" marR="91440" marT="45720" marB="45720" anchor="ctr">
                    <a:solidFill>
                      <a:srgbClr val="0F1D26"/>
                    </a:solidFill>
                  </a:tcPr>
                </a:tc>
                <a:tc>
                  <a:txBody>
                    <a:bodyPr wrap="square" lIns="128016" anchor="ctr"/>
                    <a:lstStyle/>
                    <a:p>
                      <a:pPr algn="l">
                        <a:spcBef>
                          <a:spcPts val="0"/>
                        </a:spcBef>
                        <a:spcAft>
                          <a:spcPts val="0"/>
                        </a:spcAft>
                      </a:pPr>
                      <a:r>
                        <a:rPr sz="1400" b="1" i="0">
                          <a:solidFill>
                            <a:srgbClr val="FFFFFF"/>
                          </a:solidFill>
                          <a:latin typeface="Segoe UI"/>
                        </a:rPr>
                        <a:t>What it costs</a:t>
                      </a:r>
                    </a:p>
                  </a:txBody>
                  <a:tcPr marL="128016" marR="91440" marT="45720" marB="45720" anchor="ctr">
                    <a:solidFill>
                      <a:srgbClr val="0F1D26"/>
                    </a:solidFill>
                  </a:tcPr>
                </a:tc>
              </a:tr>
              <a:tr h="621792">
                <a:tc>
                  <a:txBody>
                    <a:bodyPr wrap="square" lIns="128016" anchor="ctr"/>
                    <a:lstStyle/>
                    <a:p>
                      <a:pPr algn="l">
                        <a:spcBef>
                          <a:spcPts val="0"/>
                        </a:spcBef>
                        <a:spcAft>
                          <a:spcPts val="0"/>
                        </a:spcAft>
                      </a:pPr>
                      <a:r>
                        <a:rPr sz="1400" b="1" i="0">
                          <a:solidFill>
                            <a:srgbClr val="0F1D26"/>
                          </a:solidFill>
                          <a:latin typeface="Segoe UI"/>
                        </a:rPr>
                        <a:t>Unknown outcomes</a:t>
                      </a:r>
                    </a:p>
                  </a:txBody>
                  <a:tcPr marL="128016" marR="91440" marT="45720" marB="45720" anchor="ctr">
                    <a:solidFill>
                      <a:srgbClr val="FFFFFF"/>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Retry with the same request ID; keep the original send time</a:t>
                      </a:r>
                    </a:p>
                  </a:txBody>
                  <a:tcPr marL="128016" marR="91440" marT="45720" marB="45720" anchor="ctr">
                    <a:solidFill>
                      <a:srgbClr val="FFFFFF"/>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A valid grant may arrive too late to use</a:t>
                      </a:r>
                    </a:p>
                  </a:txBody>
                  <a:tcPr marL="128016" marR="91440" marT="45720" marB="45720" anchor="ctr">
                    <a:solidFill>
                      <a:srgbClr val="FFFFFF"/>
                    </a:solidFill>
                    <a:lnL w="0">
                      <a:noFill/>
                    </a:lnL>
                    <a:lnR w="0">
                      <a:noFill/>
                    </a:lnR>
                    <a:lnT w="0">
                      <a:noFill/>
                    </a:lnT>
                    <a:lnB w="9525">
                      <a:solidFill>
                        <a:srgbClr val="DDE5EB"/>
                      </a:solidFill>
                    </a:lnB>
                  </a:tcPr>
                </a:tc>
              </a:tr>
              <a:tr h="621792">
                <a:tc>
                  <a:txBody>
                    <a:bodyPr wrap="square" lIns="128016" anchor="ctr"/>
                    <a:lstStyle/>
                    <a:p>
                      <a:pPr algn="l">
                        <a:spcBef>
                          <a:spcPts val="0"/>
                        </a:spcBef>
                        <a:spcAft>
                          <a:spcPts val="0"/>
                        </a:spcAft>
                      </a:pPr>
                      <a:r>
                        <a:rPr sz="1400" b="1" i="0">
                          <a:solidFill>
                            <a:srgbClr val="0F1D26"/>
                          </a:solidFill>
                          <a:latin typeface="Segoe UI"/>
                        </a:rPr>
                        <a:t>Duplicate requests</a:t>
                      </a:r>
                    </a:p>
                  </a:txBody>
                  <a:tcPr marL="128016" marR="91440" marT="45720" marB="45720" anchor="ctr">
                    <a:solidFill>
                      <a:srgbClr val="EEF2F5"/>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Idempotent IDs: same ID, same stored result</a:t>
                      </a:r>
                    </a:p>
                  </a:txBody>
                  <a:tcPr marL="128016" marR="91440" marT="45720" marB="45720" anchor="ctr">
                    <a:solidFill>
                      <a:srgbClr val="EEF2F5"/>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Request history keeps growing</a:t>
                      </a:r>
                    </a:p>
                  </a:txBody>
                  <a:tcPr marL="128016" marR="91440" marT="45720" marB="45720" anchor="ctr">
                    <a:solidFill>
                      <a:srgbClr val="EEF2F5"/>
                    </a:solidFill>
                    <a:lnL w="0">
                      <a:noFill/>
                    </a:lnL>
                    <a:lnR w="0">
                      <a:noFill/>
                    </a:lnR>
                    <a:lnT w="0">
                      <a:noFill/>
                    </a:lnT>
                    <a:lnB w="9525">
                      <a:solidFill>
                        <a:srgbClr val="DDE5EB"/>
                      </a:solidFill>
                    </a:lnB>
                  </a:tcPr>
                </a:tc>
              </a:tr>
              <a:tr h="621792">
                <a:tc>
                  <a:txBody>
                    <a:bodyPr wrap="square" lIns="128016" anchor="ctr"/>
                    <a:lstStyle/>
                    <a:p>
                      <a:pPr algn="l">
                        <a:spcBef>
                          <a:spcPts val="0"/>
                        </a:spcBef>
                        <a:spcAft>
                          <a:spcPts val="0"/>
                        </a:spcAft>
                      </a:pPr>
                      <a:r>
                        <a:rPr sz="1400" b="1" i="0">
                          <a:solidFill>
                            <a:srgbClr val="0F1D26"/>
                          </a:solidFill>
                          <a:latin typeface="Segoe UI"/>
                        </a:rPr>
                        <a:t>Stale leader</a:t>
                      </a:r>
                    </a:p>
                  </a:txBody>
                  <a:tcPr marL="128016" marR="91440" marT="45720" marB="45720" anchor="ctr">
                    <a:solidFill>
                      <a:srgbClr val="FFFFFF"/>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Expiry fenced by building, lease version and term</a:t>
                      </a:r>
                    </a:p>
                  </a:txBody>
                  <a:tcPr marL="128016" marR="91440" marT="45720" marB="45720" anchor="ctr">
                    <a:solidFill>
                      <a:srgbClr val="FFFFFF"/>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Reclamation is deliberately conservative</a:t>
                      </a:r>
                    </a:p>
                  </a:txBody>
                  <a:tcPr marL="128016" marR="91440" marT="45720" marB="45720" anchor="ctr">
                    <a:solidFill>
                      <a:srgbClr val="FFFFFF"/>
                    </a:solidFill>
                    <a:lnL w="0">
                      <a:noFill/>
                    </a:lnL>
                    <a:lnR w="0">
                      <a:noFill/>
                    </a:lnR>
                    <a:lnT w="0">
                      <a:noFill/>
                    </a:lnT>
                    <a:lnB w="9525">
                      <a:solidFill>
                        <a:srgbClr val="DDE5EB"/>
                      </a:solidFill>
                    </a:lnB>
                  </a:tcPr>
                </a:tc>
              </a:tr>
              <a:tr h="621792">
                <a:tc>
                  <a:txBody>
                    <a:bodyPr wrap="square" lIns="128016" anchor="ctr"/>
                    <a:lstStyle/>
                    <a:p>
                      <a:pPr algn="l">
                        <a:spcBef>
                          <a:spcPts val="0"/>
                        </a:spcBef>
                        <a:spcAft>
                          <a:spcPts val="0"/>
                        </a:spcAft>
                      </a:pPr>
                      <a:r>
                        <a:rPr sz="1400" b="1" i="0">
                          <a:solidFill>
                            <a:srgbClr val="0F1D26"/>
                          </a:solidFill>
                          <a:latin typeface="Segoe UI"/>
                        </a:rPr>
                        <a:t>Clock differences</a:t>
                      </a:r>
                    </a:p>
                  </a:txBody>
                  <a:tcPr marL="128016" marR="91440" marT="45720" marB="45720" anchor="ctr">
                    <a:solidFill>
                      <a:srgbClr val="EEF2F5"/>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Monotonic durations; assume ≤ 1% rate error</a:t>
                      </a:r>
                    </a:p>
                  </a:txBody>
                  <a:tcPr marL="128016" marR="91440" marT="45720" marB="45720" anchor="ctr">
                    <a:solidFill>
                      <a:srgbClr val="EEF2F5"/>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Conservative 2 s margin; host suspend not covered</a:t>
                      </a:r>
                    </a:p>
                  </a:txBody>
                  <a:tcPr marL="128016" marR="91440" marT="45720" marB="45720" anchor="ctr">
                    <a:solidFill>
                      <a:srgbClr val="EEF2F5"/>
                    </a:solidFill>
                    <a:lnL w="0">
                      <a:noFill/>
                    </a:lnL>
                    <a:lnR w="0">
                      <a:noFill/>
                    </a:lnR>
                    <a:lnT w="0">
                      <a:noFill/>
                    </a:lnT>
                    <a:lnB w="9525">
                      <a:solidFill>
                        <a:srgbClr val="DDE5EB"/>
                      </a:solidFill>
                    </a:lnB>
                  </a:tcPr>
                </a:tc>
              </a:tr>
              <a:tr h="621792">
                <a:tc>
                  <a:txBody>
                    <a:bodyPr wrap="square" lIns="128016" anchor="ctr"/>
                    <a:lstStyle/>
                    <a:p>
                      <a:pPr algn="l">
                        <a:spcBef>
                          <a:spcPts val="0"/>
                        </a:spcBef>
                        <a:spcAft>
                          <a:spcPts val="0"/>
                        </a:spcAft>
                      </a:pPr>
                      <a:r>
                        <a:rPr sz="1400" b="1" i="0">
                          <a:solidFill>
                            <a:srgbClr val="0F1D26"/>
                          </a:solidFill>
                          <a:latin typeface="Segoe UI"/>
                        </a:rPr>
                        <a:t>Safety vs availability</a:t>
                      </a:r>
                    </a:p>
                  </a:txBody>
                  <a:tcPr marL="128016" marR="91440" marT="45720" marB="45720" anchor="ctr">
                    <a:solidFill>
                      <a:srgbClr val="FFFFFF"/>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No majority, no new grants</a:t>
                      </a:r>
                    </a:p>
                  </a:txBody>
                  <a:tcPr marL="128016" marR="91440" marT="45720" marB="45720" anchor="ctr">
                    <a:solidFill>
                      <a:srgbClr val="FFFFFF"/>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Service stops (0 A after 13 s in the test)</a:t>
                      </a:r>
                    </a:p>
                  </a:txBody>
                  <a:tcPr marL="128016" marR="91440" marT="45720" marB="45720" anchor="ctr">
                    <a:solidFill>
                      <a:srgbClr val="FFFFFF"/>
                    </a:solidFill>
                    <a:lnL w="0">
                      <a:noFill/>
                    </a:lnL>
                    <a:lnR w="0">
                      <a:noFill/>
                    </a:lnR>
                    <a:lnT w="0">
                      <a:noFill/>
                    </a:lnT>
                    <a:lnB w="9525">
                      <a:solidFill>
                        <a:srgbClr val="DDE5EB"/>
                      </a:solidFill>
                    </a:lnB>
                  </a:tcPr>
                </a:tc>
              </a:tr>
              <a:tr h="621792">
                <a:tc>
                  <a:txBody>
                    <a:bodyPr wrap="square" lIns="128016" anchor="ctr"/>
                    <a:lstStyle/>
                    <a:p>
                      <a:pPr algn="l">
                        <a:spcBef>
                          <a:spcPts val="0"/>
                        </a:spcBef>
                        <a:spcAft>
                          <a:spcPts val="0"/>
                        </a:spcAft>
                      </a:pPr>
                      <a:r>
                        <a:rPr sz="1400" b="1" i="0">
                          <a:solidFill>
                            <a:srgbClr val="0F1D26"/>
                          </a:solidFill>
                          <a:latin typeface="Segoe UI"/>
                        </a:rPr>
                        <a:t>Utilization vs safety</a:t>
                      </a:r>
                    </a:p>
                  </a:txBody>
                  <a:tcPr marL="128016" marR="91440" marT="45720" marB="45720" anchor="ctr">
                    <a:solidFill>
                      <a:srgbClr val="EEF2F5"/>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Renewals never shrink a reservation</a:t>
                      </a:r>
                    </a:p>
                  </a:txBody>
                  <a:tcPr marL="128016" marR="91440" marT="45720" marB="45720" anchor="ctr">
                    <a:solidFill>
                      <a:srgbClr val="EEF2F5"/>
                    </a:solidFill>
                    <a:lnL w="0">
                      <a:noFill/>
                    </a:lnL>
                    <a:lnR w="0">
                      <a:noFill/>
                    </a:lnR>
                    <a:lnT w="0">
                      <a:noFill/>
                    </a:lnT>
                    <a:lnB w="9525">
                      <a:solidFill>
                        <a:srgbClr val="DDE5EB"/>
                      </a:solidFill>
                    </a:lnB>
                  </a:tcPr>
                </a:tc>
                <a:tc>
                  <a:txBody>
                    <a:bodyPr wrap="square" lIns="128016" anchor="ctr"/>
                    <a:lstStyle/>
                    <a:p>
                      <a:pPr algn="l">
                        <a:spcBef>
                          <a:spcPts val="0"/>
                        </a:spcBef>
                        <a:spcAft>
                          <a:spcPts val="0"/>
                        </a:spcAft>
                      </a:pPr>
                      <a:r>
                        <a:rPr sz="1400" b="0" i="0">
                          <a:solidFill>
                            <a:srgbClr val="0F1D26"/>
                          </a:solidFill>
                          <a:latin typeface="Segoe UI"/>
                        </a:rPr>
                        <a:t>Starvation seen after a 200-meter run; safe shrink is future work</a:t>
                      </a:r>
                    </a:p>
                  </a:txBody>
                  <a:tcPr marL="128016" marR="91440" marT="45720" marB="45720" anchor="ctr">
                    <a:solidFill>
                      <a:srgbClr val="EEF2F5"/>
                    </a:solidFill>
                    <a:lnL w="0">
                      <a:noFill/>
                    </a:lnL>
                    <a:lnR w="0">
                      <a:noFill/>
                    </a:lnR>
                    <a:lnT w="0">
                      <a:noFill/>
                    </a:lnT>
                    <a:lnB w="9525">
                      <a:solidFill>
                        <a:srgbClr val="DDE5EB"/>
                      </a:solidFill>
                    </a:lnB>
                  </a:tcPr>
                </a:tc>
              </a:tr>
            </a:tbl>
          </a:graphicData>
        </a:graphic>
      </p:graphicFrame>
      <p:sp>
        <p:nvSpPr>
          <p:cNvPr id="8" name="TextBox 7"/>
          <p:cNvSpPr txBox="1"/>
          <p:nvPr/>
        </p:nvSpPr>
        <p:spPr>
          <a:xfrm>
            <a:off x="640080" y="5989320"/>
            <a:ext cx="10911535" cy="365760"/>
          </a:xfrm>
          <a:prstGeom prst="rect">
            <a:avLst/>
          </a:prstGeom>
          <a:noFill/>
        </p:spPr>
        <p:txBody>
          <a:bodyPr wrap="square" lIns="0" tIns="0" rIns="0" bIns="0" anchor="t">
            <a:spAutoFit/>
          </a:bodyPr>
          <a:lstStyle/>
          <a:p>
            <a:pPr algn="l">
              <a:spcBef>
                <a:spcPts val="0"/>
              </a:spcBef>
              <a:spcAft>
                <a:spcPts val="0"/>
              </a:spcAft>
            </a:pPr>
            <a:r>
              <a:rPr sz="1300" b="0" i="1">
                <a:solidFill>
                  <a:srgbClr val="52626F"/>
                </a:solidFill>
                <a:latin typeface="Segoe UI"/>
              </a:rPr>
              <a:t>After the starvation we saw, a reset script restarts the gateways so old reservations expire and buildings return to their current demand.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ounded Rectangle 1"/>
          <p:cNvSpPr/>
          <p:nvPr/>
        </p:nvSpPr>
        <p:spPr>
          <a:xfrm>
            <a:off x="640080" y="475488"/>
            <a:ext cx="292608" cy="54864"/>
          </a:xfrm>
          <a:prstGeom prst="roundRect">
            <a:avLst>
              <a:gd name="adj" fmla="val 50000"/>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51560" y="365760"/>
            <a:ext cx="7315200" cy="274320"/>
          </a:xfrm>
          <a:prstGeom prst="rect">
            <a:avLst/>
          </a:prstGeom>
          <a:noFill/>
        </p:spPr>
        <p:txBody>
          <a:bodyPr wrap="square" lIns="0" tIns="0" rIns="0" bIns="0" anchor="ctr">
            <a:spAutoFit/>
          </a:bodyPr>
          <a:lstStyle/>
          <a:p>
            <a:pPr algn="l">
              <a:spcBef>
                <a:spcPts val="0"/>
              </a:spcBef>
              <a:spcAft>
                <a:spcPts val="0"/>
              </a:spcAft>
            </a:pPr>
            <a:r>
              <a:rPr sz="1200" b="1" i="0">
                <a:solidFill>
                  <a:srgbClr val="0B7A65"/>
                </a:solidFill>
                <a:latin typeface="Segoe UI"/>
              </a:rPr>
              <a:t>CRITICAL EVALUATION AND LIMITS</a:t>
            </a:r>
          </a:p>
        </p:txBody>
      </p:sp>
      <p:sp>
        <p:nvSpPr>
          <p:cNvPr id="4" name="TextBox 3"/>
          <p:cNvSpPr txBox="1"/>
          <p:nvPr/>
        </p:nvSpPr>
        <p:spPr>
          <a:xfrm>
            <a:off x="640080" y="713232"/>
            <a:ext cx="10911535" cy="685800"/>
          </a:xfrm>
          <a:prstGeom prst="rect">
            <a:avLst/>
          </a:prstGeom>
          <a:noFill/>
        </p:spPr>
        <p:txBody>
          <a:bodyPr wrap="square" lIns="0" tIns="0" rIns="0" bIns="0" anchor="t">
            <a:spAutoFit/>
          </a:bodyPr>
          <a:lstStyle/>
          <a:p>
            <a:pPr algn="l">
              <a:spcBef>
                <a:spcPts val="0"/>
              </a:spcBef>
              <a:spcAft>
                <a:spcPts val="0"/>
              </a:spcAft>
            </a:pPr>
            <a:r>
              <a:rPr sz="3400" b="1" i="0">
                <a:solidFill>
                  <a:srgbClr val="0F1D26"/>
                </a:solidFill>
                <a:latin typeface="Segoe UI"/>
              </a:rPr>
              <a:t>What these results do not show</a:t>
            </a:r>
          </a:p>
        </p:txBody>
      </p:sp>
      <p:sp>
        <p:nvSpPr>
          <p:cNvPr id="5" name="TextBox 4"/>
          <p:cNvSpPr txBox="1"/>
          <p:nvPr/>
        </p:nvSpPr>
        <p:spPr>
          <a:xfrm>
            <a:off x="640080" y="6428232"/>
            <a:ext cx="4572000" cy="256032"/>
          </a:xfrm>
          <a:prstGeom prst="rect">
            <a:avLst/>
          </a:prstGeom>
          <a:noFill/>
        </p:spPr>
        <p:txBody>
          <a:bodyPr wrap="square" lIns="0" tIns="0" rIns="0" bIns="0" anchor="ctr">
            <a:spAutoFit/>
          </a:bodyPr>
          <a:lstStyle/>
          <a:p>
            <a:pPr algn="l">
              <a:spcBef>
                <a:spcPts val="0"/>
              </a:spcBef>
              <a:spcAft>
                <a:spcPts val="0"/>
              </a:spcAft>
            </a:pPr>
            <a:r>
              <a:rPr sz="1200" b="0" i="0">
                <a:solidFill>
                  <a:srgbClr val="52626F"/>
                </a:solidFill>
                <a:latin typeface="Segoe UI"/>
              </a:rPr>
              <a:t>Ishtirak · Distributed Systems</a:t>
            </a:r>
          </a:p>
        </p:txBody>
      </p:sp>
      <p:sp>
        <p:nvSpPr>
          <p:cNvPr id="6" name="TextBox 5"/>
          <p:cNvSpPr txBox="1"/>
          <p:nvPr/>
        </p:nvSpPr>
        <p:spPr>
          <a:xfrm>
            <a:off x="10180015" y="6428232"/>
            <a:ext cx="1371600" cy="256032"/>
          </a:xfrm>
          <a:prstGeom prst="rect">
            <a:avLst/>
          </a:prstGeom>
          <a:noFill/>
        </p:spPr>
        <p:txBody>
          <a:bodyPr wrap="square" lIns="0" tIns="0" rIns="0" bIns="0" anchor="ctr">
            <a:spAutoFit/>
          </a:bodyPr>
          <a:lstStyle/>
          <a:p>
            <a:pPr algn="r">
              <a:spcBef>
                <a:spcPts val="0"/>
              </a:spcBef>
              <a:spcAft>
                <a:spcPts val="0"/>
              </a:spcAft>
            </a:pPr>
            <a:r>
              <a:rPr sz="1200" b="0" i="0">
                <a:solidFill>
                  <a:srgbClr val="52626F"/>
                </a:solidFill>
                <a:latin typeface="Segoe UI"/>
              </a:rPr>
              <a:t>15 / 16</a:t>
            </a:r>
          </a:p>
        </p:txBody>
      </p:sp>
      <p:sp>
        <p:nvSpPr>
          <p:cNvPr id="7" name="Rounded Rectangle 6"/>
          <p:cNvSpPr/>
          <p:nvPr/>
        </p:nvSpPr>
        <p:spPr>
          <a:xfrm>
            <a:off x="640080" y="1600200"/>
            <a:ext cx="3520440" cy="3840480"/>
          </a:xfrm>
          <a:prstGeom prst="roundRect">
            <a:avLst>
              <a:gd name="adj" fmla="val 3636"/>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640080" y="1600200"/>
            <a:ext cx="3520440" cy="91440"/>
          </a:xfrm>
          <a:prstGeom prst="roundRect">
            <a:avLst>
              <a:gd name="adj" fmla="val 50000"/>
            </a:avLst>
          </a:prstGeom>
          <a:solidFill>
            <a:srgbClr val="D69B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1874519"/>
            <a:ext cx="3017520" cy="411480"/>
          </a:xfrm>
          <a:prstGeom prst="rect">
            <a:avLst/>
          </a:prstGeom>
          <a:noFill/>
        </p:spPr>
        <p:txBody>
          <a:bodyPr wrap="square" lIns="0" tIns="0" rIns="0" bIns="0" anchor="t">
            <a:spAutoFit/>
          </a:bodyPr>
          <a:lstStyle/>
          <a:p>
            <a:pPr algn="l">
              <a:spcBef>
                <a:spcPts val="0"/>
              </a:spcBef>
              <a:spcAft>
                <a:spcPts val="0"/>
              </a:spcAft>
            </a:pPr>
            <a:r>
              <a:rPr sz="1900" b="1" i="0">
                <a:solidFill>
                  <a:srgbClr val="0F1D26"/>
                </a:solidFill>
                <a:latin typeface="Segoe UI"/>
              </a:rPr>
              <a:t>Not measured</a:t>
            </a:r>
          </a:p>
        </p:txBody>
      </p:sp>
      <p:sp>
        <p:nvSpPr>
          <p:cNvPr id="10" name="TextBox 9"/>
          <p:cNvSpPr txBox="1"/>
          <p:nvPr/>
        </p:nvSpPr>
        <p:spPr>
          <a:xfrm>
            <a:off x="914400" y="2468880"/>
            <a:ext cx="3017520" cy="2926080"/>
          </a:xfrm>
          <a:prstGeom prst="rect">
            <a:avLst/>
          </a:prstGeom>
          <a:noFill/>
        </p:spPr>
        <p:txBody>
          <a:bodyPr wrap="square" lIns="0" tIns="0" rIns="0" bIns="0" anchor="t">
            <a:spAutoFit/>
          </a:bodyPr>
          <a:lstStyle/>
          <a:p>
            <a:pPr algn="l" marL="256032" indent="-256032">
              <a:spcBef>
                <a:spcPts val="0"/>
              </a:spcBef>
              <a:spcAft>
                <a:spcPts val="1000"/>
              </a:spcAft>
              <a:buClr>
                <a:srgbClr val="D69B3C"/>
              </a:buClr>
              <a:buChar char="•"/>
            </a:pPr>
            <a:r>
              <a:rPr sz="1600" b="0" i="0">
                <a:solidFill>
                  <a:srgbClr val="0F1D26"/>
                </a:solidFill>
                <a:latin typeface="Segoe UI"/>
              </a:rPr>
              <a:t>One host, short windows, concurrent local activity</a:t>
            </a:r>
          </a:p>
          <a:p>
            <a:pPr algn="l" marL="256032" indent="-256032">
              <a:spcBef>
                <a:spcPts val="0"/>
              </a:spcBef>
              <a:spcAft>
                <a:spcPts val="1000"/>
              </a:spcAft>
              <a:buClr>
                <a:srgbClr val="D69B3C"/>
              </a:buClr>
              <a:buChar char="•"/>
            </a:pPr>
            <a:r>
              <a:rPr sz="1600" b="0" i="0">
                <a:solidFill>
                  <a:srgbClr val="0F1D26"/>
                </a:solidFill>
                <a:latin typeface="Segoe UI"/>
              </a:rPr>
              <a:t>Trials are repeats on one stack, not independent samples</a:t>
            </a:r>
          </a:p>
          <a:p>
            <a:pPr algn="l" marL="256032" indent="-256032">
              <a:spcBef>
                <a:spcPts val="0"/>
              </a:spcBef>
              <a:spcAft>
                <a:spcPts val="1000"/>
              </a:spcAft>
              <a:buClr>
                <a:srgbClr val="D69B3C"/>
              </a:buClr>
              <a:buChar char="•"/>
            </a:pPr>
            <a:r>
              <a:rPr sz="1600" b="0" i="0">
                <a:solidFill>
                  <a:srgbClr val="0F1D26"/>
                </a:solidFill>
                <a:latin typeface="Segoe UI"/>
              </a:rPr>
              <a:t>No network-delay or packet-loss injection</a:t>
            </a:r>
          </a:p>
          <a:p>
            <a:pPr algn="l" marL="256032" indent="-256032">
              <a:spcBef>
                <a:spcPts val="0"/>
              </a:spcBef>
              <a:spcAft>
                <a:spcPts val="1000"/>
              </a:spcAft>
              <a:buClr>
                <a:srgbClr val="D69B3C"/>
              </a:buClr>
              <a:buChar char="•"/>
            </a:pPr>
            <a:r>
              <a:rPr sz="1600" b="0" i="0">
                <a:solidFill>
                  <a:srgbClr val="0F1D26"/>
                </a:solidFill>
                <a:latin typeface="Segoe UI"/>
              </a:rPr>
              <a:t>Sampling is evidence, not a proof</a:t>
            </a:r>
          </a:p>
        </p:txBody>
      </p:sp>
      <p:sp>
        <p:nvSpPr>
          <p:cNvPr id="11" name="Rounded Rectangle 10"/>
          <p:cNvSpPr/>
          <p:nvPr/>
        </p:nvSpPr>
        <p:spPr>
          <a:xfrm>
            <a:off x="4334256" y="1600200"/>
            <a:ext cx="3520440" cy="3840480"/>
          </a:xfrm>
          <a:prstGeom prst="roundRect">
            <a:avLst>
              <a:gd name="adj" fmla="val 3636"/>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4334256" y="1600200"/>
            <a:ext cx="3520440" cy="91440"/>
          </a:xfrm>
          <a:prstGeom prst="roundRect">
            <a:avLst>
              <a:gd name="adj" fmla="val 50000"/>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608576" y="1874519"/>
            <a:ext cx="3017520" cy="411480"/>
          </a:xfrm>
          <a:prstGeom prst="rect">
            <a:avLst/>
          </a:prstGeom>
          <a:noFill/>
        </p:spPr>
        <p:txBody>
          <a:bodyPr wrap="square" lIns="0" tIns="0" rIns="0" bIns="0" anchor="t">
            <a:spAutoFit/>
          </a:bodyPr>
          <a:lstStyle/>
          <a:p>
            <a:pPr algn="l">
              <a:spcBef>
                <a:spcPts val="0"/>
              </a:spcBef>
              <a:spcAft>
                <a:spcPts val="0"/>
              </a:spcAft>
            </a:pPr>
            <a:r>
              <a:rPr sz="1900" b="1" i="0">
                <a:solidFill>
                  <a:srgbClr val="0F1D26"/>
                </a:solidFill>
                <a:latin typeface="Segoe UI"/>
              </a:rPr>
              <a:t>Stated limits</a:t>
            </a:r>
          </a:p>
        </p:txBody>
      </p:sp>
      <p:sp>
        <p:nvSpPr>
          <p:cNvPr id="14" name="TextBox 13"/>
          <p:cNvSpPr txBox="1"/>
          <p:nvPr/>
        </p:nvSpPr>
        <p:spPr>
          <a:xfrm>
            <a:off x="4608576" y="2468880"/>
            <a:ext cx="3017520" cy="2926080"/>
          </a:xfrm>
          <a:prstGeom prst="rect">
            <a:avLst/>
          </a:prstGeom>
          <a:noFill/>
        </p:spPr>
        <p:txBody>
          <a:bodyPr wrap="square" lIns="0" tIns="0" rIns="0" bIns="0" anchor="t">
            <a:spAutoFit/>
          </a:bodyPr>
          <a:lstStyle/>
          <a:p>
            <a:pPr algn="l" marL="256032" indent="-256032">
              <a:spcBef>
                <a:spcPts val="0"/>
              </a:spcBef>
              <a:spcAft>
                <a:spcPts val="1000"/>
              </a:spcAft>
              <a:buClr>
                <a:srgbClr val="6484DC"/>
              </a:buClr>
              <a:buChar char="•"/>
            </a:pPr>
            <a:r>
              <a:rPr sz="1600" b="0" i="0">
                <a:solidFill>
                  <a:srgbClr val="0F1D26"/>
                </a:solidFill>
                <a:latin typeface="Segoe UI"/>
              </a:rPr>
              <a:t>No gateway replication</a:t>
            </a:r>
          </a:p>
          <a:p>
            <a:pPr algn="l" marL="256032" indent="-256032">
              <a:spcBef>
                <a:spcPts val="0"/>
              </a:spcBef>
              <a:spcAft>
                <a:spcPts val="1000"/>
              </a:spcAft>
              <a:buClr>
                <a:srgbClr val="6484DC"/>
              </a:buClr>
              <a:buChar char="•"/>
            </a:pPr>
            <a:r>
              <a:rPr sz="1600" b="0" i="0">
                <a:solidFill>
                  <a:srgbClr val="0F1D26"/>
                </a:solidFill>
                <a:latin typeface="Segoe UI"/>
              </a:rPr>
              <a:t>One PostgreSQL, no failover</a:t>
            </a:r>
          </a:p>
          <a:p>
            <a:pPr algn="l" marL="256032" indent="-256032">
              <a:spcBef>
                <a:spcPts val="0"/>
              </a:spcBef>
              <a:spcAft>
                <a:spcPts val="1000"/>
              </a:spcAft>
              <a:buClr>
                <a:srgbClr val="6484DC"/>
              </a:buClr>
              <a:buChar char="•"/>
            </a:pPr>
            <a:r>
              <a:rPr sz="1600" b="0" i="0">
                <a:solidFill>
                  <a:srgbClr val="0F1D26"/>
                </a:solidFill>
                <a:latin typeface="Segoe UI"/>
              </a:rPr>
              <a:t>Readings may be lost while a gateway is down</a:t>
            </a:r>
          </a:p>
          <a:p>
            <a:pPr algn="l" marL="256032" indent="-256032">
              <a:spcBef>
                <a:spcPts val="0"/>
              </a:spcBef>
              <a:spcAft>
                <a:spcPts val="1000"/>
              </a:spcAft>
              <a:buClr>
                <a:srgbClr val="6484DC"/>
              </a:buClr>
              <a:buChar char="•"/>
            </a:pPr>
            <a:r>
              <a:rPr sz="1600" b="0" i="0">
                <a:solidFill>
                  <a:srgbClr val="0F1D26"/>
                </a:solidFill>
                <a:latin typeface="Segoe UI"/>
              </a:rPr>
              <a:t>No fairness guarantee; no production authentication or TLS design</a:t>
            </a:r>
          </a:p>
        </p:txBody>
      </p:sp>
      <p:sp>
        <p:nvSpPr>
          <p:cNvPr id="15" name="Rounded Rectangle 14"/>
          <p:cNvSpPr/>
          <p:nvPr/>
        </p:nvSpPr>
        <p:spPr>
          <a:xfrm>
            <a:off x="8028431" y="1600200"/>
            <a:ext cx="3520440" cy="3840480"/>
          </a:xfrm>
          <a:prstGeom prst="roundRect">
            <a:avLst>
              <a:gd name="adj" fmla="val 3636"/>
            </a:avLst>
          </a:prstGeom>
          <a:solidFill>
            <a:srgbClr val="FFFFFF"/>
          </a:solidFill>
          <a:ln w="9525">
            <a:solidFill>
              <a:srgbClr val="DDE5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8028431" y="1600200"/>
            <a:ext cx="3520440" cy="91440"/>
          </a:xfrm>
          <a:prstGeom prst="roundRect">
            <a:avLst>
              <a:gd name="adj" fmla="val 50000"/>
            </a:avLst>
          </a:prstGeom>
          <a:solidFill>
            <a:srgbClr val="14A5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302752" y="1874519"/>
            <a:ext cx="3017520" cy="411480"/>
          </a:xfrm>
          <a:prstGeom prst="rect">
            <a:avLst/>
          </a:prstGeom>
          <a:noFill/>
        </p:spPr>
        <p:txBody>
          <a:bodyPr wrap="square" lIns="0" tIns="0" rIns="0" bIns="0" anchor="t">
            <a:spAutoFit/>
          </a:bodyPr>
          <a:lstStyle/>
          <a:p>
            <a:pPr algn="l">
              <a:spcBef>
                <a:spcPts val="0"/>
              </a:spcBef>
              <a:spcAft>
                <a:spcPts val="0"/>
              </a:spcAft>
            </a:pPr>
            <a:r>
              <a:rPr sz="1900" b="1" i="0">
                <a:solidFill>
                  <a:srgbClr val="0F1D26"/>
                </a:solidFill>
                <a:latin typeface="Segoe UI"/>
              </a:rPr>
              <a:t>Next steps</a:t>
            </a:r>
          </a:p>
        </p:txBody>
      </p:sp>
      <p:sp>
        <p:nvSpPr>
          <p:cNvPr id="18" name="TextBox 17"/>
          <p:cNvSpPr txBox="1"/>
          <p:nvPr/>
        </p:nvSpPr>
        <p:spPr>
          <a:xfrm>
            <a:off x="8302752" y="2468880"/>
            <a:ext cx="3017520" cy="2926080"/>
          </a:xfrm>
          <a:prstGeom prst="rect">
            <a:avLst/>
          </a:prstGeom>
          <a:noFill/>
        </p:spPr>
        <p:txBody>
          <a:bodyPr wrap="square" lIns="0" tIns="0" rIns="0" bIns="0" anchor="t">
            <a:spAutoFit/>
          </a:bodyPr>
          <a:lstStyle/>
          <a:p>
            <a:pPr algn="l" marL="256032" indent="-256032">
              <a:spcBef>
                <a:spcPts val="0"/>
              </a:spcBef>
              <a:spcAft>
                <a:spcPts val="1000"/>
              </a:spcAft>
              <a:buClr>
                <a:srgbClr val="14A58A"/>
              </a:buClr>
              <a:buChar char="•"/>
            </a:pPr>
            <a:r>
              <a:rPr sz="1600" b="0" i="0">
                <a:solidFill>
                  <a:srgbClr val="0F1D26"/>
                </a:solidFill>
                <a:latin typeface="Segoe UI"/>
              </a:rPr>
              <a:t>Multi-host and clock experiments</a:t>
            </a:r>
          </a:p>
          <a:p>
            <a:pPr algn="l" marL="256032" indent="-256032">
              <a:spcBef>
                <a:spcPts val="0"/>
              </a:spcBef>
              <a:spcAft>
                <a:spcPts val="1000"/>
              </a:spcAft>
              <a:buClr>
                <a:srgbClr val="14A58A"/>
              </a:buClr>
              <a:buChar char="•"/>
            </a:pPr>
            <a:r>
              <a:rPr sz="1600" b="0" i="0">
                <a:solidFill>
                  <a:srgbClr val="0F1D26"/>
                </a:solidFill>
                <a:latin typeface="Segoe UI"/>
              </a:rPr>
              <a:t>Profile the commit path</a:t>
            </a:r>
          </a:p>
          <a:p>
            <a:pPr algn="l" marL="256032" indent="-256032">
              <a:spcBef>
                <a:spcPts val="0"/>
              </a:spcBef>
              <a:spcAft>
                <a:spcPts val="1000"/>
              </a:spcAft>
              <a:buClr>
                <a:srgbClr val="14A58A"/>
              </a:buClr>
              <a:buChar char="•"/>
            </a:pPr>
            <a:r>
              <a:rPr sz="1600" b="0" i="0">
                <a:solidFill>
                  <a:srgbClr val="0F1D26"/>
                </a:solidFill>
                <a:latin typeface="Segoe UI"/>
              </a:rPr>
              <a:t>Fair admission and a safe shrink rule</a:t>
            </a:r>
          </a:p>
          <a:p>
            <a:pPr algn="l" marL="256032" indent="-256032">
              <a:spcBef>
                <a:spcPts val="0"/>
              </a:spcBef>
              <a:spcAft>
                <a:spcPts val="1000"/>
              </a:spcAft>
              <a:buClr>
                <a:srgbClr val="14A58A"/>
              </a:buClr>
              <a:buChar char="•"/>
            </a:pPr>
            <a:r>
              <a:rPr sz="1600" b="0" i="0">
                <a:solidFill>
                  <a:srgbClr val="0F1D26"/>
                </a:solidFill>
                <a:latin typeface="Segoe UI"/>
              </a:rPr>
              <a:t>Bounded history retention; authenticated deployment</a:t>
            </a:r>
          </a:p>
        </p:txBody>
      </p:sp>
      <p:sp>
        <p:nvSpPr>
          <p:cNvPr id="19" name="Rounded Rectangle 18"/>
          <p:cNvSpPr/>
          <p:nvPr/>
        </p:nvSpPr>
        <p:spPr>
          <a:xfrm>
            <a:off x="640080" y="5669280"/>
            <a:ext cx="10911535" cy="566928"/>
          </a:xfrm>
          <a:prstGeom prst="roundRect">
            <a:avLst>
              <a:gd name="adj" fmla="val 22580"/>
            </a:avLst>
          </a:prstGeom>
          <a:solidFill>
            <a:srgbClr val="FBF1DE"/>
          </a:solidFill>
          <a:ln w="9525">
            <a:solidFill>
              <a:srgbClr val="D69B3C"/>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a:spcBef>
                <a:spcPts val="0"/>
              </a:spcBef>
              <a:spcAft>
                <a:spcPts val="0"/>
              </a:spcAft>
            </a:pPr>
            <a:r>
              <a:rPr sz="1400" b="1" i="0">
                <a:solidFill>
                  <a:srgbClr val="8F5F0B"/>
                </a:solidFill>
                <a:latin typeface="Segoe UI"/>
              </a:rPr>
              <a:t>No formal verification, and no external review of the safety design, has been done.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D26"/>
        </a:solidFill>
        <a:effectLst/>
      </p:bgPr>
    </p:bg>
    <p:spTree>
      <p:nvGrpSpPr>
        <p:cNvPr id="1" name=""/>
        <p:cNvGrpSpPr/>
        <p:nvPr/>
      </p:nvGrpSpPr>
      <p:grpSpPr/>
      <p:sp>
        <p:nvSpPr>
          <p:cNvPr id="2" name="Rounded Rectangle 1"/>
          <p:cNvSpPr/>
          <p:nvPr/>
        </p:nvSpPr>
        <p:spPr>
          <a:xfrm>
            <a:off x="640080" y="475488"/>
            <a:ext cx="292608" cy="54864"/>
          </a:xfrm>
          <a:prstGeom prst="roundRect">
            <a:avLst>
              <a:gd name="adj" fmla="val 50000"/>
            </a:avLst>
          </a:prstGeom>
          <a:solidFill>
            <a:srgbClr val="7FE3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51560" y="365760"/>
            <a:ext cx="7315200" cy="274320"/>
          </a:xfrm>
          <a:prstGeom prst="rect">
            <a:avLst/>
          </a:prstGeom>
          <a:noFill/>
        </p:spPr>
        <p:txBody>
          <a:bodyPr wrap="square" lIns="0" tIns="0" rIns="0" bIns="0" anchor="ctr">
            <a:spAutoFit/>
          </a:bodyPr>
          <a:lstStyle/>
          <a:p>
            <a:pPr algn="l">
              <a:spcBef>
                <a:spcPts val="0"/>
              </a:spcBef>
              <a:spcAft>
                <a:spcPts val="0"/>
              </a:spcAft>
            </a:pPr>
            <a:r>
              <a:rPr sz="1200" b="1" i="0">
                <a:solidFill>
                  <a:srgbClr val="7FE3C0"/>
                </a:solidFill>
                <a:latin typeface="Segoe UI"/>
              </a:rPr>
              <a:t>TAKEAWAYS</a:t>
            </a:r>
          </a:p>
        </p:txBody>
      </p:sp>
      <p:sp>
        <p:nvSpPr>
          <p:cNvPr id="4" name="TextBox 3"/>
          <p:cNvSpPr txBox="1"/>
          <p:nvPr/>
        </p:nvSpPr>
        <p:spPr>
          <a:xfrm>
            <a:off x="640080" y="6428232"/>
            <a:ext cx="4572000" cy="256032"/>
          </a:xfrm>
          <a:prstGeom prst="rect">
            <a:avLst/>
          </a:prstGeom>
          <a:noFill/>
        </p:spPr>
        <p:txBody>
          <a:bodyPr wrap="square" lIns="0" tIns="0" rIns="0" bIns="0" anchor="ctr">
            <a:spAutoFit/>
          </a:bodyPr>
          <a:lstStyle/>
          <a:p>
            <a:pPr algn="l">
              <a:spcBef>
                <a:spcPts val="0"/>
              </a:spcBef>
              <a:spcAft>
                <a:spcPts val="0"/>
              </a:spcAft>
            </a:pPr>
            <a:r>
              <a:rPr sz="1200" b="0" i="0">
                <a:solidFill>
                  <a:srgbClr val="A9BAC6"/>
                </a:solidFill>
                <a:latin typeface="Segoe UI"/>
              </a:rPr>
              <a:t>Ishtirak · Distributed Systems</a:t>
            </a:r>
          </a:p>
        </p:txBody>
      </p:sp>
      <p:sp>
        <p:nvSpPr>
          <p:cNvPr id="5" name="TextBox 4"/>
          <p:cNvSpPr txBox="1"/>
          <p:nvPr/>
        </p:nvSpPr>
        <p:spPr>
          <a:xfrm>
            <a:off x="10180015" y="6428232"/>
            <a:ext cx="1371600" cy="256032"/>
          </a:xfrm>
          <a:prstGeom prst="rect">
            <a:avLst/>
          </a:prstGeom>
          <a:noFill/>
        </p:spPr>
        <p:txBody>
          <a:bodyPr wrap="square" lIns="0" tIns="0" rIns="0" bIns="0" anchor="ctr">
            <a:spAutoFit/>
          </a:bodyPr>
          <a:lstStyle/>
          <a:p>
            <a:pPr algn="r">
              <a:spcBef>
                <a:spcPts val="0"/>
              </a:spcBef>
              <a:spcAft>
                <a:spcPts val="0"/>
              </a:spcAft>
            </a:pPr>
            <a:r>
              <a:rPr sz="1200" b="0" i="0">
                <a:solidFill>
                  <a:srgbClr val="A9BAC6"/>
                </a:solidFill>
                <a:latin typeface="Segoe UI"/>
              </a:rPr>
              <a:t>16 / 16</a:t>
            </a:r>
          </a:p>
        </p:txBody>
      </p:sp>
      <p:sp>
        <p:nvSpPr>
          <p:cNvPr id="6" name="TextBox 5"/>
          <p:cNvSpPr txBox="1"/>
          <p:nvPr/>
        </p:nvSpPr>
        <p:spPr>
          <a:xfrm>
            <a:off x="640080" y="731520"/>
            <a:ext cx="10911535" cy="685800"/>
          </a:xfrm>
          <a:prstGeom prst="rect">
            <a:avLst/>
          </a:prstGeom>
          <a:noFill/>
        </p:spPr>
        <p:txBody>
          <a:bodyPr wrap="square" lIns="0" tIns="0" rIns="0" bIns="0" anchor="t">
            <a:spAutoFit/>
          </a:bodyPr>
          <a:lstStyle/>
          <a:p>
            <a:pPr algn="l">
              <a:spcBef>
                <a:spcPts val="0"/>
              </a:spcBef>
              <a:spcAft>
                <a:spcPts val="0"/>
              </a:spcAft>
            </a:pPr>
            <a:r>
              <a:rPr sz="3400" b="1" i="0">
                <a:solidFill>
                  <a:srgbClr val="FFFFFF"/>
                </a:solidFill>
                <a:latin typeface="Segoe UI"/>
              </a:rPr>
              <a:t>Three things to remember</a:t>
            </a:r>
          </a:p>
        </p:txBody>
      </p:sp>
      <p:sp>
        <p:nvSpPr>
          <p:cNvPr id="7" name="Rounded Rectangle 6"/>
          <p:cNvSpPr/>
          <p:nvPr/>
        </p:nvSpPr>
        <p:spPr>
          <a:xfrm>
            <a:off x="640080" y="1600200"/>
            <a:ext cx="3520440" cy="2011680"/>
          </a:xfrm>
          <a:prstGeom prst="roundRect">
            <a:avLst>
              <a:gd name="adj" fmla="val 6363"/>
            </a:avLst>
          </a:prstGeom>
          <a:solidFill>
            <a:srgbClr val="172B38"/>
          </a:solidFill>
          <a:ln w="9525">
            <a:solidFill>
              <a:srgbClr val="2B43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640080" y="1783080"/>
            <a:ext cx="64008" cy="1645920"/>
          </a:xfrm>
          <a:prstGeom prst="roundRect">
            <a:avLst>
              <a:gd name="adj" fmla="val 42857"/>
            </a:avLst>
          </a:prstGeom>
          <a:solidFill>
            <a:srgbClr val="7FE3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1737360"/>
            <a:ext cx="548640" cy="548640"/>
          </a:xfrm>
          <a:prstGeom prst="rect">
            <a:avLst/>
          </a:prstGeom>
          <a:noFill/>
        </p:spPr>
        <p:txBody>
          <a:bodyPr wrap="square" lIns="0" tIns="0" rIns="0" bIns="0" anchor="ctr">
            <a:spAutoFit/>
          </a:bodyPr>
          <a:lstStyle/>
          <a:p>
            <a:pPr algn="l">
              <a:spcBef>
                <a:spcPts val="0"/>
              </a:spcBef>
              <a:spcAft>
                <a:spcPts val="0"/>
              </a:spcAft>
            </a:pPr>
            <a:r>
              <a:rPr sz="3000" b="1" i="0">
                <a:solidFill>
                  <a:srgbClr val="7FE3C0"/>
                </a:solidFill>
                <a:latin typeface="Segoe UI"/>
              </a:rPr>
              <a:t>1</a:t>
            </a:r>
          </a:p>
        </p:txBody>
      </p:sp>
      <p:sp>
        <p:nvSpPr>
          <p:cNvPr id="10" name="TextBox 9"/>
          <p:cNvSpPr txBox="1"/>
          <p:nvPr/>
        </p:nvSpPr>
        <p:spPr>
          <a:xfrm>
            <a:off x="914400" y="2331720"/>
            <a:ext cx="3017520" cy="365760"/>
          </a:xfrm>
          <a:prstGeom prst="rect">
            <a:avLst/>
          </a:prstGeom>
          <a:noFill/>
        </p:spPr>
        <p:txBody>
          <a:bodyPr wrap="square" lIns="0" tIns="0" rIns="0" bIns="0" anchor="t">
            <a:spAutoFit/>
          </a:bodyPr>
          <a:lstStyle/>
          <a:p>
            <a:pPr algn="l">
              <a:spcBef>
                <a:spcPts val="0"/>
              </a:spcBef>
              <a:spcAft>
                <a:spcPts val="0"/>
              </a:spcAft>
            </a:pPr>
            <a:r>
              <a:rPr sz="1900" b="1" i="0">
                <a:solidFill>
                  <a:srgbClr val="FFFFFF"/>
                </a:solidFill>
                <a:latin typeface="Segoe UI"/>
              </a:rPr>
              <a:t>A majority decides</a:t>
            </a:r>
          </a:p>
        </p:txBody>
      </p:sp>
      <p:sp>
        <p:nvSpPr>
          <p:cNvPr id="11" name="TextBox 10"/>
          <p:cNvSpPr txBox="1"/>
          <p:nvPr/>
        </p:nvSpPr>
        <p:spPr>
          <a:xfrm>
            <a:off x="914400" y="2743200"/>
            <a:ext cx="3017520" cy="822960"/>
          </a:xfrm>
          <a:prstGeom prst="rect">
            <a:avLst/>
          </a:prstGeom>
          <a:noFill/>
        </p:spPr>
        <p:txBody>
          <a:bodyPr wrap="square" lIns="0" tIns="0" rIns="0" bIns="0" anchor="t">
            <a:spAutoFit/>
          </a:bodyPr>
          <a:lstStyle/>
          <a:p>
            <a:pPr algn="l">
              <a:spcBef>
                <a:spcPts val="0"/>
              </a:spcBef>
              <a:spcAft>
                <a:spcPts val="0"/>
              </a:spcAft>
            </a:pPr>
            <a:r>
              <a:rPr sz="1400" b="0" i="0">
                <a:solidFill>
                  <a:srgbClr val="A9BAC6"/>
                </a:solidFill>
                <a:latin typeface="Segoe UI"/>
              </a:rPr>
              <a:t>Every grant needs 2 of 3 coordinators.</a:t>
            </a:r>
          </a:p>
        </p:txBody>
      </p:sp>
      <p:sp>
        <p:nvSpPr>
          <p:cNvPr id="12" name="Rounded Rectangle 11"/>
          <p:cNvSpPr/>
          <p:nvPr/>
        </p:nvSpPr>
        <p:spPr>
          <a:xfrm>
            <a:off x="4334256" y="1600200"/>
            <a:ext cx="3520440" cy="2011680"/>
          </a:xfrm>
          <a:prstGeom prst="roundRect">
            <a:avLst>
              <a:gd name="adj" fmla="val 6363"/>
            </a:avLst>
          </a:prstGeom>
          <a:solidFill>
            <a:srgbClr val="172B38"/>
          </a:solidFill>
          <a:ln w="9525">
            <a:solidFill>
              <a:srgbClr val="2B43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4334256" y="1783080"/>
            <a:ext cx="64008" cy="1645920"/>
          </a:xfrm>
          <a:prstGeom prst="roundRect">
            <a:avLst>
              <a:gd name="adj" fmla="val 42857"/>
            </a:avLst>
          </a:prstGeom>
          <a:solidFill>
            <a:srgbClr val="6484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608576" y="1737360"/>
            <a:ext cx="548640" cy="548640"/>
          </a:xfrm>
          <a:prstGeom prst="rect">
            <a:avLst/>
          </a:prstGeom>
          <a:noFill/>
        </p:spPr>
        <p:txBody>
          <a:bodyPr wrap="square" lIns="0" tIns="0" rIns="0" bIns="0" anchor="ctr">
            <a:spAutoFit/>
          </a:bodyPr>
          <a:lstStyle/>
          <a:p>
            <a:pPr algn="l">
              <a:spcBef>
                <a:spcPts val="0"/>
              </a:spcBef>
              <a:spcAft>
                <a:spcPts val="0"/>
              </a:spcAft>
            </a:pPr>
            <a:r>
              <a:rPr sz="3000" b="1" i="0">
                <a:solidFill>
                  <a:srgbClr val="9DB4F0"/>
                </a:solidFill>
                <a:latin typeface="Segoe UI"/>
              </a:rPr>
              <a:t>2</a:t>
            </a:r>
          </a:p>
        </p:txBody>
      </p:sp>
      <p:sp>
        <p:nvSpPr>
          <p:cNvPr id="15" name="TextBox 14"/>
          <p:cNvSpPr txBox="1"/>
          <p:nvPr/>
        </p:nvSpPr>
        <p:spPr>
          <a:xfrm>
            <a:off x="4608576" y="2331720"/>
            <a:ext cx="3017520" cy="365760"/>
          </a:xfrm>
          <a:prstGeom prst="rect">
            <a:avLst/>
          </a:prstGeom>
          <a:noFill/>
        </p:spPr>
        <p:txBody>
          <a:bodyPr wrap="square" lIns="0" tIns="0" rIns="0" bIns="0" anchor="t">
            <a:spAutoFit/>
          </a:bodyPr>
          <a:lstStyle/>
          <a:p>
            <a:pPr algn="l">
              <a:spcBef>
                <a:spcPts val="0"/>
              </a:spcBef>
              <a:spcAft>
                <a:spcPts val="0"/>
              </a:spcAft>
            </a:pPr>
            <a:r>
              <a:rPr sz="1900" b="1" i="0">
                <a:solidFill>
                  <a:srgbClr val="FFFFFF"/>
                </a:solidFill>
                <a:latin typeface="Segoe UI"/>
              </a:rPr>
              <a:t>Leases keep it safe</a:t>
            </a:r>
          </a:p>
        </p:txBody>
      </p:sp>
      <p:sp>
        <p:nvSpPr>
          <p:cNvPr id="16" name="TextBox 15"/>
          <p:cNvSpPr txBox="1"/>
          <p:nvPr/>
        </p:nvSpPr>
        <p:spPr>
          <a:xfrm>
            <a:off x="4608576" y="2743200"/>
            <a:ext cx="3017520" cy="822960"/>
          </a:xfrm>
          <a:prstGeom prst="rect">
            <a:avLst/>
          </a:prstGeom>
          <a:noFill/>
        </p:spPr>
        <p:txBody>
          <a:bodyPr wrap="square" lIns="0" tIns="0" rIns="0" bIns="0" anchor="t">
            <a:spAutoFit/>
          </a:bodyPr>
          <a:lstStyle/>
          <a:p>
            <a:pPr algn="l">
              <a:spcBef>
                <a:spcPts val="0"/>
              </a:spcBef>
              <a:spcAft>
                <a:spcPts val="0"/>
              </a:spcAft>
            </a:pPr>
            <a:r>
              <a:rPr sz="1400" b="0" i="0">
                <a:solidFill>
                  <a:srgbClr val="A9BAC6"/>
                </a:solidFill>
                <a:latin typeface="Segoe UI"/>
              </a:rPr>
              <a:t>Expiring tickets keep the total at or below 120 A through crashes.</a:t>
            </a:r>
          </a:p>
        </p:txBody>
      </p:sp>
      <p:sp>
        <p:nvSpPr>
          <p:cNvPr id="17" name="Rounded Rectangle 16"/>
          <p:cNvSpPr/>
          <p:nvPr/>
        </p:nvSpPr>
        <p:spPr>
          <a:xfrm>
            <a:off x="8028431" y="1600200"/>
            <a:ext cx="3520440" cy="2011680"/>
          </a:xfrm>
          <a:prstGeom prst="roundRect">
            <a:avLst>
              <a:gd name="adj" fmla="val 6363"/>
            </a:avLst>
          </a:prstGeom>
          <a:solidFill>
            <a:srgbClr val="172B38"/>
          </a:solidFill>
          <a:ln w="9525">
            <a:solidFill>
              <a:srgbClr val="2B43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8028431" y="1783080"/>
            <a:ext cx="64008" cy="1645920"/>
          </a:xfrm>
          <a:prstGeom prst="roundRect">
            <a:avLst>
              <a:gd name="adj" fmla="val 42857"/>
            </a:avLst>
          </a:prstGeom>
          <a:solidFill>
            <a:srgbClr val="D69B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302752" y="1737360"/>
            <a:ext cx="548640" cy="548640"/>
          </a:xfrm>
          <a:prstGeom prst="rect">
            <a:avLst/>
          </a:prstGeom>
          <a:noFill/>
        </p:spPr>
        <p:txBody>
          <a:bodyPr wrap="square" lIns="0" tIns="0" rIns="0" bIns="0" anchor="ctr">
            <a:spAutoFit/>
          </a:bodyPr>
          <a:lstStyle/>
          <a:p>
            <a:pPr algn="l">
              <a:spcBef>
                <a:spcPts val="0"/>
              </a:spcBef>
              <a:spcAft>
                <a:spcPts val="0"/>
              </a:spcAft>
            </a:pPr>
            <a:r>
              <a:rPr sz="3000" b="1" i="0">
                <a:solidFill>
                  <a:srgbClr val="F0C06E"/>
                </a:solidFill>
                <a:latin typeface="Segoe UI"/>
              </a:rPr>
              <a:t>3</a:t>
            </a:r>
          </a:p>
        </p:txBody>
      </p:sp>
      <p:sp>
        <p:nvSpPr>
          <p:cNvPr id="20" name="TextBox 19"/>
          <p:cNvSpPr txBox="1"/>
          <p:nvPr/>
        </p:nvSpPr>
        <p:spPr>
          <a:xfrm>
            <a:off x="8302752" y="2331720"/>
            <a:ext cx="3017520" cy="365760"/>
          </a:xfrm>
          <a:prstGeom prst="rect">
            <a:avLst/>
          </a:prstGeom>
          <a:noFill/>
        </p:spPr>
        <p:txBody>
          <a:bodyPr wrap="square" lIns="0" tIns="0" rIns="0" bIns="0" anchor="t">
            <a:spAutoFit/>
          </a:bodyPr>
          <a:lstStyle/>
          <a:p>
            <a:pPr algn="l">
              <a:spcBef>
                <a:spcPts val="0"/>
              </a:spcBef>
              <a:spcAft>
                <a:spcPts val="0"/>
              </a:spcAft>
            </a:pPr>
            <a:r>
              <a:rPr sz="1900" b="1" i="0">
                <a:solidFill>
                  <a:srgbClr val="FFFFFF"/>
                </a:solidFill>
                <a:latin typeface="Segoe UI"/>
              </a:rPr>
              <a:t>Measured, not assumed</a:t>
            </a:r>
          </a:p>
        </p:txBody>
      </p:sp>
      <p:sp>
        <p:nvSpPr>
          <p:cNvPr id="21" name="TextBox 20"/>
          <p:cNvSpPr txBox="1"/>
          <p:nvPr/>
        </p:nvSpPr>
        <p:spPr>
          <a:xfrm>
            <a:off x="8302752" y="2743200"/>
            <a:ext cx="3017520" cy="822960"/>
          </a:xfrm>
          <a:prstGeom prst="rect">
            <a:avLst/>
          </a:prstGeom>
          <a:noFill/>
        </p:spPr>
        <p:txBody>
          <a:bodyPr wrap="square" lIns="0" tIns="0" rIns="0" bIns="0" anchor="t">
            <a:spAutoFit/>
          </a:bodyPr>
          <a:lstStyle/>
          <a:p>
            <a:pPr algn="l">
              <a:spcBef>
                <a:spcPts val="0"/>
              </a:spcBef>
              <a:spcAft>
                <a:spcPts val="0"/>
              </a:spcAft>
            </a:pPr>
            <a:r>
              <a:rPr sz="1400" b="0" i="0">
                <a:solidFill>
                  <a:srgbClr val="A9BAC6"/>
                </a:solidFill>
                <a:latin typeface="Segoe UI"/>
              </a:rPr>
              <a:t>Failover in 4.82 s on average, 0 violations observed, about 50 decisions/s ceiling.</a:t>
            </a:r>
          </a:p>
        </p:txBody>
      </p:sp>
      <p:sp>
        <p:nvSpPr>
          <p:cNvPr id="22" name="TextBox 21"/>
          <p:cNvSpPr txBox="1"/>
          <p:nvPr/>
        </p:nvSpPr>
        <p:spPr>
          <a:xfrm>
            <a:off x="640080" y="4023360"/>
            <a:ext cx="10911535" cy="914400"/>
          </a:xfrm>
          <a:prstGeom prst="rect">
            <a:avLst/>
          </a:prstGeom>
          <a:noFill/>
        </p:spPr>
        <p:txBody>
          <a:bodyPr wrap="square" lIns="0" tIns="0" rIns="0" bIns="0" anchor="ctr">
            <a:spAutoFit/>
          </a:bodyPr>
          <a:lstStyle/>
          <a:p>
            <a:pPr algn="l">
              <a:spcBef>
                <a:spcPts val="0"/>
              </a:spcBef>
              <a:spcAft>
                <a:spcPts val="0"/>
              </a:spcAft>
            </a:pPr>
            <a:r>
              <a:rPr sz="5400" b="1" i="0">
                <a:solidFill>
                  <a:srgbClr val="7FE3C0"/>
                </a:solidFill>
                <a:latin typeface="Segoe UI"/>
              </a:rPr>
              <a:t>Questions?</a:t>
            </a:r>
          </a:p>
        </p:txBody>
      </p:sp>
      <p:sp>
        <p:nvSpPr>
          <p:cNvPr id="23" name="Rectangle 22"/>
          <p:cNvSpPr/>
          <p:nvPr/>
        </p:nvSpPr>
        <p:spPr>
          <a:xfrm>
            <a:off x="640080" y="5166360"/>
            <a:ext cx="10911535" cy="18288"/>
          </a:xfrm>
          <a:prstGeom prst="rect">
            <a:avLst/>
          </a:prstGeom>
          <a:solidFill>
            <a:srgbClr val="2B43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40080" y="5349240"/>
            <a:ext cx="10911535" cy="822960"/>
          </a:xfrm>
          <a:prstGeom prst="rect">
            <a:avLst/>
          </a:prstGeom>
          <a:noFill/>
        </p:spPr>
        <p:txBody>
          <a:bodyPr wrap="square" lIns="0" tIns="0" rIns="0" bIns="0" anchor="t">
            <a:spAutoFit/>
          </a:bodyPr>
          <a:lstStyle/>
          <a:p>
            <a:pPr algn="l">
              <a:spcBef>
                <a:spcPts val="0"/>
              </a:spcBef>
              <a:spcAft>
                <a:spcPts val="0"/>
              </a:spcAft>
            </a:pPr>
            <a:r>
              <a:rPr sz="1800" b="0" i="0">
                <a:solidFill>
                  <a:srgbClr val="FFFFFF"/>
                </a:solidFill>
                <a:latin typeface="Segoe UI"/>
              </a:rPr>
              <a:t>Three independent coordinators vote on every grant, so by design a neighborhood generator is not overloaded — even when computers fail.</a:t>
            </a:r>
          </a:p>
        </p:txBody>
      </p:sp>
      <p:sp>
        <p:nvSpPr>
          <p:cNvPr id="25" name="TextBox 24"/>
          <p:cNvSpPr txBox="1"/>
          <p:nvPr/>
        </p:nvSpPr>
        <p:spPr>
          <a:xfrm>
            <a:off x="640080" y="6428232"/>
            <a:ext cx="4572000" cy="256032"/>
          </a:xfrm>
          <a:prstGeom prst="rect">
            <a:avLst/>
          </a:prstGeom>
          <a:noFill/>
        </p:spPr>
        <p:txBody>
          <a:bodyPr wrap="square" lIns="0" tIns="0" rIns="0" bIns="0" anchor="ctr">
            <a:spAutoFit/>
          </a:bodyPr>
          <a:lstStyle/>
          <a:p>
            <a:pPr algn="l">
              <a:spcBef>
                <a:spcPts val="0"/>
              </a:spcBef>
              <a:spcAft>
                <a:spcPts val="0"/>
              </a:spcAft>
            </a:pPr>
            <a:r>
              <a:rPr sz="1200" b="0" i="0">
                <a:solidFill>
                  <a:srgbClr val="A9BAC6"/>
                </a:solidFill>
                <a:latin typeface="Segoe UI"/>
              </a:rPr>
              <a:t>Ishtirak · Distributed Systems</a:t>
            </a:r>
          </a:p>
        </p:txBody>
      </p:sp>
      <p:sp>
        <p:nvSpPr>
          <p:cNvPr id="26" name="TextBox 25"/>
          <p:cNvSpPr txBox="1"/>
          <p:nvPr/>
        </p:nvSpPr>
        <p:spPr>
          <a:xfrm>
            <a:off x="10180015" y="6428232"/>
            <a:ext cx="1371600" cy="256032"/>
          </a:xfrm>
          <a:prstGeom prst="rect">
            <a:avLst/>
          </a:prstGeom>
          <a:noFill/>
        </p:spPr>
        <p:txBody>
          <a:bodyPr wrap="square" lIns="0" tIns="0" rIns="0" bIns="0" anchor="ctr">
            <a:spAutoFit/>
          </a:bodyPr>
          <a:lstStyle/>
          <a:p>
            <a:pPr algn="r">
              <a:spcBef>
                <a:spcPts val="0"/>
              </a:spcBef>
              <a:spcAft>
                <a:spcPts val="0"/>
              </a:spcAft>
            </a:pPr>
            <a:r>
              <a:rPr sz="1200" b="0" i="0">
                <a:solidFill>
                  <a:srgbClr val="A9BAC6"/>
                </a:solidFill>
                <a:latin typeface="Segoe UI"/>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